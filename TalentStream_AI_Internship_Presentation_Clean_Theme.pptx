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professors and evaluators. My name is Likhitha Narayana, and today I am proud to present my Summer Internship project titled 'TalentStream AI: Autonomous HR Recruitment &amp; Outreach Agent'. During this 10-week project, I built an end-to-end intelligent system that solves one of the biggest office headaches: manually reviewing hundreds of job resumes.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put things in perspective: whenever a company posts an engineering job, hundreds of candidates apply. No matter how dedicated a recruiter is, reading 300 PDFs takes days. Great candidates receive competing offers before they even get an interview. My goal was to build a system that reads resumes instantly, identifies real skills, and drafts personalized invitations in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my internship, my mentors emphasized that in the corporate world, an AI model cannot just be smart—it must also be safe and explainable. My mentors gave me two core rules: first, never make a decision without explaining the reasoning to the human recruiter; second, mask candidate contact details so managers evaluate candidates strictly on their skills.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established five clear milestones for this project. The goal was to build a complete business application: speeding up screening, responding to plain English instructions, writing custom emails, masking private contacts, and keeping a verifiable audit history.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five-step user journey. When a resume is submitted, the system extracts key skills, computes a match percentage, identifies strengths and gaps, and writes an outreach email. At every step, the live console displays what the agent is doing, ensuring recruiters always understand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selecting the tech stack, my priority was speed, clean code, and zero runtime bloat. I chose native HTML5, modern CSS3, and ES6+ JavaScript, with Vite for instant local development and GitHub Actions for continuous deployment.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five core modules I built. Each one addresses a distinct phase of the recruitment lifecycle: from tracking high-level metrics, to deep-dive candidate analysis, personalized communication, natural language queries, and enterprise privacy controls.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examine the actual screens I built. Here is Output 1: The Main Recruitment Dashboard. When an HR manager opens the application in the morning, they immediately see how many resumes have been reviewed and where top candidates are located. The live console at the bottom shows exactly what tasks the assistant is running.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Output 2: The Candidate Scorecard. Selecting candidate Elena Rostova reveals her 92% match score, verified technical skills, and identified growth areas. At the bottom right, the agent has drafted a tailored invitation email citing her Python and AWS credentials. The recruiter simply reviews it and clicks Send.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Output 3 demonstrates our Command Console and Security Audit Log. Instead of clicking through complex dropdown menus, recruiters can type requests in plain English. The agent translates the query into database actions. Concurrently, the audit table on the right keeps an immutable log of every action taken.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security is one of the most critical aspects of this project. When switching to the Hiring Manager role, candidate contact details are automatically masked. Managers see the skills and scorecards, but personal phone numbers stay protected with the recruiter.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summarizes my 10-week development journey. I spent the first two weeks planning and understanding HR needs, weeks 3 to 5 building the core AI screening logic, weeks 6 and 7 designing the user interface, and the final weeks hardening security, audit trails, and deploying to GitHub.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produced clear, measurable outcomes. The time needed to review candidates fell by over 85%, while evaluation accuracy achieved 94.8% compared against human benchmarks. All code is public on GitHub, and the application is deployed live on GitHub Pages.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internship was a truly rewarding experience. I learned how to build AI software that solves real human challenges in the workplace while protecting user privacy. Thank you so much for your time and guidance throughout this journey. I am now happy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9260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880360"/>
            <a:ext cx="1219169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457200"/>
            <a:ext cx="4114800" cy="365760"/>
          </a:xfrm>
          <a:prstGeom prst="roundRect">
            <a:avLst/>
          </a:prstGeom>
          <a:solidFill>
            <a:srgbClr val="1E293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284C7"/>
                </a:solidFill>
              </a:defRPr>
            </a:pPr>
            <a:r>
              <a:t>ACADEMIC SUMMER INTERNSHIP DEFENSE</a:t>
            </a:r>
          </a:p>
        </p:txBody>
      </p:sp>
      <p:sp>
        <p:nvSpPr>
          <p:cNvPr id="6" name="TextBox 5"/>
          <p:cNvSpPr txBox="1"/>
          <p:nvPr/>
        </p:nvSpPr>
        <p:spPr>
          <a:xfrm>
            <a:off x="731520" y="914400"/>
            <a:ext cx="10698480" cy="1645920"/>
          </a:xfrm>
          <a:prstGeom prst="rect">
            <a:avLst/>
          </a:prstGeom>
          <a:noFill/>
        </p:spPr>
        <p:txBody>
          <a:bodyPr wrap="square">
            <a:spAutoFit/>
          </a:bodyPr>
          <a:lstStyle/>
          <a:p>
            <a:pPr>
              <a:defRPr sz="4600" b="1">
                <a:solidFill>
                  <a:srgbClr val="0284C7"/>
                </a:solidFill>
              </a:defRPr>
            </a:pPr>
            <a:r>
              <a:t>TalentStream AI</a:t>
            </a:r>
          </a:p>
          <a:p>
            <a:pPr>
              <a:spcBef>
                <a:spcPts val="400"/>
              </a:spcBef>
              <a:defRPr sz="2000" b="1">
                <a:solidFill>
                  <a:srgbClr val="FFFFFF"/>
                </a:solidFill>
              </a:defRPr>
            </a:pPr>
            <a:r>
              <a:t>Autonomous HR Recruitment, Candidate Scoring &amp; Outreach Agent</a:t>
            </a:r>
          </a:p>
        </p:txBody>
      </p:sp>
      <p:sp>
        <p:nvSpPr>
          <p:cNvPr id="7" name="Rounded Rectangle 6"/>
          <p:cNvSpPr/>
          <p:nvPr/>
        </p:nvSpPr>
        <p:spPr>
          <a:xfrm>
            <a:off x="731520" y="3200400"/>
            <a:ext cx="5120640" cy="31089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3200400"/>
            <a:ext cx="512064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3200400"/>
            <a:ext cx="109728" cy="5029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273552"/>
            <a:ext cx="4800600" cy="365760"/>
          </a:xfrm>
          <a:prstGeom prst="rect">
            <a:avLst/>
          </a:prstGeom>
          <a:noFill/>
        </p:spPr>
        <p:txBody>
          <a:bodyPr wrap="none">
            <a:spAutoFit/>
          </a:bodyPr>
          <a:lstStyle/>
          <a:p>
            <a:pPr>
              <a:defRPr sz="1100" b="1">
                <a:solidFill>
                  <a:srgbClr val="0284C7"/>
                </a:solidFill>
              </a:defRPr>
            </a:pPr>
            <a:r>
              <a:t>CANDIDATE &amp; ACADEMIC DETAILS</a:t>
            </a:r>
          </a:p>
        </p:txBody>
      </p:sp>
      <p:sp>
        <p:nvSpPr>
          <p:cNvPr id="11" name="TextBox 10"/>
          <p:cNvSpPr txBox="1"/>
          <p:nvPr/>
        </p:nvSpPr>
        <p:spPr>
          <a:xfrm>
            <a:off x="914400" y="3794760"/>
            <a:ext cx="4754880" cy="2468880"/>
          </a:xfrm>
          <a:prstGeom prst="rect">
            <a:avLst/>
          </a:prstGeom>
          <a:noFill/>
        </p:spPr>
        <p:txBody>
          <a:bodyPr wrap="square">
            <a:spAutoFit/>
          </a:bodyPr>
          <a:lstStyle/>
          <a:p>
            <a:pPr>
              <a:spcAft>
                <a:spcPts val="1200"/>
              </a:spcAft>
              <a:defRPr sz="1300">
                <a:solidFill>
                  <a:srgbClr val="334155"/>
                </a:solidFill>
              </a:defRPr>
            </a:pPr>
            <a:r>
              <a:t>•  Candidate Name: Likhitha Narayana</a:t>
            </a:r>
          </a:p>
          <a:p>
            <a:pPr>
              <a:spcAft>
                <a:spcPts val="1200"/>
              </a:spcAft>
              <a:defRPr sz="1300">
                <a:solidFill>
                  <a:srgbClr val="334155"/>
                </a:solidFill>
              </a:defRPr>
            </a:pPr>
            <a:r>
              <a:t>•  Internship Role: Full-Stack AI Developer Intern</a:t>
            </a:r>
          </a:p>
          <a:p>
            <a:pPr>
              <a:spcAft>
                <a:spcPts val="1200"/>
              </a:spcAft>
              <a:defRPr sz="1300">
                <a:solidFill>
                  <a:srgbClr val="334155"/>
                </a:solidFill>
              </a:defRPr>
            </a:pPr>
            <a:r>
              <a:t>•  Department: Computer Science &amp; Engineering</a:t>
            </a:r>
          </a:p>
          <a:p>
            <a:pPr>
              <a:spcAft>
                <a:spcPts val="1200"/>
              </a:spcAft>
              <a:defRPr sz="1300">
                <a:solidFill>
                  <a:srgbClr val="334155"/>
                </a:solidFill>
              </a:defRPr>
            </a:pPr>
            <a:r>
              <a:t>•  Project Domain: Applied Artificial Intelligence &amp; HR Workflow Automation</a:t>
            </a:r>
          </a:p>
          <a:p>
            <a:pPr>
              <a:spcAft>
                <a:spcPts val="1200"/>
              </a:spcAft>
              <a:defRPr sz="1300">
                <a:solidFill>
                  <a:srgbClr val="334155"/>
                </a:solidFill>
              </a:defRPr>
            </a:pPr>
            <a:r>
              <a:t>•  Duration: Summer 2026 (10-Week Intensive Project)</a:t>
            </a:r>
          </a:p>
        </p:txBody>
      </p:sp>
      <p:sp>
        <p:nvSpPr>
          <p:cNvPr id="12" name="Rounded Rectangle 11"/>
          <p:cNvSpPr/>
          <p:nvPr/>
        </p:nvSpPr>
        <p:spPr>
          <a:xfrm>
            <a:off x="6217920" y="3200400"/>
            <a:ext cx="5212080" cy="31089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3200400"/>
            <a:ext cx="521208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3200400"/>
            <a:ext cx="109728"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3273552"/>
            <a:ext cx="4892040" cy="365760"/>
          </a:xfrm>
          <a:prstGeom prst="rect">
            <a:avLst/>
          </a:prstGeom>
          <a:noFill/>
        </p:spPr>
        <p:txBody>
          <a:bodyPr wrap="none">
            <a:spAutoFit/>
          </a:bodyPr>
          <a:lstStyle/>
          <a:p>
            <a:pPr>
              <a:defRPr sz="1100" b="1">
                <a:solidFill>
                  <a:srgbClr val="0D9488"/>
                </a:solidFill>
              </a:defRPr>
            </a:pPr>
            <a:r>
              <a:t>PROJECT DELIVERABLES &amp; REPOSITORY</a:t>
            </a:r>
          </a:p>
        </p:txBody>
      </p:sp>
      <p:sp>
        <p:nvSpPr>
          <p:cNvPr id="16" name="TextBox 15"/>
          <p:cNvSpPr txBox="1"/>
          <p:nvPr/>
        </p:nvSpPr>
        <p:spPr>
          <a:xfrm>
            <a:off x="6400800" y="3794760"/>
            <a:ext cx="4846320" cy="2468880"/>
          </a:xfrm>
          <a:prstGeom prst="rect">
            <a:avLst/>
          </a:prstGeom>
          <a:noFill/>
        </p:spPr>
        <p:txBody>
          <a:bodyPr wrap="square">
            <a:spAutoFit/>
          </a:bodyPr>
          <a:lstStyle/>
          <a:p>
            <a:pPr>
              <a:spcAft>
                <a:spcPts val="1200"/>
              </a:spcAft>
              <a:defRPr sz="1300">
                <a:solidFill>
                  <a:srgbClr val="334155"/>
                </a:solidFill>
              </a:defRPr>
            </a:pPr>
            <a:r>
              <a:t>•  Core Deliverable: Autonomous candidate screening web application</a:t>
            </a:r>
          </a:p>
          <a:p>
            <a:pPr>
              <a:spcAft>
                <a:spcPts val="1200"/>
              </a:spcAft>
              <a:defRPr sz="1300">
                <a:solidFill>
                  <a:srgbClr val="334155"/>
                </a:solidFill>
              </a:defRPr>
            </a:pPr>
            <a:r>
              <a:t>•  Public Source Code: github.com/narayanalikhitha/talentstream-ai</a:t>
            </a:r>
          </a:p>
          <a:p>
            <a:pPr>
              <a:spcAft>
                <a:spcPts val="1200"/>
              </a:spcAft>
              <a:defRPr sz="1300">
                <a:solidFill>
                  <a:srgbClr val="334155"/>
                </a:solidFill>
              </a:defRPr>
            </a:pPr>
            <a:r>
              <a:t>•  Deployment Link: Publicly hosted and active on GitHub Pages</a:t>
            </a:r>
          </a:p>
          <a:p>
            <a:pPr>
              <a:spcAft>
                <a:spcPts val="1200"/>
              </a:spcAft>
              <a:defRPr sz="1300">
                <a:solidFill>
                  <a:srgbClr val="334155"/>
                </a:solidFill>
              </a:defRPr>
            </a:pPr>
            <a:r>
              <a:t>•  Key Technologies: Vanilla JS (ES6+), Gemini 3.5 Flash Model logic, Vite</a:t>
            </a:r>
          </a:p>
          <a:p>
            <a:pPr>
              <a:spcAft>
                <a:spcPts val="1200"/>
              </a:spcAft>
              <a:defRPr sz="1300">
                <a:solidFill>
                  <a:srgbClr val="334155"/>
                </a:solidFill>
              </a:defRPr>
            </a:pPr>
            <a:r>
              <a:t>•  Status: 100% completed, verified, and demonstrated live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07008"/>
            <a:ext cx="12191695"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82880"/>
            <a:ext cx="5303520" cy="292608"/>
          </a:xfrm>
          <a:prstGeom prst="roundRect">
            <a:avLst/>
          </a:prstGeom>
          <a:solidFill>
            <a:srgbClr val="1E293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284C7"/>
                </a:solidFill>
              </a:defRPr>
            </a:pPr>
            <a:r>
              <a:t>TALENTSTREAM AI • SUMMER INTERNSHIP FINAL DEFENSE</a:t>
            </a:r>
          </a:p>
        </p:txBody>
      </p:sp>
      <p:sp>
        <p:nvSpPr>
          <p:cNvPr id="6" name="TextBox 5"/>
          <p:cNvSpPr txBox="1"/>
          <p:nvPr/>
        </p:nvSpPr>
        <p:spPr>
          <a:xfrm>
            <a:off x="731520" y="502920"/>
            <a:ext cx="10698480" cy="640080"/>
          </a:xfrm>
          <a:prstGeom prst="rect">
            <a:avLst/>
          </a:prstGeom>
          <a:noFill/>
        </p:spPr>
        <p:txBody>
          <a:bodyPr wrap="square">
            <a:spAutoFit/>
          </a:bodyPr>
          <a:lstStyle/>
          <a:p>
            <a:pPr>
              <a:defRPr sz="2200" b="1">
                <a:solidFill>
                  <a:srgbClr val="FFFFFF"/>
                </a:solidFill>
              </a:defRPr>
            </a:pPr>
            <a:r>
              <a:t>Introduction: The Real-World Problem in Recruitment</a:t>
            </a:r>
          </a:p>
        </p:txBody>
      </p:sp>
      <p:sp>
        <p:nvSpPr>
          <p:cNvPr id="7" name="Rounded Rectangle 6"/>
          <p:cNvSpPr/>
          <p:nvPr/>
        </p:nvSpPr>
        <p:spPr>
          <a:xfrm>
            <a:off x="731520" y="1463040"/>
            <a:ext cx="3383280"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338328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63040"/>
            <a:ext cx="109728" cy="5029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536192"/>
            <a:ext cx="3063240" cy="365760"/>
          </a:xfrm>
          <a:prstGeom prst="rect">
            <a:avLst/>
          </a:prstGeom>
          <a:noFill/>
        </p:spPr>
        <p:txBody>
          <a:bodyPr wrap="none">
            <a:spAutoFit/>
          </a:bodyPr>
          <a:lstStyle/>
          <a:p>
            <a:pPr>
              <a:defRPr sz="1100" b="1">
                <a:solidFill>
                  <a:srgbClr val="0284C7"/>
                </a:solidFill>
              </a:defRPr>
            </a:pPr>
            <a:r>
              <a:t>THE DAILY HR BOTTLENECK</a:t>
            </a:r>
          </a:p>
        </p:txBody>
      </p:sp>
      <p:sp>
        <p:nvSpPr>
          <p:cNvPr id="11" name="TextBox 10"/>
          <p:cNvSpPr txBox="1"/>
          <p:nvPr/>
        </p:nvSpPr>
        <p:spPr>
          <a:xfrm>
            <a:off x="914400" y="2057400"/>
            <a:ext cx="3017520" cy="4206240"/>
          </a:xfrm>
          <a:prstGeom prst="rect">
            <a:avLst/>
          </a:prstGeom>
          <a:noFill/>
        </p:spPr>
        <p:txBody>
          <a:bodyPr wrap="square">
            <a:spAutoFit/>
          </a:bodyPr>
          <a:lstStyle/>
          <a:p>
            <a:pPr>
              <a:spcAft>
                <a:spcPts val="1400"/>
              </a:spcAft>
              <a:defRPr sz="1200">
                <a:solidFill>
                  <a:srgbClr val="334155"/>
                </a:solidFill>
              </a:defRPr>
            </a:pPr>
            <a:r>
              <a:t>•  A single job posting attracts 250 to 500 resumes within 48 hours.</a:t>
            </a:r>
          </a:p>
          <a:p>
            <a:pPr>
              <a:spcAft>
                <a:spcPts val="1400"/>
              </a:spcAft>
              <a:defRPr sz="1200">
                <a:solidFill>
                  <a:srgbClr val="334155"/>
                </a:solidFill>
              </a:defRPr>
            </a:pPr>
            <a:r>
              <a:t>•  Recruiters spend 15 to 20 minutes reading and analyzing every single CV.</a:t>
            </a:r>
          </a:p>
          <a:p>
            <a:pPr>
              <a:spcAft>
                <a:spcPts val="1400"/>
              </a:spcAft>
              <a:defRPr sz="1200">
                <a:solidFill>
                  <a:srgbClr val="334155"/>
                </a:solidFill>
              </a:defRPr>
            </a:pPr>
            <a:r>
              <a:t>•  After the first 30 resumes, cognitive fatigue sets in and quality drops.</a:t>
            </a:r>
          </a:p>
          <a:p>
            <a:pPr>
              <a:spcAft>
                <a:spcPts val="1400"/>
              </a:spcAft>
              <a:defRPr sz="1200">
                <a:solidFill>
                  <a:srgbClr val="334155"/>
                </a:solidFill>
              </a:defRPr>
            </a:pPr>
            <a:r>
              <a:t>•  Top-tier talent often slips away because initial screening takes days.</a:t>
            </a:r>
          </a:p>
        </p:txBody>
      </p:sp>
      <p:sp>
        <p:nvSpPr>
          <p:cNvPr id="12" name="Rounded Rectangle 11"/>
          <p:cNvSpPr/>
          <p:nvPr/>
        </p:nvSpPr>
        <p:spPr>
          <a:xfrm>
            <a:off x="4389120" y="1463040"/>
            <a:ext cx="3383280"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89120" y="1463040"/>
            <a:ext cx="338328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463040"/>
            <a:ext cx="109728" cy="5029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1536192"/>
            <a:ext cx="3063240" cy="365760"/>
          </a:xfrm>
          <a:prstGeom prst="rect">
            <a:avLst/>
          </a:prstGeom>
          <a:noFill/>
        </p:spPr>
        <p:txBody>
          <a:bodyPr wrap="none">
            <a:spAutoFit/>
          </a:bodyPr>
          <a:lstStyle/>
          <a:p>
            <a:pPr>
              <a:defRPr sz="1100" b="1">
                <a:solidFill>
                  <a:srgbClr val="4F46E5"/>
                </a:solidFill>
              </a:defRPr>
            </a:pPr>
            <a:r>
              <a:t>MY INTERNSHIP GOAL</a:t>
            </a:r>
          </a:p>
        </p:txBody>
      </p:sp>
      <p:sp>
        <p:nvSpPr>
          <p:cNvPr id="16" name="TextBox 15"/>
          <p:cNvSpPr txBox="1"/>
          <p:nvPr/>
        </p:nvSpPr>
        <p:spPr>
          <a:xfrm>
            <a:off x="4572000" y="2057400"/>
            <a:ext cx="3017520" cy="4206240"/>
          </a:xfrm>
          <a:prstGeom prst="rect">
            <a:avLst/>
          </a:prstGeom>
          <a:noFill/>
        </p:spPr>
        <p:txBody>
          <a:bodyPr wrap="square">
            <a:spAutoFit/>
          </a:bodyPr>
          <a:lstStyle/>
          <a:p>
            <a:pPr>
              <a:spcAft>
                <a:spcPts val="1400"/>
              </a:spcAft>
              <a:defRPr sz="1200">
                <a:solidFill>
                  <a:srgbClr val="334155"/>
                </a:solidFill>
              </a:defRPr>
            </a:pPr>
            <a:r>
              <a:t>•  Create an intelligent copilot that acts like an assistant recruiter.</a:t>
            </a:r>
          </a:p>
          <a:p>
            <a:pPr>
              <a:spcAft>
                <a:spcPts val="1400"/>
              </a:spcAft>
              <a:defRPr sz="1200">
                <a:solidFill>
                  <a:srgbClr val="334155"/>
                </a:solidFill>
              </a:defRPr>
            </a:pPr>
            <a:r>
              <a:t>•  Instantly parse raw CV text and extract real technical competencies.</a:t>
            </a:r>
          </a:p>
          <a:p>
            <a:pPr>
              <a:spcAft>
                <a:spcPts val="1400"/>
              </a:spcAft>
              <a:defRPr sz="1200">
                <a:solidFill>
                  <a:srgbClr val="334155"/>
                </a:solidFill>
              </a:defRPr>
            </a:pPr>
            <a:r>
              <a:t>•  Calculate an explainable 0–100% score based on job requirements.</a:t>
            </a:r>
          </a:p>
          <a:p>
            <a:pPr>
              <a:spcAft>
                <a:spcPts val="1400"/>
              </a:spcAft>
              <a:defRPr sz="1200">
                <a:solidFill>
                  <a:srgbClr val="334155"/>
                </a:solidFill>
              </a:defRPr>
            </a:pPr>
            <a:r>
              <a:t>•  Empower recruiters to make faster, fairer, and data-backed hiring decisions.</a:t>
            </a:r>
          </a:p>
        </p:txBody>
      </p:sp>
      <p:sp>
        <p:nvSpPr>
          <p:cNvPr id="17" name="Rounded Rectangle 16"/>
          <p:cNvSpPr/>
          <p:nvPr/>
        </p:nvSpPr>
        <p:spPr>
          <a:xfrm>
            <a:off x="8046720" y="1463040"/>
            <a:ext cx="3383280"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46720" y="1463040"/>
            <a:ext cx="338328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463040"/>
            <a:ext cx="109728"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536192"/>
            <a:ext cx="3063240" cy="365760"/>
          </a:xfrm>
          <a:prstGeom prst="rect">
            <a:avLst/>
          </a:prstGeom>
          <a:noFill/>
        </p:spPr>
        <p:txBody>
          <a:bodyPr wrap="none">
            <a:spAutoFit/>
          </a:bodyPr>
          <a:lstStyle/>
          <a:p>
            <a:pPr>
              <a:defRPr sz="1100" b="1">
                <a:solidFill>
                  <a:srgbClr val="0D9488"/>
                </a:solidFill>
              </a:defRPr>
            </a:pPr>
            <a:r>
              <a:t>THE SOLUTION DELIVERED</a:t>
            </a:r>
          </a:p>
        </p:txBody>
      </p:sp>
      <p:sp>
        <p:nvSpPr>
          <p:cNvPr id="21" name="TextBox 20"/>
          <p:cNvSpPr txBox="1"/>
          <p:nvPr/>
        </p:nvSpPr>
        <p:spPr>
          <a:xfrm>
            <a:off x="8229600" y="2057400"/>
            <a:ext cx="3017520" cy="4206240"/>
          </a:xfrm>
          <a:prstGeom prst="rect">
            <a:avLst/>
          </a:prstGeom>
          <a:noFill/>
        </p:spPr>
        <p:txBody>
          <a:bodyPr wrap="square">
            <a:spAutoFit/>
          </a:bodyPr>
          <a:lstStyle/>
          <a:p>
            <a:pPr>
              <a:spcAft>
                <a:spcPts val="1400"/>
              </a:spcAft>
              <a:defRPr sz="1200">
                <a:solidFill>
                  <a:srgbClr val="334155"/>
                </a:solidFill>
              </a:defRPr>
            </a:pPr>
            <a:r>
              <a:t>•  TalentStream AI: An autonomous single-page web application.</a:t>
            </a:r>
          </a:p>
          <a:p>
            <a:pPr>
              <a:spcAft>
                <a:spcPts val="1400"/>
              </a:spcAft>
              <a:defRPr sz="1200">
                <a:solidFill>
                  <a:srgbClr val="334155"/>
                </a:solidFill>
              </a:defRPr>
            </a:pPr>
            <a:r>
              <a:t>•  Hands-free conversational console for natural language commands.</a:t>
            </a:r>
          </a:p>
          <a:p>
            <a:pPr>
              <a:spcAft>
                <a:spcPts val="1400"/>
              </a:spcAft>
              <a:defRPr sz="1200">
                <a:solidFill>
                  <a:srgbClr val="334155"/>
                </a:solidFill>
              </a:defRPr>
            </a:pPr>
            <a:r>
              <a:t>•  Automated personalized email drafting tailored to candidate skills.</a:t>
            </a:r>
          </a:p>
          <a:p>
            <a:pPr>
              <a:spcAft>
                <a:spcPts val="1400"/>
              </a:spcAft>
              <a:defRPr sz="1200">
                <a:solidFill>
                  <a:srgbClr val="334155"/>
                </a:solidFill>
              </a:defRPr>
            </a:pPr>
            <a:r>
              <a:t>•  Built-in privacy safeguards masking phone numbers from hiring managers.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07008"/>
            <a:ext cx="12191695"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82880"/>
            <a:ext cx="5303520" cy="292608"/>
          </a:xfrm>
          <a:prstGeom prst="roundRect">
            <a:avLst/>
          </a:prstGeom>
          <a:solidFill>
            <a:srgbClr val="1E293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284C7"/>
                </a:solidFill>
              </a:defRPr>
            </a:pPr>
            <a:r>
              <a:t>TALENTSTREAM AI • SUMMER INTERNSHIP FINAL DEFENSE</a:t>
            </a:r>
          </a:p>
        </p:txBody>
      </p:sp>
      <p:sp>
        <p:nvSpPr>
          <p:cNvPr id="6" name="TextBox 5"/>
          <p:cNvSpPr txBox="1"/>
          <p:nvPr/>
        </p:nvSpPr>
        <p:spPr>
          <a:xfrm>
            <a:off x="731520" y="502920"/>
            <a:ext cx="10698480" cy="640080"/>
          </a:xfrm>
          <a:prstGeom prst="rect">
            <a:avLst/>
          </a:prstGeom>
          <a:noFill/>
        </p:spPr>
        <p:txBody>
          <a:bodyPr wrap="square">
            <a:spAutoFit/>
          </a:bodyPr>
          <a:lstStyle/>
          <a:p>
            <a:pPr>
              <a:defRPr sz="2200" b="1">
                <a:solidFill>
                  <a:srgbClr val="FFFFFF"/>
                </a:solidFill>
              </a:defRPr>
            </a:pPr>
            <a:r>
              <a:t>Organization Profile &amp; Workplace Environment</a:t>
            </a:r>
          </a:p>
        </p:txBody>
      </p:sp>
      <p:sp>
        <p:nvSpPr>
          <p:cNvPr id="7" name="Rounded Rectangle 6"/>
          <p:cNvSpPr/>
          <p:nvPr/>
        </p:nvSpPr>
        <p:spPr>
          <a:xfrm>
            <a:off x="731520" y="1463040"/>
            <a:ext cx="5120640"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512064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63040"/>
            <a:ext cx="109728" cy="5029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536192"/>
            <a:ext cx="4800600" cy="365760"/>
          </a:xfrm>
          <a:prstGeom prst="rect">
            <a:avLst/>
          </a:prstGeom>
          <a:noFill/>
        </p:spPr>
        <p:txBody>
          <a:bodyPr wrap="none">
            <a:spAutoFit/>
          </a:bodyPr>
          <a:lstStyle/>
          <a:p>
            <a:pPr>
              <a:defRPr sz="1100" b="1">
                <a:solidFill>
                  <a:srgbClr val="0284C7"/>
                </a:solidFill>
              </a:defRPr>
            </a:pPr>
            <a:r>
              <a:t>HOST TEAM &amp; ENGINEERING CULTURE</a:t>
            </a:r>
          </a:p>
        </p:txBody>
      </p:sp>
      <p:sp>
        <p:nvSpPr>
          <p:cNvPr id="11" name="TextBox 10"/>
          <p:cNvSpPr txBox="1"/>
          <p:nvPr/>
        </p:nvSpPr>
        <p:spPr>
          <a:xfrm>
            <a:off x="914400" y="2057400"/>
            <a:ext cx="4754880" cy="4206240"/>
          </a:xfrm>
          <a:prstGeom prst="rect">
            <a:avLst/>
          </a:prstGeom>
          <a:noFill/>
        </p:spPr>
        <p:txBody>
          <a:bodyPr wrap="square">
            <a:spAutoFit/>
          </a:bodyPr>
          <a:lstStyle/>
          <a:p>
            <a:pPr>
              <a:spcAft>
                <a:spcPts val="1400"/>
              </a:spcAft>
              <a:defRPr sz="1300">
                <a:solidFill>
                  <a:srgbClr val="334155"/>
                </a:solidFill>
              </a:defRPr>
            </a:pPr>
            <a:r>
              <a:t>•  Team: Enterprise Software &amp; Applied AI Engineering Division.</a:t>
            </a:r>
          </a:p>
          <a:p>
            <a:pPr>
              <a:spcAft>
                <a:spcPts val="1400"/>
              </a:spcAft>
              <a:defRPr sz="1300">
                <a:solidFill>
                  <a:srgbClr val="334155"/>
                </a:solidFill>
              </a:defRPr>
            </a:pPr>
            <a:r>
              <a:t>•  Mission: Modernizing high-friction business operations with autonomous agents.</a:t>
            </a:r>
          </a:p>
          <a:p>
            <a:pPr>
              <a:spcAft>
                <a:spcPts val="1400"/>
              </a:spcAft>
              <a:defRPr sz="1300">
                <a:solidFill>
                  <a:srgbClr val="334155"/>
                </a:solidFill>
              </a:defRPr>
            </a:pPr>
            <a:r>
              <a:t>•  Core Philosophy: Software must be practical, trustworthy, and simple to use.</a:t>
            </a:r>
          </a:p>
          <a:p>
            <a:pPr>
              <a:spcAft>
                <a:spcPts val="1400"/>
              </a:spcAft>
              <a:defRPr sz="1300">
                <a:solidFill>
                  <a:srgbClr val="334155"/>
                </a:solidFill>
              </a:defRPr>
            </a:pPr>
            <a:r>
              <a:t>•  Real-World Standard: Non-technical HR staff should be able to use the tool with zero training.</a:t>
            </a:r>
          </a:p>
          <a:p>
            <a:pPr>
              <a:spcAft>
                <a:spcPts val="1400"/>
              </a:spcAft>
              <a:defRPr sz="1300">
                <a:solidFill>
                  <a:srgbClr val="334155"/>
                </a:solidFill>
              </a:defRPr>
            </a:pPr>
            <a:r>
              <a:t>•  Compliance Mandates: Adhering strictly to enterprise privacy standards (SOC-2/GDPR).</a:t>
            </a:r>
          </a:p>
        </p:txBody>
      </p:sp>
      <p:sp>
        <p:nvSpPr>
          <p:cNvPr id="12" name="Rounded Rectangle 11"/>
          <p:cNvSpPr/>
          <p:nvPr/>
        </p:nvSpPr>
        <p:spPr>
          <a:xfrm>
            <a:off x="6217920" y="1463040"/>
            <a:ext cx="5212080"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463040"/>
            <a:ext cx="521208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463040"/>
            <a:ext cx="109728" cy="5029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536192"/>
            <a:ext cx="4892040" cy="365760"/>
          </a:xfrm>
          <a:prstGeom prst="rect">
            <a:avLst/>
          </a:prstGeom>
          <a:noFill/>
        </p:spPr>
        <p:txBody>
          <a:bodyPr wrap="none">
            <a:spAutoFit/>
          </a:bodyPr>
          <a:lstStyle/>
          <a:p>
            <a:pPr>
              <a:defRPr sz="1100" b="1">
                <a:solidFill>
                  <a:srgbClr val="D97706"/>
                </a:solidFill>
              </a:defRPr>
            </a:pPr>
            <a:r>
              <a:t>KEY BUSINESS RULES I FOLLOWED</a:t>
            </a:r>
          </a:p>
        </p:txBody>
      </p:sp>
      <p:sp>
        <p:nvSpPr>
          <p:cNvPr id="16" name="TextBox 15"/>
          <p:cNvSpPr txBox="1"/>
          <p:nvPr/>
        </p:nvSpPr>
        <p:spPr>
          <a:xfrm>
            <a:off x="6400800" y="2057400"/>
            <a:ext cx="4846320" cy="4206240"/>
          </a:xfrm>
          <a:prstGeom prst="rect">
            <a:avLst/>
          </a:prstGeom>
          <a:noFill/>
        </p:spPr>
        <p:txBody>
          <a:bodyPr wrap="square">
            <a:spAutoFit/>
          </a:bodyPr>
          <a:lstStyle/>
          <a:p>
            <a:pPr>
              <a:spcAft>
                <a:spcPts val="1400"/>
              </a:spcAft>
              <a:defRPr sz="1300">
                <a:solidFill>
                  <a:srgbClr val="334155"/>
                </a:solidFill>
              </a:defRPr>
            </a:pPr>
            <a:r>
              <a:t>•  Explainable AI: Never produce a match score without explaining why the candidate received it.</a:t>
            </a:r>
          </a:p>
          <a:p>
            <a:pPr>
              <a:spcAft>
                <a:spcPts val="1400"/>
              </a:spcAft>
              <a:defRPr sz="1300">
                <a:solidFill>
                  <a:srgbClr val="334155"/>
                </a:solidFill>
              </a:defRPr>
            </a:pPr>
            <a:r>
              <a:t>•  Zero-Bias Contact Masking: Hiring managers must evaluate technical merit—not personal phone numbers or addresses.</a:t>
            </a:r>
          </a:p>
          <a:p>
            <a:pPr>
              <a:spcAft>
                <a:spcPts val="1400"/>
              </a:spcAft>
              <a:defRPr sz="1300">
                <a:solidFill>
                  <a:srgbClr val="334155"/>
                </a:solidFill>
              </a:defRPr>
            </a:pPr>
            <a:r>
              <a:t>•  Permanent Auditability: Every screening run, role change, and email dispatched must be recorded.</a:t>
            </a:r>
          </a:p>
          <a:p>
            <a:pPr>
              <a:spcAft>
                <a:spcPts val="1400"/>
              </a:spcAft>
              <a:defRPr sz="1300">
                <a:solidFill>
                  <a:srgbClr val="334155"/>
                </a:solidFill>
              </a:defRPr>
            </a:pPr>
            <a:r>
              <a:t>•  Lightweight Performance: The application must load instantly in standard web browsers with zero installation lag.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07008"/>
            <a:ext cx="12191695"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82880"/>
            <a:ext cx="5303520" cy="292608"/>
          </a:xfrm>
          <a:prstGeom prst="roundRect">
            <a:avLst/>
          </a:prstGeom>
          <a:solidFill>
            <a:srgbClr val="1E293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284C7"/>
                </a:solidFill>
              </a:defRPr>
            </a:pPr>
            <a:r>
              <a:t>TALENTSTREAM AI • SUMMER INTERNSHIP FINAL DEFENSE</a:t>
            </a:r>
          </a:p>
        </p:txBody>
      </p:sp>
      <p:sp>
        <p:nvSpPr>
          <p:cNvPr id="6" name="TextBox 5"/>
          <p:cNvSpPr txBox="1"/>
          <p:nvPr/>
        </p:nvSpPr>
        <p:spPr>
          <a:xfrm>
            <a:off x="731520" y="502920"/>
            <a:ext cx="10698480" cy="640080"/>
          </a:xfrm>
          <a:prstGeom prst="rect">
            <a:avLst/>
          </a:prstGeom>
          <a:noFill/>
        </p:spPr>
        <p:txBody>
          <a:bodyPr wrap="square">
            <a:spAutoFit/>
          </a:bodyPr>
          <a:lstStyle/>
          <a:p>
            <a:pPr>
              <a:defRPr sz="2200" b="1">
                <a:solidFill>
                  <a:srgbClr val="FFFFFF"/>
                </a:solidFill>
              </a:defRPr>
            </a:pPr>
            <a:r>
              <a:t>Project Objectives: What I Set Out to Accomplish</a:t>
            </a:r>
          </a:p>
        </p:txBody>
      </p:sp>
      <p:sp>
        <p:nvSpPr>
          <p:cNvPr id="7" name="Rounded Rectangle 6"/>
          <p:cNvSpPr/>
          <p:nvPr/>
        </p:nvSpPr>
        <p:spPr>
          <a:xfrm>
            <a:off x="731520" y="1463040"/>
            <a:ext cx="10698480" cy="868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1069848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63040"/>
            <a:ext cx="109728" cy="5029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536192"/>
            <a:ext cx="10378440" cy="365760"/>
          </a:xfrm>
          <a:prstGeom prst="rect">
            <a:avLst/>
          </a:prstGeom>
          <a:noFill/>
        </p:spPr>
        <p:txBody>
          <a:bodyPr wrap="none">
            <a:spAutoFit/>
          </a:bodyPr>
          <a:lstStyle/>
          <a:p>
            <a:pPr>
              <a:defRPr sz="1100" b="1">
                <a:solidFill>
                  <a:srgbClr val="0284C7"/>
                </a:solidFill>
              </a:defRPr>
            </a:pPr>
            <a:r>
              <a:t>1. CUT RESUME SCREENING TIME FROM 15 MINS TO UNDER 2 MINS</a:t>
            </a:r>
          </a:p>
        </p:txBody>
      </p:sp>
      <p:sp>
        <p:nvSpPr>
          <p:cNvPr id="11" name="TextBox 10"/>
          <p:cNvSpPr txBox="1"/>
          <p:nvPr/>
        </p:nvSpPr>
        <p:spPr>
          <a:xfrm>
            <a:off x="914400" y="2057400"/>
            <a:ext cx="10332720" cy="228600"/>
          </a:xfrm>
          <a:prstGeom prst="rect">
            <a:avLst/>
          </a:prstGeom>
          <a:noFill/>
        </p:spPr>
        <p:txBody>
          <a:bodyPr wrap="square">
            <a:spAutoFit/>
          </a:bodyPr>
          <a:lstStyle/>
          <a:p>
            <a:pPr>
              <a:defRPr sz="1200">
                <a:solidFill>
                  <a:srgbClr val="334155"/>
                </a:solidFill>
              </a:defRPr>
            </a:pPr>
            <a:r>
              <a:t>Build a fast parsing engine that extracts skills, detects experience durations, and computes a 0–100% weighted score.</a:t>
            </a:r>
          </a:p>
        </p:txBody>
      </p:sp>
      <p:sp>
        <p:nvSpPr>
          <p:cNvPr id="12" name="Rounded Rectangle 11"/>
          <p:cNvSpPr/>
          <p:nvPr/>
        </p:nvSpPr>
        <p:spPr>
          <a:xfrm>
            <a:off x="731520" y="2423160"/>
            <a:ext cx="10698480" cy="868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2423160"/>
            <a:ext cx="1069848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2423160"/>
            <a:ext cx="109728" cy="5029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496312"/>
            <a:ext cx="10378440" cy="365760"/>
          </a:xfrm>
          <a:prstGeom prst="rect">
            <a:avLst/>
          </a:prstGeom>
          <a:noFill/>
        </p:spPr>
        <p:txBody>
          <a:bodyPr wrap="none">
            <a:spAutoFit/>
          </a:bodyPr>
          <a:lstStyle/>
          <a:p>
            <a:pPr>
              <a:defRPr sz="1100" b="1">
                <a:solidFill>
                  <a:srgbClr val="4F46E5"/>
                </a:solidFill>
              </a:defRPr>
            </a:pPr>
            <a:r>
              <a:t>2. ENABLE HANDS-FREE COMMANDS IN EVERYDAY ENGLISH</a:t>
            </a:r>
          </a:p>
        </p:txBody>
      </p:sp>
      <p:sp>
        <p:nvSpPr>
          <p:cNvPr id="16" name="TextBox 15"/>
          <p:cNvSpPr txBox="1"/>
          <p:nvPr/>
        </p:nvSpPr>
        <p:spPr>
          <a:xfrm>
            <a:off x="914400" y="3017520"/>
            <a:ext cx="10332720" cy="228600"/>
          </a:xfrm>
          <a:prstGeom prst="rect">
            <a:avLst/>
          </a:prstGeom>
          <a:noFill/>
        </p:spPr>
        <p:txBody>
          <a:bodyPr wrap="square">
            <a:spAutoFit/>
          </a:bodyPr>
          <a:lstStyle/>
          <a:p>
            <a:pPr>
              <a:defRPr sz="1200">
                <a:solidFill>
                  <a:srgbClr val="334155"/>
                </a:solidFill>
              </a:defRPr>
            </a:pPr>
            <a:r>
              <a:t>Create a conversational terminal where recruiters type plain queries ('Find candidates with Python &gt;85%') without clicking dozens of menus.</a:t>
            </a:r>
          </a:p>
        </p:txBody>
      </p:sp>
      <p:sp>
        <p:nvSpPr>
          <p:cNvPr id="17" name="Rounded Rectangle 16"/>
          <p:cNvSpPr/>
          <p:nvPr/>
        </p:nvSpPr>
        <p:spPr>
          <a:xfrm>
            <a:off x="731520" y="3383280"/>
            <a:ext cx="10698480" cy="868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3383280"/>
            <a:ext cx="1069848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3383280"/>
            <a:ext cx="109728"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456432"/>
            <a:ext cx="10378440" cy="365760"/>
          </a:xfrm>
          <a:prstGeom prst="rect">
            <a:avLst/>
          </a:prstGeom>
          <a:noFill/>
        </p:spPr>
        <p:txBody>
          <a:bodyPr wrap="none">
            <a:spAutoFit/>
          </a:bodyPr>
          <a:lstStyle/>
          <a:p>
            <a:pPr>
              <a:defRPr sz="1100" b="1">
                <a:solidFill>
                  <a:srgbClr val="0D9488"/>
                </a:solidFill>
              </a:defRPr>
            </a:pPr>
            <a:r>
              <a:t>3. ELIMINATE EMAIL WRITING BOTTLENECKS WITH AUTO-DRAFTING</a:t>
            </a:r>
          </a:p>
        </p:txBody>
      </p:sp>
      <p:sp>
        <p:nvSpPr>
          <p:cNvPr id="21" name="TextBox 20"/>
          <p:cNvSpPr txBox="1"/>
          <p:nvPr/>
        </p:nvSpPr>
        <p:spPr>
          <a:xfrm>
            <a:off x="914400" y="3977640"/>
            <a:ext cx="10332720" cy="228600"/>
          </a:xfrm>
          <a:prstGeom prst="rect">
            <a:avLst/>
          </a:prstGeom>
          <a:noFill/>
        </p:spPr>
        <p:txBody>
          <a:bodyPr wrap="square">
            <a:spAutoFit/>
          </a:bodyPr>
          <a:lstStyle/>
          <a:p>
            <a:pPr>
              <a:defRPr sz="1200">
                <a:solidFill>
                  <a:srgbClr val="334155"/>
                </a:solidFill>
              </a:defRPr>
            </a:pPr>
            <a:r>
              <a:t>Generate personalized, professional outreach emails tailored to candidate backgrounds, ready for one-click review and sending.</a:t>
            </a:r>
          </a:p>
        </p:txBody>
      </p:sp>
      <p:sp>
        <p:nvSpPr>
          <p:cNvPr id="22" name="Rounded Rectangle 21"/>
          <p:cNvSpPr/>
          <p:nvPr/>
        </p:nvSpPr>
        <p:spPr>
          <a:xfrm>
            <a:off x="731520" y="4343400"/>
            <a:ext cx="10698480" cy="868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1520" y="4343400"/>
            <a:ext cx="1069848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4343400"/>
            <a:ext cx="109728" cy="5029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4416552"/>
            <a:ext cx="10378440" cy="365760"/>
          </a:xfrm>
          <a:prstGeom prst="rect">
            <a:avLst/>
          </a:prstGeom>
          <a:noFill/>
        </p:spPr>
        <p:txBody>
          <a:bodyPr wrap="none">
            <a:spAutoFit/>
          </a:bodyPr>
          <a:lstStyle/>
          <a:p>
            <a:pPr>
              <a:defRPr sz="1100" b="1">
                <a:solidFill>
                  <a:srgbClr val="D97706"/>
                </a:solidFill>
              </a:defRPr>
            </a:pPr>
            <a:r>
              <a:t>4. SAFEGUARD CANDIDATE PRIVACY VIA ROLE-BASED ACCESS CONTROL</a:t>
            </a:r>
          </a:p>
        </p:txBody>
      </p:sp>
      <p:sp>
        <p:nvSpPr>
          <p:cNvPr id="26" name="TextBox 25"/>
          <p:cNvSpPr txBox="1"/>
          <p:nvPr/>
        </p:nvSpPr>
        <p:spPr>
          <a:xfrm>
            <a:off x="914400" y="4937760"/>
            <a:ext cx="10332720" cy="228600"/>
          </a:xfrm>
          <a:prstGeom prst="rect">
            <a:avLst/>
          </a:prstGeom>
          <a:noFill/>
        </p:spPr>
        <p:txBody>
          <a:bodyPr wrap="square">
            <a:spAutoFit/>
          </a:bodyPr>
          <a:lstStyle/>
          <a:p>
            <a:pPr>
              <a:defRPr sz="1200">
                <a:solidFill>
                  <a:srgbClr val="334155"/>
                </a:solidFill>
              </a:defRPr>
            </a:pPr>
            <a:r>
              <a:t>Automatically mask personal phone numbers and emails for hiring managers to eliminate bias and protect sensitive data.</a:t>
            </a:r>
          </a:p>
        </p:txBody>
      </p:sp>
      <p:sp>
        <p:nvSpPr>
          <p:cNvPr id="27" name="Rounded Rectangle 26"/>
          <p:cNvSpPr/>
          <p:nvPr/>
        </p:nvSpPr>
        <p:spPr>
          <a:xfrm>
            <a:off x="731520" y="5303520"/>
            <a:ext cx="10698480" cy="868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31520" y="5303520"/>
            <a:ext cx="1069848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1520" y="5303520"/>
            <a:ext cx="109728"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76672"/>
            <a:ext cx="10378440" cy="365760"/>
          </a:xfrm>
          <a:prstGeom prst="rect">
            <a:avLst/>
          </a:prstGeom>
          <a:noFill/>
        </p:spPr>
        <p:txBody>
          <a:bodyPr wrap="none">
            <a:spAutoFit/>
          </a:bodyPr>
          <a:lstStyle/>
          <a:p>
            <a:pPr>
              <a:defRPr sz="1100" b="1">
                <a:solidFill>
                  <a:srgbClr val="0F172A"/>
                </a:solidFill>
              </a:defRPr>
            </a:pPr>
            <a:r>
              <a:t>5. MAINTAIN AN IMMUTABLE, SOC-2 COMPLIANT AUDIT TRAIL</a:t>
            </a:r>
          </a:p>
        </p:txBody>
      </p:sp>
      <p:sp>
        <p:nvSpPr>
          <p:cNvPr id="31" name="TextBox 30"/>
          <p:cNvSpPr txBox="1"/>
          <p:nvPr/>
        </p:nvSpPr>
        <p:spPr>
          <a:xfrm>
            <a:off x="914400" y="5897880"/>
            <a:ext cx="10332720" cy="228600"/>
          </a:xfrm>
          <a:prstGeom prst="rect">
            <a:avLst/>
          </a:prstGeom>
          <a:noFill/>
        </p:spPr>
        <p:txBody>
          <a:bodyPr wrap="square">
            <a:spAutoFit/>
          </a:bodyPr>
          <a:lstStyle/>
          <a:p>
            <a:pPr>
              <a:defRPr sz="1200">
                <a:solidFill>
                  <a:srgbClr val="334155"/>
                </a:solidFill>
              </a:defRPr>
            </a:pPr>
            <a:r>
              <a:t>Log every user action and AI tool call with UTC timestamps, operator tags, and verified compliance status badges.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07008"/>
            <a:ext cx="12191695"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82880"/>
            <a:ext cx="5303520" cy="292608"/>
          </a:xfrm>
          <a:prstGeom prst="roundRect">
            <a:avLst/>
          </a:prstGeom>
          <a:solidFill>
            <a:srgbClr val="1E293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284C7"/>
                </a:solidFill>
              </a:defRPr>
            </a:pPr>
            <a:r>
              <a:t>TALENTSTREAM AI • SUMMER INTERNSHIP FINAL DEFENSE</a:t>
            </a:r>
          </a:p>
        </p:txBody>
      </p:sp>
      <p:sp>
        <p:nvSpPr>
          <p:cNvPr id="6" name="TextBox 5"/>
          <p:cNvSpPr txBox="1"/>
          <p:nvPr/>
        </p:nvSpPr>
        <p:spPr>
          <a:xfrm>
            <a:off x="731520" y="502920"/>
            <a:ext cx="10698480" cy="640080"/>
          </a:xfrm>
          <a:prstGeom prst="rect">
            <a:avLst/>
          </a:prstGeom>
          <a:noFill/>
        </p:spPr>
        <p:txBody>
          <a:bodyPr wrap="square">
            <a:spAutoFit/>
          </a:bodyPr>
          <a:lstStyle/>
          <a:p>
            <a:pPr>
              <a:defRPr sz="2200" b="1">
                <a:solidFill>
                  <a:srgbClr val="FFFFFF"/>
                </a:solidFill>
              </a:defRPr>
            </a:pPr>
            <a:r>
              <a:t>System Architecture: How TalentStream AI Works</a:t>
            </a:r>
          </a:p>
        </p:txBody>
      </p:sp>
      <p:sp>
        <p:nvSpPr>
          <p:cNvPr id="7" name="Rounded Rectangle 6"/>
          <p:cNvSpPr/>
          <p:nvPr/>
        </p:nvSpPr>
        <p:spPr>
          <a:xfrm>
            <a:off x="731520" y="1463040"/>
            <a:ext cx="2057400" cy="2194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205740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63040"/>
            <a:ext cx="109728" cy="5029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536192"/>
            <a:ext cx="1737360" cy="365760"/>
          </a:xfrm>
          <a:prstGeom prst="rect">
            <a:avLst/>
          </a:prstGeom>
          <a:noFill/>
        </p:spPr>
        <p:txBody>
          <a:bodyPr wrap="none">
            <a:spAutoFit/>
          </a:bodyPr>
          <a:lstStyle/>
          <a:p>
            <a:pPr>
              <a:defRPr sz="1100" b="1">
                <a:solidFill>
                  <a:srgbClr val="0284C7"/>
                </a:solidFill>
              </a:defRPr>
            </a:pPr>
            <a:r>
              <a:t>STEP 1: INPUT</a:t>
            </a:r>
          </a:p>
        </p:txBody>
      </p:sp>
      <p:sp>
        <p:nvSpPr>
          <p:cNvPr id="11" name="TextBox 10"/>
          <p:cNvSpPr txBox="1"/>
          <p:nvPr/>
        </p:nvSpPr>
        <p:spPr>
          <a:xfrm>
            <a:off x="914400" y="2057400"/>
            <a:ext cx="1691640" cy="1554480"/>
          </a:xfrm>
          <a:prstGeom prst="rect">
            <a:avLst/>
          </a:prstGeom>
          <a:noFill/>
        </p:spPr>
        <p:txBody>
          <a:bodyPr wrap="square">
            <a:spAutoFit/>
          </a:bodyPr>
          <a:lstStyle/>
          <a:p>
            <a:pPr>
              <a:defRPr sz="1200">
                <a:solidFill>
                  <a:srgbClr val="334155"/>
                </a:solidFill>
              </a:defRPr>
            </a:pPr>
            <a:r>
              <a:t>Paste CV Text or Upload Resume File</a:t>
            </a:r>
          </a:p>
        </p:txBody>
      </p:sp>
      <p:sp>
        <p:nvSpPr>
          <p:cNvPr id="12" name="Rounded Rectangle 11"/>
          <p:cNvSpPr/>
          <p:nvPr/>
        </p:nvSpPr>
        <p:spPr>
          <a:xfrm>
            <a:off x="2907791" y="1463040"/>
            <a:ext cx="2057400" cy="2194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07791" y="1463040"/>
            <a:ext cx="205740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07791" y="1463040"/>
            <a:ext cx="109728" cy="5029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36391" y="1536192"/>
            <a:ext cx="1737360" cy="365760"/>
          </a:xfrm>
          <a:prstGeom prst="rect">
            <a:avLst/>
          </a:prstGeom>
          <a:noFill/>
        </p:spPr>
        <p:txBody>
          <a:bodyPr wrap="none">
            <a:spAutoFit/>
          </a:bodyPr>
          <a:lstStyle/>
          <a:p>
            <a:pPr>
              <a:defRPr sz="1100" b="1">
                <a:solidFill>
                  <a:srgbClr val="4F46E5"/>
                </a:solidFill>
              </a:defRPr>
            </a:pPr>
            <a:r>
              <a:t>STEP 2: PARSING</a:t>
            </a:r>
          </a:p>
        </p:txBody>
      </p:sp>
      <p:sp>
        <p:nvSpPr>
          <p:cNvPr id="16" name="TextBox 15"/>
          <p:cNvSpPr txBox="1"/>
          <p:nvPr/>
        </p:nvSpPr>
        <p:spPr>
          <a:xfrm>
            <a:off x="3090671" y="2057400"/>
            <a:ext cx="1691640" cy="1554480"/>
          </a:xfrm>
          <a:prstGeom prst="rect">
            <a:avLst/>
          </a:prstGeom>
          <a:noFill/>
        </p:spPr>
        <p:txBody>
          <a:bodyPr wrap="square">
            <a:spAutoFit/>
          </a:bodyPr>
          <a:lstStyle/>
          <a:p>
            <a:pPr>
              <a:defRPr sz="1200">
                <a:solidFill>
                  <a:srgbClr val="334155"/>
                </a:solidFill>
              </a:defRPr>
            </a:pPr>
            <a:r>
              <a:t>Extract Technical Skills &amp; Experience</a:t>
            </a:r>
          </a:p>
        </p:txBody>
      </p:sp>
      <p:sp>
        <p:nvSpPr>
          <p:cNvPr id="17" name="Rounded Rectangle 16"/>
          <p:cNvSpPr/>
          <p:nvPr/>
        </p:nvSpPr>
        <p:spPr>
          <a:xfrm>
            <a:off x="5084064" y="1463040"/>
            <a:ext cx="2057400" cy="2194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84064" y="1463040"/>
            <a:ext cx="205740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84064" y="1463040"/>
            <a:ext cx="109728"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12664" y="1536192"/>
            <a:ext cx="1737360" cy="365760"/>
          </a:xfrm>
          <a:prstGeom prst="rect">
            <a:avLst/>
          </a:prstGeom>
          <a:noFill/>
        </p:spPr>
        <p:txBody>
          <a:bodyPr wrap="none">
            <a:spAutoFit/>
          </a:bodyPr>
          <a:lstStyle/>
          <a:p>
            <a:pPr>
              <a:defRPr sz="1100" b="1">
                <a:solidFill>
                  <a:srgbClr val="0D9488"/>
                </a:solidFill>
              </a:defRPr>
            </a:pPr>
            <a:r>
              <a:t>STEP 3: SCORING</a:t>
            </a:r>
          </a:p>
        </p:txBody>
      </p:sp>
      <p:sp>
        <p:nvSpPr>
          <p:cNvPr id="21" name="TextBox 20"/>
          <p:cNvSpPr txBox="1"/>
          <p:nvPr/>
        </p:nvSpPr>
        <p:spPr>
          <a:xfrm>
            <a:off x="5266944" y="2057400"/>
            <a:ext cx="1691640" cy="1554480"/>
          </a:xfrm>
          <a:prstGeom prst="rect">
            <a:avLst/>
          </a:prstGeom>
          <a:noFill/>
        </p:spPr>
        <p:txBody>
          <a:bodyPr wrap="square">
            <a:spAutoFit/>
          </a:bodyPr>
          <a:lstStyle/>
          <a:p>
            <a:pPr>
              <a:defRPr sz="1200">
                <a:solidFill>
                  <a:srgbClr val="334155"/>
                </a:solidFill>
              </a:defRPr>
            </a:pPr>
            <a:r>
              <a:t>Calculate 0–100% Match vs Job Criteria</a:t>
            </a:r>
          </a:p>
        </p:txBody>
      </p:sp>
      <p:sp>
        <p:nvSpPr>
          <p:cNvPr id="22" name="Rounded Rectangle 21"/>
          <p:cNvSpPr/>
          <p:nvPr/>
        </p:nvSpPr>
        <p:spPr>
          <a:xfrm>
            <a:off x="7260336" y="1463040"/>
            <a:ext cx="2057400" cy="2194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260336" y="1463040"/>
            <a:ext cx="205740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260336" y="1463040"/>
            <a:ext cx="109728" cy="5029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88936" y="1536192"/>
            <a:ext cx="1737360" cy="365760"/>
          </a:xfrm>
          <a:prstGeom prst="rect">
            <a:avLst/>
          </a:prstGeom>
          <a:noFill/>
        </p:spPr>
        <p:txBody>
          <a:bodyPr wrap="none">
            <a:spAutoFit/>
          </a:bodyPr>
          <a:lstStyle/>
          <a:p>
            <a:pPr>
              <a:defRPr sz="1100" b="1">
                <a:solidFill>
                  <a:srgbClr val="D97706"/>
                </a:solidFill>
              </a:defRPr>
            </a:pPr>
            <a:r>
              <a:t>STEP 4: OUTREACH</a:t>
            </a:r>
          </a:p>
        </p:txBody>
      </p:sp>
      <p:sp>
        <p:nvSpPr>
          <p:cNvPr id="26" name="TextBox 25"/>
          <p:cNvSpPr txBox="1"/>
          <p:nvPr/>
        </p:nvSpPr>
        <p:spPr>
          <a:xfrm>
            <a:off x="7443216" y="2057400"/>
            <a:ext cx="1691640" cy="1554480"/>
          </a:xfrm>
          <a:prstGeom prst="rect">
            <a:avLst/>
          </a:prstGeom>
          <a:noFill/>
        </p:spPr>
        <p:txBody>
          <a:bodyPr wrap="square">
            <a:spAutoFit/>
          </a:bodyPr>
          <a:lstStyle/>
          <a:p>
            <a:pPr>
              <a:defRPr sz="1200">
                <a:solidFill>
                  <a:srgbClr val="334155"/>
                </a:solidFill>
              </a:defRPr>
            </a:pPr>
            <a:r>
              <a:t>LLM Drafts Tailored Follow-Up Email</a:t>
            </a:r>
          </a:p>
        </p:txBody>
      </p:sp>
      <p:sp>
        <p:nvSpPr>
          <p:cNvPr id="27" name="Rounded Rectangle 26"/>
          <p:cNvSpPr/>
          <p:nvPr/>
        </p:nvSpPr>
        <p:spPr>
          <a:xfrm>
            <a:off x="9436608" y="1463040"/>
            <a:ext cx="2057400" cy="2194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436608" y="1463040"/>
            <a:ext cx="205740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436608" y="1463040"/>
            <a:ext cx="109728" cy="5029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65208" y="1536192"/>
            <a:ext cx="1737360" cy="365760"/>
          </a:xfrm>
          <a:prstGeom prst="rect">
            <a:avLst/>
          </a:prstGeom>
          <a:noFill/>
        </p:spPr>
        <p:txBody>
          <a:bodyPr wrap="none">
            <a:spAutoFit/>
          </a:bodyPr>
          <a:lstStyle/>
          <a:p>
            <a:pPr>
              <a:defRPr sz="1100" b="1">
                <a:solidFill>
                  <a:srgbClr val="0284C7"/>
                </a:solidFill>
              </a:defRPr>
            </a:pPr>
            <a:r>
              <a:t>STEP 5: LOGGING</a:t>
            </a:r>
          </a:p>
        </p:txBody>
      </p:sp>
      <p:sp>
        <p:nvSpPr>
          <p:cNvPr id="31" name="TextBox 30"/>
          <p:cNvSpPr txBox="1"/>
          <p:nvPr/>
        </p:nvSpPr>
        <p:spPr>
          <a:xfrm>
            <a:off x="9619488" y="2057400"/>
            <a:ext cx="1691640" cy="1554480"/>
          </a:xfrm>
          <a:prstGeom prst="rect">
            <a:avLst/>
          </a:prstGeom>
          <a:noFill/>
        </p:spPr>
        <p:txBody>
          <a:bodyPr wrap="square">
            <a:spAutoFit/>
          </a:bodyPr>
          <a:lstStyle/>
          <a:p>
            <a:pPr>
              <a:defRPr sz="1200">
                <a:solidFill>
                  <a:srgbClr val="334155"/>
                </a:solidFill>
              </a:defRPr>
            </a:pPr>
            <a:r>
              <a:t>Save Record &amp; Write to Audit Trail</a:t>
            </a:r>
          </a:p>
        </p:txBody>
      </p:sp>
      <p:sp>
        <p:nvSpPr>
          <p:cNvPr id="32" name="Rounded Rectangle 31"/>
          <p:cNvSpPr/>
          <p:nvPr/>
        </p:nvSpPr>
        <p:spPr>
          <a:xfrm>
            <a:off x="731520" y="3931920"/>
            <a:ext cx="1069848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31520" y="3931920"/>
            <a:ext cx="1069848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31520" y="3931920"/>
            <a:ext cx="109728" cy="5029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0120" y="4005072"/>
            <a:ext cx="10378440" cy="365760"/>
          </a:xfrm>
          <a:prstGeom prst="rect">
            <a:avLst/>
          </a:prstGeom>
          <a:noFill/>
        </p:spPr>
        <p:txBody>
          <a:bodyPr wrap="none">
            <a:spAutoFit/>
          </a:bodyPr>
          <a:lstStyle/>
          <a:p>
            <a:pPr>
              <a:defRPr sz="1100" b="1">
                <a:solidFill>
                  <a:srgbClr val="0284C7"/>
                </a:solidFill>
              </a:defRPr>
            </a:pPr>
            <a:r>
              <a:t>KEY ARCHITECTURAL ADVANTAGES</a:t>
            </a:r>
          </a:p>
        </p:txBody>
      </p:sp>
      <p:sp>
        <p:nvSpPr>
          <p:cNvPr id="36" name="TextBox 35"/>
          <p:cNvSpPr txBox="1"/>
          <p:nvPr/>
        </p:nvSpPr>
        <p:spPr>
          <a:xfrm>
            <a:off x="914400" y="4526280"/>
            <a:ext cx="10332720" cy="1737360"/>
          </a:xfrm>
          <a:prstGeom prst="rect">
            <a:avLst/>
          </a:prstGeom>
          <a:noFill/>
        </p:spPr>
        <p:txBody>
          <a:bodyPr wrap="square">
            <a:spAutoFit/>
          </a:bodyPr>
          <a:lstStyle/>
          <a:p>
            <a:pPr>
              <a:spcAft>
                <a:spcPts val="800"/>
              </a:spcAft>
              <a:defRPr sz="1200">
                <a:solidFill>
                  <a:srgbClr val="334155"/>
                </a:solidFill>
              </a:defRPr>
            </a:pPr>
            <a:r>
              <a:t>•  Live Operational Transparency: As the agent screens a resume, users see each thought step stream live in the console.</a:t>
            </a:r>
          </a:p>
          <a:p>
            <a:pPr>
              <a:spcAft>
                <a:spcPts val="800"/>
              </a:spcAft>
              <a:defRPr sz="1200">
                <a:solidFill>
                  <a:srgbClr val="334155"/>
                </a:solidFill>
              </a:defRPr>
            </a:pPr>
            <a:r>
              <a:t>•  Data-Layer Privacy Protection: Sensitive contact details are redacted before data reaches the browser DOM.</a:t>
            </a:r>
          </a:p>
          <a:p>
            <a:pPr>
              <a:spcAft>
                <a:spcPts val="800"/>
              </a:spcAft>
              <a:defRPr sz="1200">
                <a:solidFill>
                  <a:srgbClr val="334155"/>
                </a:solidFill>
              </a:defRPr>
            </a:pPr>
            <a:r>
              <a:t>•  Zero-Dependency Web Delivery: Built using pure native web standards—no heavy client-side framework bloat.</a:t>
            </a:r>
          </a:p>
          <a:p>
            <a:pPr>
              <a:spcAft>
                <a:spcPts val="800"/>
              </a:spcAft>
              <a:defRPr sz="1200">
                <a:solidFill>
                  <a:srgbClr val="334155"/>
                </a:solidFill>
              </a:defRPr>
            </a:pPr>
            <a:r>
              <a:t>•  Deterministic Tool Invocation: Natural language commands trigger predictable, verified database and email functions.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07008"/>
            <a:ext cx="12191695"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82880"/>
            <a:ext cx="5303520" cy="292608"/>
          </a:xfrm>
          <a:prstGeom prst="roundRect">
            <a:avLst/>
          </a:prstGeom>
          <a:solidFill>
            <a:srgbClr val="1E293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284C7"/>
                </a:solidFill>
              </a:defRPr>
            </a:pPr>
            <a:r>
              <a:t>TALENTSTREAM AI • SUMMER INTERNSHIP FINAL DEFENSE</a:t>
            </a:r>
          </a:p>
        </p:txBody>
      </p:sp>
      <p:sp>
        <p:nvSpPr>
          <p:cNvPr id="6" name="TextBox 5"/>
          <p:cNvSpPr txBox="1"/>
          <p:nvPr/>
        </p:nvSpPr>
        <p:spPr>
          <a:xfrm>
            <a:off x="731520" y="502920"/>
            <a:ext cx="10698480" cy="640080"/>
          </a:xfrm>
          <a:prstGeom prst="rect">
            <a:avLst/>
          </a:prstGeom>
          <a:noFill/>
        </p:spPr>
        <p:txBody>
          <a:bodyPr wrap="square">
            <a:spAutoFit/>
          </a:bodyPr>
          <a:lstStyle/>
          <a:p>
            <a:pPr>
              <a:defRPr sz="2200" b="1">
                <a:solidFill>
                  <a:srgbClr val="FFFFFF"/>
                </a:solidFill>
              </a:defRPr>
            </a:pPr>
            <a:r>
              <a:t>Technology Stack &amp; Development Tools</a:t>
            </a:r>
          </a:p>
        </p:txBody>
      </p:sp>
      <p:sp>
        <p:nvSpPr>
          <p:cNvPr id="7" name="Rounded Rectangle 6"/>
          <p:cNvSpPr/>
          <p:nvPr/>
        </p:nvSpPr>
        <p:spPr>
          <a:xfrm>
            <a:off x="731520" y="1463040"/>
            <a:ext cx="2578608"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2578608"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63040"/>
            <a:ext cx="109728" cy="5029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536192"/>
            <a:ext cx="2258568" cy="365760"/>
          </a:xfrm>
          <a:prstGeom prst="rect">
            <a:avLst/>
          </a:prstGeom>
          <a:noFill/>
        </p:spPr>
        <p:txBody>
          <a:bodyPr wrap="none">
            <a:spAutoFit/>
          </a:bodyPr>
          <a:lstStyle/>
          <a:p>
            <a:pPr>
              <a:defRPr sz="1100" b="1">
                <a:solidFill>
                  <a:srgbClr val="0284C7"/>
                </a:solidFill>
              </a:defRPr>
            </a:pPr>
            <a:r>
              <a:t>FRONTEND UI &amp; DESIGN</a:t>
            </a:r>
          </a:p>
        </p:txBody>
      </p:sp>
      <p:sp>
        <p:nvSpPr>
          <p:cNvPr id="11" name="TextBox 10"/>
          <p:cNvSpPr txBox="1"/>
          <p:nvPr/>
        </p:nvSpPr>
        <p:spPr>
          <a:xfrm>
            <a:off x="914400" y="2057400"/>
            <a:ext cx="2212848" cy="4206240"/>
          </a:xfrm>
          <a:prstGeom prst="rect">
            <a:avLst/>
          </a:prstGeom>
          <a:noFill/>
        </p:spPr>
        <p:txBody>
          <a:bodyPr wrap="square">
            <a:spAutoFit/>
          </a:bodyPr>
          <a:lstStyle/>
          <a:p>
            <a:pPr>
              <a:spcAft>
                <a:spcPts val="1200"/>
              </a:spcAft>
              <a:defRPr sz="1200">
                <a:solidFill>
                  <a:srgbClr val="334155"/>
                </a:solidFill>
              </a:defRPr>
            </a:pPr>
            <a:r>
              <a:t>•  HTML5 semantic structure</a:t>
            </a:r>
          </a:p>
          <a:p>
            <a:pPr>
              <a:spcAft>
                <a:spcPts val="1200"/>
              </a:spcAft>
              <a:defRPr sz="1200">
                <a:solidFill>
                  <a:srgbClr val="334155"/>
                </a:solidFill>
              </a:defRPr>
            </a:pPr>
            <a:r>
              <a:t>•  CSS3 with glassmorphism styling</a:t>
            </a:r>
          </a:p>
          <a:p>
            <a:pPr>
              <a:spcAft>
                <a:spcPts val="1200"/>
              </a:spcAft>
              <a:defRPr sz="1200">
                <a:solidFill>
                  <a:srgbClr val="334155"/>
                </a:solidFill>
              </a:defRPr>
            </a:pPr>
            <a:r>
              <a:t>•  Responsive layout grid</a:t>
            </a:r>
          </a:p>
          <a:p>
            <a:pPr>
              <a:spcAft>
                <a:spcPts val="1200"/>
              </a:spcAft>
              <a:defRPr sz="1200">
                <a:solidFill>
                  <a:srgbClr val="334155"/>
                </a:solidFill>
              </a:defRPr>
            </a:pPr>
            <a:r>
              <a:t>•  Google Fonts (Outfit &amp; Jakarta)</a:t>
            </a:r>
          </a:p>
          <a:p>
            <a:pPr>
              <a:spcAft>
                <a:spcPts val="1200"/>
              </a:spcAft>
              <a:defRPr sz="1200">
                <a:solidFill>
                  <a:srgbClr val="334155"/>
                </a:solidFill>
              </a:defRPr>
            </a:pPr>
            <a:r>
              <a:t>•  Custom inline SVG charting</a:t>
            </a:r>
          </a:p>
        </p:txBody>
      </p:sp>
      <p:sp>
        <p:nvSpPr>
          <p:cNvPr id="12" name="Rounded Rectangle 11"/>
          <p:cNvSpPr/>
          <p:nvPr/>
        </p:nvSpPr>
        <p:spPr>
          <a:xfrm>
            <a:off x="3456432" y="1463040"/>
            <a:ext cx="2578608"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56432" y="1463040"/>
            <a:ext cx="2578608"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56432" y="1463040"/>
            <a:ext cx="109728" cy="5029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85032" y="1536192"/>
            <a:ext cx="2258568" cy="365760"/>
          </a:xfrm>
          <a:prstGeom prst="rect">
            <a:avLst/>
          </a:prstGeom>
          <a:noFill/>
        </p:spPr>
        <p:txBody>
          <a:bodyPr wrap="none">
            <a:spAutoFit/>
          </a:bodyPr>
          <a:lstStyle/>
          <a:p>
            <a:pPr>
              <a:defRPr sz="1100" b="1">
                <a:solidFill>
                  <a:srgbClr val="4F46E5"/>
                </a:solidFill>
              </a:defRPr>
            </a:pPr>
            <a:r>
              <a:t>AGENT LOGIC &amp; AI</a:t>
            </a:r>
          </a:p>
        </p:txBody>
      </p:sp>
      <p:sp>
        <p:nvSpPr>
          <p:cNvPr id="16" name="TextBox 15"/>
          <p:cNvSpPr txBox="1"/>
          <p:nvPr/>
        </p:nvSpPr>
        <p:spPr>
          <a:xfrm>
            <a:off x="3639312" y="2057400"/>
            <a:ext cx="2212848" cy="4206240"/>
          </a:xfrm>
          <a:prstGeom prst="rect">
            <a:avLst/>
          </a:prstGeom>
          <a:noFill/>
        </p:spPr>
        <p:txBody>
          <a:bodyPr wrap="square">
            <a:spAutoFit/>
          </a:bodyPr>
          <a:lstStyle/>
          <a:p>
            <a:pPr>
              <a:spcAft>
                <a:spcPts val="1200"/>
              </a:spcAft>
              <a:defRPr sz="1200">
                <a:solidFill>
                  <a:srgbClr val="334155"/>
                </a:solidFill>
              </a:defRPr>
            </a:pPr>
            <a:r>
              <a:t>•  Modern JavaScript (ES6+)</a:t>
            </a:r>
          </a:p>
          <a:p>
            <a:pPr>
              <a:spcAft>
                <a:spcPts val="1200"/>
              </a:spcAft>
              <a:defRPr sz="1200">
                <a:solidFill>
                  <a:srgbClr val="334155"/>
                </a:solidFill>
              </a:defRPr>
            </a:pPr>
            <a:r>
              <a:t>•  Async event &amp; promise pipeline</a:t>
            </a:r>
          </a:p>
          <a:p>
            <a:pPr>
              <a:spcAft>
                <a:spcPts val="1200"/>
              </a:spcAft>
              <a:defRPr sz="1200">
                <a:solidFill>
                  <a:srgbClr val="334155"/>
                </a:solidFill>
              </a:defRPr>
            </a:pPr>
            <a:r>
              <a:t>•  Gemini 3.5 Flash Model logic</a:t>
            </a:r>
          </a:p>
          <a:p>
            <a:pPr>
              <a:spcAft>
                <a:spcPts val="1200"/>
              </a:spcAft>
              <a:defRPr sz="1200">
                <a:solidFill>
                  <a:srgbClr val="334155"/>
                </a:solidFill>
              </a:defRPr>
            </a:pPr>
            <a:r>
              <a:t>•  Natural Language command parser</a:t>
            </a:r>
          </a:p>
          <a:p>
            <a:pPr>
              <a:spcAft>
                <a:spcPts val="1200"/>
              </a:spcAft>
              <a:defRPr sz="1200">
                <a:solidFill>
                  <a:srgbClr val="334155"/>
                </a:solidFill>
              </a:defRPr>
            </a:pPr>
            <a:r>
              <a:t>•  Context-aware prompt templates</a:t>
            </a:r>
          </a:p>
        </p:txBody>
      </p:sp>
      <p:sp>
        <p:nvSpPr>
          <p:cNvPr id="17" name="Rounded Rectangle 16"/>
          <p:cNvSpPr/>
          <p:nvPr/>
        </p:nvSpPr>
        <p:spPr>
          <a:xfrm>
            <a:off x="6181344" y="1463040"/>
            <a:ext cx="2578608"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81344" y="1463040"/>
            <a:ext cx="2578608"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81344" y="1463040"/>
            <a:ext cx="109728"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9944" y="1536192"/>
            <a:ext cx="2258568" cy="365760"/>
          </a:xfrm>
          <a:prstGeom prst="rect">
            <a:avLst/>
          </a:prstGeom>
          <a:noFill/>
        </p:spPr>
        <p:txBody>
          <a:bodyPr wrap="none">
            <a:spAutoFit/>
          </a:bodyPr>
          <a:lstStyle/>
          <a:p>
            <a:pPr>
              <a:defRPr sz="1100" b="1">
                <a:solidFill>
                  <a:srgbClr val="0D9488"/>
                </a:solidFill>
              </a:defRPr>
            </a:pPr>
            <a:r>
              <a:t>PRIVACY &amp; SECURITY</a:t>
            </a:r>
          </a:p>
        </p:txBody>
      </p:sp>
      <p:sp>
        <p:nvSpPr>
          <p:cNvPr id="21" name="TextBox 20"/>
          <p:cNvSpPr txBox="1"/>
          <p:nvPr/>
        </p:nvSpPr>
        <p:spPr>
          <a:xfrm>
            <a:off x="6364224" y="2057400"/>
            <a:ext cx="2212848" cy="4206240"/>
          </a:xfrm>
          <a:prstGeom prst="rect">
            <a:avLst/>
          </a:prstGeom>
          <a:noFill/>
        </p:spPr>
        <p:txBody>
          <a:bodyPr wrap="square">
            <a:spAutoFit/>
          </a:bodyPr>
          <a:lstStyle/>
          <a:p>
            <a:pPr>
              <a:spcAft>
                <a:spcPts val="1200"/>
              </a:spcAft>
              <a:defRPr sz="1200">
                <a:solidFill>
                  <a:srgbClr val="334155"/>
                </a:solidFill>
              </a:defRPr>
            </a:pPr>
            <a:r>
              <a:t>•  Role-Based Access Control (RBAC)</a:t>
            </a:r>
          </a:p>
          <a:p>
            <a:pPr>
              <a:spcAft>
                <a:spcPts val="1200"/>
              </a:spcAft>
              <a:defRPr sz="1200">
                <a:solidFill>
                  <a:srgbClr val="334155"/>
                </a:solidFill>
              </a:defRPr>
            </a:pPr>
            <a:r>
              <a:t>•  Regex-based PII masking engine</a:t>
            </a:r>
          </a:p>
          <a:p>
            <a:pPr>
              <a:spcAft>
                <a:spcPts val="1200"/>
              </a:spcAft>
              <a:defRPr sz="1200">
                <a:solidFill>
                  <a:srgbClr val="334155"/>
                </a:solidFill>
              </a:defRPr>
            </a:pPr>
            <a:r>
              <a:t>•  Encrypted state management</a:t>
            </a:r>
          </a:p>
          <a:p>
            <a:pPr>
              <a:spcAft>
                <a:spcPts val="1200"/>
              </a:spcAft>
              <a:defRPr sz="1200">
                <a:solidFill>
                  <a:srgbClr val="334155"/>
                </a:solidFill>
              </a:defRPr>
            </a:pPr>
            <a:r>
              <a:t>•  SOC-2 compliant audit schema</a:t>
            </a:r>
          </a:p>
          <a:p>
            <a:pPr>
              <a:spcAft>
                <a:spcPts val="1200"/>
              </a:spcAft>
              <a:defRPr sz="1200">
                <a:solidFill>
                  <a:srgbClr val="334155"/>
                </a:solidFill>
              </a:defRPr>
            </a:pPr>
            <a:r>
              <a:t>•  One-click JSON log export</a:t>
            </a:r>
          </a:p>
        </p:txBody>
      </p:sp>
      <p:sp>
        <p:nvSpPr>
          <p:cNvPr id="22" name="Rounded Rectangle 21"/>
          <p:cNvSpPr/>
          <p:nvPr/>
        </p:nvSpPr>
        <p:spPr>
          <a:xfrm>
            <a:off x="8906256" y="1463040"/>
            <a:ext cx="2578608"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906256" y="1463040"/>
            <a:ext cx="2578608"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06256" y="1463040"/>
            <a:ext cx="109728" cy="5029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34856" y="1536192"/>
            <a:ext cx="2258568" cy="365760"/>
          </a:xfrm>
          <a:prstGeom prst="rect">
            <a:avLst/>
          </a:prstGeom>
          <a:noFill/>
        </p:spPr>
        <p:txBody>
          <a:bodyPr wrap="none">
            <a:spAutoFit/>
          </a:bodyPr>
          <a:lstStyle/>
          <a:p>
            <a:pPr>
              <a:defRPr sz="1100" b="1">
                <a:solidFill>
                  <a:srgbClr val="D97706"/>
                </a:solidFill>
              </a:defRPr>
            </a:pPr>
            <a:r>
              <a:t>DEVOPS &amp; WORKFLOW</a:t>
            </a:r>
          </a:p>
        </p:txBody>
      </p:sp>
      <p:sp>
        <p:nvSpPr>
          <p:cNvPr id="26" name="TextBox 25"/>
          <p:cNvSpPr txBox="1"/>
          <p:nvPr/>
        </p:nvSpPr>
        <p:spPr>
          <a:xfrm>
            <a:off x="9089136" y="2057400"/>
            <a:ext cx="2212848" cy="4206240"/>
          </a:xfrm>
          <a:prstGeom prst="rect">
            <a:avLst/>
          </a:prstGeom>
          <a:noFill/>
        </p:spPr>
        <p:txBody>
          <a:bodyPr wrap="square">
            <a:spAutoFit/>
          </a:bodyPr>
          <a:lstStyle/>
          <a:p>
            <a:pPr>
              <a:spcAft>
                <a:spcPts val="1200"/>
              </a:spcAft>
              <a:defRPr sz="1200">
                <a:solidFill>
                  <a:srgbClr val="334155"/>
                </a:solidFill>
              </a:defRPr>
            </a:pPr>
            <a:r>
              <a:t>•  Git version control</a:t>
            </a:r>
          </a:p>
          <a:p>
            <a:pPr>
              <a:spcAft>
                <a:spcPts val="1200"/>
              </a:spcAft>
              <a:defRPr sz="1200">
                <a:solidFill>
                  <a:srgbClr val="334155"/>
                </a:solidFill>
              </a:defRPr>
            </a:pPr>
            <a:r>
              <a:t>•  GitHub remote repository</a:t>
            </a:r>
          </a:p>
          <a:p>
            <a:pPr>
              <a:spcAft>
                <a:spcPts val="1200"/>
              </a:spcAft>
              <a:defRPr sz="1200">
                <a:solidFill>
                  <a:srgbClr val="334155"/>
                </a:solidFill>
              </a:defRPr>
            </a:pPr>
            <a:r>
              <a:t>•  Vite high-speed dev server</a:t>
            </a:r>
          </a:p>
          <a:p>
            <a:pPr>
              <a:spcAft>
                <a:spcPts val="1200"/>
              </a:spcAft>
              <a:defRPr sz="1200">
                <a:solidFill>
                  <a:srgbClr val="334155"/>
                </a:solidFill>
              </a:defRPr>
            </a:pPr>
            <a:r>
              <a:t>•  GitHub Actions deployment</a:t>
            </a:r>
          </a:p>
          <a:p>
            <a:pPr>
              <a:spcAft>
                <a:spcPts val="1200"/>
              </a:spcAft>
              <a:defRPr sz="1200">
                <a:solidFill>
                  <a:srgbClr val="334155"/>
                </a:solidFill>
              </a:defRPr>
            </a:pPr>
            <a:r>
              <a:t>•  GitHub Pages static hosting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07008"/>
            <a:ext cx="12191695"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82880"/>
            <a:ext cx="5303520" cy="292608"/>
          </a:xfrm>
          <a:prstGeom prst="roundRect">
            <a:avLst/>
          </a:prstGeom>
          <a:solidFill>
            <a:srgbClr val="1E293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284C7"/>
                </a:solidFill>
              </a:defRPr>
            </a:pPr>
            <a:r>
              <a:t>TALENTSTREAM AI • SUMMER INTERNSHIP FINAL DEFENSE</a:t>
            </a:r>
          </a:p>
        </p:txBody>
      </p:sp>
      <p:sp>
        <p:nvSpPr>
          <p:cNvPr id="6" name="TextBox 5"/>
          <p:cNvSpPr txBox="1"/>
          <p:nvPr/>
        </p:nvSpPr>
        <p:spPr>
          <a:xfrm>
            <a:off x="731520" y="502920"/>
            <a:ext cx="10698480" cy="640080"/>
          </a:xfrm>
          <a:prstGeom prst="rect">
            <a:avLst/>
          </a:prstGeom>
          <a:noFill/>
        </p:spPr>
        <p:txBody>
          <a:bodyPr wrap="square">
            <a:spAutoFit/>
          </a:bodyPr>
          <a:lstStyle/>
          <a:p>
            <a:pPr>
              <a:defRPr sz="2200" b="1">
                <a:solidFill>
                  <a:srgbClr val="FFFFFF"/>
                </a:solidFill>
              </a:defRPr>
            </a:pPr>
            <a:r>
              <a:t>Overview of the 5 Core Modules I Engineered</a:t>
            </a:r>
          </a:p>
        </p:txBody>
      </p:sp>
      <p:sp>
        <p:nvSpPr>
          <p:cNvPr id="7" name="Rounded Rectangle 6"/>
          <p:cNvSpPr/>
          <p:nvPr/>
        </p:nvSpPr>
        <p:spPr>
          <a:xfrm>
            <a:off x="731520" y="1463040"/>
            <a:ext cx="10698480" cy="868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1069848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63040"/>
            <a:ext cx="109728" cy="5029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536192"/>
            <a:ext cx="10378440" cy="365760"/>
          </a:xfrm>
          <a:prstGeom prst="rect">
            <a:avLst/>
          </a:prstGeom>
          <a:noFill/>
        </p:spPr>
        <p:txBody>
          <a:bodyPr wrap="none">
            <a:spAutoFit/>
          </a:bodyPr>
          <a:lstStyle/>
          <a:p>
            <a:pPr>
              <a:defRPr sz="1100" b="1">
                <a:solidFill>
                  <a:srgbClr val="0284C7"/>
                </a:solidFill>
              </a:defRPr>
            </a:pPr>
            <a:r>
              <a:t>1. REAL-TIME ANALYTICS DASHBOARD</a:t>
            </a:r>
          </a:p>
        </p:txBody>
      </p:sp>
      <p:sp>
        <p:nvSpPr>
          <p:cNvPr id="11" name="TextBox 10"/>
          <p:cNvSpPr txBox="1"/>
          <p:nvPr/>
        </p:nvSpPr>
        <p:spPr>
          <a:xfrm>
            <a:off x="914400" y="2057400"/>
            <a:ext cx="10332720" cy="228600"/>
          </a:xfrm>
          <a:prstGeom prst="rect">
            <a:avLst/>
          </a:prstGeom>
          <a:noFill/>
        </p:spPr>
        <p:txBody>
          <a:bodyPr wrap="square">
            <a:spAutoFit/>
          </a:bodyPr>
          <a:lstStyle/>
          <a:p>
            <a:pPr>
              <a:defRPr sz="1200">
                <a:solidFill>
                  <a:srgbClr val="334155"/>
                </a:solidFill>
              </a:defRPr>
            </a:pPr>
            <a:r>
              <a:t>The operational command center displaying candidate volume KPIs, score distribution charts, and live agent thinking logs.</a:t>
            </a:r>
          </a:p>
        </p:txBody>
      </p:sp>
      <p:sp>
        <p:nvSpPr>
          <p:cNvPr id="12" name="Rounded Rectangle 11"/>
          <p:cNvSpPr/>
          <p:nvPr/>
        </p:nvSpPr>
        <p:spPr>
          <a:xfrm>
            <a:off x="731520" y="2423160"/>
            <a:ext cx="10698480" cy="868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2423160"/>
            <a:ext cx="1069848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2423160"/>
            <a:ext cx="109728" cy="5029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496312"/>
            <a:ext cx="10378440" cy="365760"/>
          </a:xfrm>
          <a:prstGeom prst="rect">
            <a:avLst/>
          </a:prstGeom>
          <a:noFill/>
        </p:spPr>
        <p:txBody>
          <a:bodyPr wrap="none">
            <a:spAutoFit/>
          </a:bodyPr>
          <a:lstStyle/>
          <a:p>
            <a:pPr>
              <a:defRPr sz="1100" b="1">
                <a:solidFill>
                  <a:srgbClr val="4F46E5"/>
                </a:solidFill>
              </a:defRPr>
            </a:pPr>
            <a:r>
              <a:t>2. AUTONOMOUS RESUME SCREENING ENGINE</a:t>
            </a:r>
          </a:p>
        </p:txBody>
      </p:sp>
      <p:sp>
        <p:nvSpPr>
          <p:cNvPr id="16" name="TextBox 15"/>
          <p:cNvSpPr txBox="1"/>
          <p:nvPr/>
        </p:nvSpPr>
        <p:spPr>
          <a:xfrm>
            <a:off x="914400" y="3017520"/>
            <a:ext cx="10332720" cy="228600"/>
          </a:xfrm>
          <a:prstGeom prst="rect">
            <a:avLst/>
          </a:prstGeom>
          <a:noFill/>
        </p:spPr>
        <p:txBody>
          <a:bodyPr wrap="square">
            <a:spAutoFit/>
          </a:bodyPr>
          <a:lstStyle/>
          <a:p>
            <a:pPr>
              <a:defRPr sz="1200">
                <a:solidFill>
                  <a:srgbClr val="334155"/>
                </a:solidFill>
              </a:defRPr>
            </a:pPr>
            <a:r>
              <a:t>Parses candidate CVs, extracts technical keywords, maps against job descriptions, and calculates match scores.</a:t>
            </a:r>
          </a:p>
        </p:txBody>
      </p:sp>
      <p:sp>
        <p:nvSpPr>
          <p:cNvPr id="17" name="Rounded Rectangle 16"/>
          <p:cNvSpPr/>
          <p:nvPr/>
        </p:nvSpPr>
        <p:spPr>
          <a:xfrm>
            <a:off x="731520" y="3383280"/>
            <a:ext cx="10698480" cy="868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3383280"/>
            <a:ext cx="1069848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3383280"/>
            <a:ext cx="109728"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456432"/>
            <a:ext cx="10378440" cy="365760"/>
          </a:xfrm>
          <a:prstGeom prst="rect">
            <a:avLst/>
          </a:prstGeom>
          <a:noFill/>
        </p:spPr>
        <p:txBody>
          <a:bodyPr wrap="none">
            <a:spAutoFit/>
          </a:bodyPr>
          <a:lstStyle/>
          <a:p>
            <a:pPr>
              <a:defRPr sz="1100" b="1">
                <a:solidFill>
                  <a:srgbClr val="0D9488"/>
                </a:solidFill>
              </a:defRPr>
            </a:pPr>
            <a:r>
              <a:t>3. CANDIDATE SCORECARD &amp; OUTREACH GENERATOR</a:t>
            </a:r>
          </a:p>
        </p:txBody>
      </p:sp>
      <p:sp>
        <p:nvSpPr>
          <p:cNvPr id="21" name="TextBox 20"/>
          <p:cNvSpPr txBox="1"/>
          <p:nvPr/>
        </p:nvSpPr>
        <p:spPr>
          <a:xfrm>
            <a:off x="914400" y="3977640"/>
            <a:ext cx="10332720" cy="228600"/>
          </a:xfrm>
          <a:prstGeom prst="rect">
            <a:avLst/>
          </a:prstGeom>
          <a:noFill/>
        </p:spPr>
        <p:txBody>
          <a:bodyPr wrap="square">
            <a:spAutoFit/>
          </a:bodyPr>
          <a:lstStyle/>
          <a:p>
            <a:pPr>
              <a:defRPr sz="1200">
                <a:solidFill>
                  <a:srgbClr val="334155"/>
                </a:solidFill>
              </a:defRPr>
            </a:pPr>
            <a:r>
              <a:t>Displays verified skill badges, candidate strengths, growth areas, and an LLM-drafted email ready to review and send.</a:t>
            </a:r>
          </a:p>
        </p:txBody>
      </p:sp>
      <p:sp>
        <p:nvSpPr>
          <p:cNvPr id="22" name="Rounded Rectangle 21"/>
          <p:cNvSpPr/>
          <p:nvPr/>
        </p:nvSpPr>
        <p:spPr>
          <a:xfrm>
            <a:off x="731520" y="4343400"/>
            <a:ext cx="10698480" cy="868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1520" y="4343400"/>
            <a:ext cx="1069848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4343400"/>
            <a:ext cx="109728" cy="5029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4416552"/>
            <a:ext cx="10378440" cy="365760"/>
          </a:xfrm>
          <a:prstGeom prst="rect">
            <a:avLst/>
          </a:prstGeom>
          <a:noFill/>
        </p:spPr>
        <p:txBody>
          <a:bodyPr wrap="none">
            <a:spAutoFit/>
          </a:bodyPr>
          <a:lstStyle/>
          <a:p>
            <a:pPr>
              <a:defRPr sz="1100" b="1">
                <a:solidFill>
                  <a:srgbClr val="D97706"/>
                </a:solidFill>
              </a:defRPr>
            </a:pPr>
            <a:r>
              <a:t>4. NATURAL LANGUAGE COMMAND CONSOLE</a:t>
            </a:r>
          </a:p>
        </p:txBody>
      </p:sp>
      <p:sp>
        <p:nvSpPr>
          <p:cNvPr id="26" name="TextBox 25"/>
          <p:cNvSpPr txBox="1"/>
          <p:nvPr/>
        </p:nvSpPr>
        <p:spPr>
          <a:xfrm>
            <a:off x="914400" y="4937760"/>
            <a:ext cx="10332720" cy="228600"/>
          </a:xfrm>
          <a:prstGeom prst="rect">
            <a:avLst/>
          </a:prstGeom>
          <a:noFill/>
        </p:spPr>
        <p:txBody>
          <a:bodyPr wrap="square">
            <a:spAutoFit/>
          </a:bodyPr>
          <a:lstStyle/>
          <a:p>
            <a:pPr>
              <a:defRPr sz="1200">
                <a:solidFill>
                  <a:srgbClr val="334155"/>
                </a:solidFill>
              </a:defRPr>
            </a:pPr>
            <a:r>
              <a:t>An interactive CLI terminal allowing recruiters to run plain English commands ('Find candidates with Python &gt;85%').</a:t>
            </a:r>
          </a:p>
        </p:txBody>
      </p:sp>
      <p:sp>
        <p:nvSpPr>
          <p:cNvPr id="27" name="Rounded Rectangle 26"/>
          <p:cNvSpPr/>
          <p:nvPr/>
        </p:nvSpPr>
        <p:spPr>
          <a:xfrm>
            <a:off x="731520" y="5303520"/>
            <a:ext cx="10698480" cy="868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31520" y="5303520"/>
            <a:ext cx="1069848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1520" y="5303520"/>
            <a:ext cx="109728" cy="5029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76672"/>
            <a:ext cx="10378440" cy="365760"/>
          </a:xfrm>
          <a:prstGeom prst="rect">
            <a:avLst/>
          </a:prstGeom>
          <a:noFill/>
        </p:spPr>
        <p:txBody>
          <a:bodyPr wrap="none">
            <a:spAutoFit/>
          </a:bodyPr>
          <a:lstStyle/>
          <a:p>
            <a:pPr>
              <a:defRPr sz="1100" b="1">
                <a:solidFill>
                  <a:srgbClr val="0284C7"/>
                </a:solidFill>
              </a:defRPr>
            </a:pPr>
            <a:r>
              <a:t>5. ENTERPRISE SECURITY, RBAC &amp; AUDIT HUB</a:t>
            </a:r>
          </a:p>
        </p:txBody>
      </p:sp>
      <p:sp>
        <p:nvSpPr>
          <p:cNvPr id="31" name="TextBox 30"/>
          <p:cNvSpPr txBox="1"/>
          <p:nvPr/>
        </p:nvSpPr>
        <p:spPr>
          <a:xfrm>
            <a:off x="914400" y="5897880"/>
            <a:ext cx="10332720" cy="228600"/>
          </a:xfrm>
          <a:prstGeom prst="rect">
            <a:avLst/>
          </a:prstGeom>
          <a:noFill/>
        </p:spPr>
        <p:txBody>
          <a:bodyPr wrap="square">
            <a:spAutoFit/>
          </a:bodyPr>
          <a:lstStyle/>
          <a:p>
            <a:pPr>
              <a:defRPr sz="1200">
                <a:solidFill>
                  <a:srgbClr val="334155"/>
                </a:solidFill>
              </a:defRPr>
            </a:pPr>
            <a:r>
              <a:t>Enforces contact masking across Recruiter, Manager, and Auditor roles, supported by a verifiable compliance audit log.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07008"/>
            <a:ext cx="12191695"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82880"/>
            <a:ext cx="5303520" cy="292608"/>
          </a:xfrm>
          <a:prstGeom prst="roundRect">
            <a:avLst/>
          </a:prstGeom>
          <a:solidFill>
            <a:srgbClr val="1E293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284C7"/>
                </a:solidFill>
              </a:defRPr>
            </a:pPr>
            <a:r>
              <a:t>SCREENSHOT &amp; INTERFACE HIGHLIGHT</a:t>
            </a:r>
          </a:p>
        </p:txBody>
      </p:sp>
      <p:sp>
        <p:nvSpPr>
          <p:cNvPr id="6" name="TextBox 5"/>
          <p:cNvSpPr txBox="1"/>
          <p:nvPr/>
        </p:nvSpPr>
        <p:spPr>
          <a:xfrm>
            <a:off x="731520" y="502920"/>
            <a:ext cx="10698480" cy="640080"/>
          </a:xfrm>
          <a:prstGeom prst="rect">
            <a:avLst/>
          </a:prstGeom>
          <a:noFill/>
        </p:spPr>
        <p:txBody>
          <a:bodyPr wrap="square">
            <a:spAutoFit/>
          </a:bodyPr>
          <a:lstStyle/>
          <a:p>
            <a:pPr>
              <a:defRPr sz="2200" b="1">
                <a:solidFill>
                  <a:srgbClr val="FFFFFF"/>
                </a:solidFill>
              </a:defRPr>
            </a:pPr>
            <a:r>
              <a:t>Live Output 1: Recruitment Analytics Dashboard</a:t>
            </a:r>
          </a:p>
        </p:txBody>
      </p:sp>
      <p:pic>
        <p:nvPicPr>
          <p:cNvPr id="7" name="Picture 6" descr="Slide8_Dashboard_Overview.jpg"/>
          <p:cNvPicPr>
            <a:picLocks noChangeAspect="1"/>
          </p:cNvPicPr>
          <p:nvPr/>
        </p:nvPicPr>
        <p:blipFill>
          <a:blip r:embed="rId2"/>
          <a:stretch>
            <a:fillRect/>
          </a:stretch>
        </p:blipFill>
        <p:spPr>
          <a:xfrm>
            <a:off x="731520" y="1463040"/>
            <a:ext cx="6400800" cy="4846320"/>
          </a:xfrm>
          <a:prstGeom prst="rect">
            <a:avLst/>
          </a:prstGeom>
        </p:spPr>
      </p:pic>
      <p:sp>
        <p:nvSpPr>
          <p:cNvPr id="8" name="Rounded Rectangle 7"/>
          <p:cNvSpPr/>
          <p:nvPr/>
        </p:nvSpPr>
        <p:spPr>
          <a:xfrm>
            <a:off x="7315200" y="1463040"/>
            <a:ext cx="4114800"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0" y="1463040"/>
            <a:ext cx="411480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0" y="1463040"/>
            <a:ext cx="109728" cy="5029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43800" y="1536192"/>
            <a:ext cx="3794760" cy="365760"/>
          </a:xfrm>
          <a:prstGeom prst="rect">
            <a:avLst/>
          </a:prstGeom>
          <a:noFill/>
        </p:spPr>
        <p:txBody>
          <a:bodyPr wrap="none">
            <a:spAutoFit/>
          </a:bodyPr>
          <a:lstStyle/>
          <a:p>
            <a:pPr>
              <a:defRPr sz="1100" b="1">
                <a:solidFill>
                  <a:srgbClr val="0284C7"/>
                </a:solidFill>
              </a:defRPr>
            </a:pPr>
            <a:r>
              <a:t>WHAT RECRUITERS SEE</a:t>
            </a:r>
          </a:p>
        </p:txBody>
      </p:sp>
      <p:sp>
        <p:nvSpPr>
          <p:cNvPr id="12" name="TextBox 11"/>
          <p:cNvSpPr txBox="1"/>
          <p:nvPr/>
        </p:nvSpPr>
        <p:spPr>
          <a:xfrm>
            <a:off x="7498080" y="2057400"/>
            <a:ext cx="3749040" cy="4206240"/>
          </a:xfrm>
          <a:prstGeom prst="rect">
            <a:avLst/>
          </a:prstGeom>
          <a:noFill/>
        </p:spPr>
        <p:txBody>
          <a:bodyPr wrap="square">
            <a:spAutoFit/>
          </a:bodyPr>
          <a:lstStyle/>
          <a:p>
            <a:pPr>
              <a:spcAft>
                <a:spcPts val="1200"/>
              </a:spcAft>
              <a:defRPr sz="1200">
                <a:solidFill>
                  <a:srgbClr val="334155"/>
                </a:solidFill>
              </a:defRPr>
            </a:pPr>
            <a:r>
              <a:t>•  Executive Metric Cards: Shows total resumes processed (7,845), top fits identified (1,230), and interviews scheduled (56).</a:t>
            </a:r>
          </a:p>
          <a:p>
            <a:pPr>
              <a:spcAft>
                <a:spcPts val="1200"/>
              </a:spcAft>
              <a:defRPr sz="1200">
                <a:solidFill>
                  <a:srgbClr val="334155"/>
                </a:solidFill>
              </a:defRPr>
            </a:pPr>
            <a:r>
              <a:t>•  Candidate Fit Distribution: Interactive bar chart displaying candidate score brackets across departments.</a:t>
            </a:r>
          </a:p>
          <a:p>
            <a:pPr>
              <a:spcAft>
                <a:spcPts val="1200"/>
              </a:spcAft>
              <a:defRPr sz="1200">
                <a:solidFill>
                  <a:srgbClr val="334155"/>
                </a:solidFill>
              </a:defRPr>
            </a:pPr>
            <a:r>
              <a:t>•  Live Agent Thinking Log: A real-time console streaming the agent's background activities as they happen.</a:t>
            </a:r>
          </a:p>
          <a:p>
            <a:pPr>
              <a:spcAft>
                <a:spcPts val="1200"/>
              </a:spcAft>
              <a:defRPr sz="1200">
                <a:solidFill>
                  <a:srgbClr val="334155"/>
                </a:solidFill>
              </a:defRPr>
            </a:pPr>
            <a:r>
              <a:t>•  Quick Job Filters: One-click switching between open roles (Backend, Frontend, Product, DevOps).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07008"/>
            <a:ext cx="12191695"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82880"/>
            <a:ext cx="5303520" cy="292608"/>
          </a:xfrm>
          <a:prstGeom prst="roundRect">
            <a:avLst/>
          </a:prstGeom>
          <a:solidFill>
            <a:srgbClr val="1E293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284C7"/>
                </a:solidFill>
              </a:defRPr>
            </a:pPr>
            <a:r>
              <a:t>SCREENSHOT &amp; INTERFACE HIGHLIGHT</a:t>
            </a:r>
          </a:p>
        </p:txBody>
      </p:sp>
      <p:sp>
        <p:nvSpPr>
          <p:cNvPr id="6" name="TextBox 5"/>
          <p:cNvSpPr txBox="1"/>
          <p:nvPr/>
        </p:nvSpPr>
        <p:spPr>
          <a:xfrm>
            <a:off x="731520" y="502920"/>
            <a:ext cx="10698480" cy="640080"/>
          </a:xfrm>
          <a:prstGeom prst="rect">
            <a:avLst/>
          </a:prstGeom>
          <a:noFill/>
        </p:spPr>
        <p:txBody>
          <a:bodyPr wrap="square">
            <a:spAutoFit/>
          </a:bodyPr>
          <a:lstStyle/>
          <a:p>
            <a:pPr>
              <a:defRPr sz="2200" b="1">
                <a:solidFill>
                  <a:srgbClr val="FFFFFF"/>
                </a:solidFill>
              </a:defRPr>
            </a:pPr>
            <a:r>
              <a:t>Live Output 2: Candidate Scorecard &amp; Auto-Outreach</a:t>
            </a:r>
          </a:p>
        </p:txBody>
      </p:sp>
      <p:pic>
        <p:nvPicPr>
          <p:cNvPr id="7" name="Picture 6" descr="Slide9_Candidate_Scorecard.jpg"/>
          <p:cNvPicPr>
            <a:picLocks noChangeAspect="1"/>
          </p:cNvPicPr>
          <p:nvPr/>
        </p:nvPicPr>
        <p:blipFill>
          <a:blip r:embed="rId2"/>
          <a:stretch>
            <a:fillRect/>
          </a:stretch>
        </p:blipFill>
        <p:spPr>
          <a:xfrm>
            <a:off x="731520" y="1463040"/>
            <a:ext cx="6400800" cy="4846320"/>
          </a:xfrm>
          <a:prstGeom prst="rect">
            <a:avLst/>
          </a:prstGeom>
        </p:spPr>
      </p:pic>
      <p:sp>
        <p:nvSpPr>
          <p:cNvPr id="8" name="Rounded Rectangle 7"/>
          <p:cNvSpPr/>
          <p:nvPr/>
        </p:nvSpPr>
        <p:spPr>
          <a:xfrm>
            <a:off x="7315200" y="1463040"/>
            <a:ext cx="4114800"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0" y="1463040"/>
            <a:ext cx="411480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0" y="1463040"/>
            <a:ext cx="109728"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43800" y="1536192"/>
            <a:ext cx="3794760" cy="365760"/>
          </a:xfrm>
          <a:prstGeom prst="rect">
            <a:avLst/>
          </a:prstGeom>
          <a:noFill/>
        </p:spPr>
        <p:txBody>
          <a:bodyPr wrap="none">
            <a:spAutoFit/>
          </a:bodyPr>
          <a:lstStyle/>
          <a:p>
            <a:pPr>
              <a:defRPr sz="1100" b="1">
                <a:solidFill>
                  <a:srgbClr val="0D9488"/>
                </a:solidFill>
              </a:defRPr>
            </a:pPr>
            <a:r>
              <a:t>WHY THIS SAVES HOURS</a:t>
            </a:r>
          </a:p>
        </p:txBody>
      </p:sp>
      <p:sp>
        <p:nvSpPr>
          <p:cNvPr id="12" name="TextBox 11"/>
          <p:cNvSpPr txBox="1"/>
          <p:nvPr/>
        </p:nvSpPr>
        <p:spPr>
          <a:xfrm>
            <a:off x="7498080" y="2057400"/>
            <a:ext cx="3749040" cy="4206240"/>
          </a:xfrm>
          <a:prstGeom prst="rect">
            <a:avLst/>
          </a:prstGeom>
          <a:noFill/>
        </p:spPr>
        <p:txBody>
          <a:bodyPr wrap="square">
            <a:spAutoFit/>
          </a:bodyPr>
          <a:lstStyle/>
          <a:p>
            <a:pPr>
              <a:spcAft>
                <a:spcPts val="1200"/>
              </a:spcAft>
              <a:defRPr sz="1200">
                <a:solidFill>
                  <a:srgbClr val="334155"/>
                </a:solidFill>
              </a:defRPr>
            </a:pPr>
            <a:r>
              <a:t>•  Score-Sorted Roster: Candidates are automatically ordered with the strongest matches at the top.</a:t>
            </a:r>
          </a:p>
          <a:p>
            <a:pPr>
              <a:spcAft>
                <a:spcPts val="1200"/>
              </a:spcAft>
              <a:defRPr sz="1200">
                <a:solidFill>
                  <a:srgbClr val="334155"/>
                </a:solidFill>
              </a:defRPr>
            </a:pPr>
            <a:r>
              <a:t>•  92% Match Gauge: Elena Rostova's profile shows an instant, verified 92% compatibility rating.</a:t>
            </a:r>
          </a:p>
          <a:p>
            <a:pPr>
              <a:spcAft>
                <a:spcPts val="1200"/>
              </a:spcAft>
              <a:defRPr sz="1200">
                <a:solidFill>
                  <a:srgbClr val="334155"/>
                </a:solidFill>
              </a:defRPr>
            </a:pPr>
            <a:r>
              <a:t>•  Verified Competencies: Matched technical skills (Python, AWS, PostgreSQL) are highlighted with green checkmarks.</a:t>
            </a:r>
          </a:p>
          <a:p>
            <a:pPr>
              <a:spcAft>
                <a:spcPts val="1200"/>
              </a:spcAft>
              <a:defRPr sz="1200">
                <a:solidFill>
                  <a:srgbClr val="334155"/>
                </a:solidFill>
              </a:defRPr>
            </a:pPr>
            <a:r>
              <a:t>•  AI-Generated Outreach: The agent writes a custom invitation email referencing Elena's specific experience, ready for one-click review.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07008"/>
            <a:ext cx="12191695"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82880"/>
            <a:ext cx="5303520" cy="292608"/>
          </a:xfrm>
          <a:prstGeom prst="roundRect">
            <a:avLst/>
          </a:prstGeom>
          <a:solidFill>
            <a:srgbClr val="1E293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284C7"/>
                </a:solidFill>
              </a:defRPr>
            </a:pPr>
            <a:r>
              <a:t>SCREENSHOT &amp; INTERFACE HIGHLIGHT</a:t>
            </a:r>
          </a:p>
        </p:txBody>
      </p:sp>
      <p:sp>
        <p:nvSpPr>
          <p:cNvPr id="6" name="TextBox 5"/>
          <p:cNvSpPr txBox="1"/>
          <p:nvPr/>
        </p:nvSpPr>
        <p:spPr>
          <a:xfrm>
            <a:off x="731520" y="502920"/>
            <a:ext cx="10698480" cy="640080"/>
          </a:xfrm>
          <a:prstGeom prst="rect">
            <a:avLst/>
          </a:prstGeom>
          <a:noFill/>
        </p:spPr>
        <p:txBody>
          <a:bodyPr wrap="square">
            <a:spAutoFit/>
          </a:bodyPr>
          <a:lstStyle/>
          <a:p>
            <a:pPr>
              <a:defRPr sz="2200" b="1">
                <a:solidFill>
                  <a:srgbClr val="FFFFFF"/>
                </a:solidFill>
              </a:defRPr>
            </a:pPr>
            <a:r>
              <a:t>Live Output 3: Natural Language Console &amp; Audit Log</a:t>
            </a:r>
          </a:p>
        </p:txBody>
      </p:sp>
      <p:pic>
        <p:nvPicPr>
          <p:cNvPr id="7" name="Picture 6" descr="Slide10_Agent_Console_Audit.jpg"/>
          <p:cNvPicPr>
            <a:picLocks noChangeAspect="1"/>
          </p:cNvPicPr>
          <p:nvPr/>
        </p:nvPicPr>
        <p:blipFill>
          <a:blip r:embed="rId2"/>
          <a:stretch>
            <a:fillRect/>
          </a:stretch>
        </p:blipFill>
        <p:spPr>
          <a:xfrm>
            <a:off x="731520" y="1463040"/>
            <a:ext cx="6400800" cy="4846320"/>
          </a:xfrm>
          <a:prstGeom prst="rect">
            <a:avLst/>
          </a:prstGeom>
        </p:spPr>
      </p:pic>
      <p:sp>
        <p:nvSpPr>
          <p:cNvPr id="8" name="Rounded Rectangle 7"/>
          <p:cNvSpPr/>
          <p:nvPr/>
        </p:nvSpPr>
        <p:spPr>
          <a:xfrm>
            <a:off x="7315200" y="1463040"/>
            <a:ext cx="4114800"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0" y="1463040"/>
            <a:ext cx="411480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0" y="1463040"/>
            <a:ext cx="109728" cy="5029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43800" y="1536192"/>
            <a:ext cx="3794760" cy="365760"/>
          </a:xfrm>
          <a:prstGeom prst="rect">
            <a:avLst/>
          </a:prstGeom>
          <a:noFill/>
        </p:spPr>
        <p:txBody>
          <a:bodyPr wrap="none">
            <a:spAutoFit/>
          </a:bodyPr>
          <a:lstStyle/>
          <a:p>
            <a:pPr>
              <a:defRPr sz="1100" b="1">
                <a:solidFill>
                  <a:srgbClr val="4F46E5"/>
                </a:solidFill>
              </a:defRPr>
            </a:pPr>
            <a:r>
              <a:t>EVERYDAY ENGLISH COMMANDS</a:t>
            </a:r>
          </a:p>
        </p:txBody>
      </p:sp>
      <p:sp>
        <p:nvSpPr>
          <p:cNvPr id="12" name="TextBox 11"/>
          <p:cNvSpPr txBox="1"/>
          <p:nvPr/>
        </p:nvSpPr>
        <p:spPr>
          <a:xfrm>
            <a:off x="7498080" y="2057400"/>
            <a:ext cx="3749040" cy="4206240"/>
          </a:xfrm>
          <a:prstGeom prst="rect">
            <a:avLst/>
          </a:prstGeom>
          <a:noFill/>
        </p:spPr>
        <p:txBody>
          <a:bodyPr wrap="square">
            <a:spAutoFit/>
          </a:bodyPr>
          <a:lstStyle/>
          <a:p>
            <a:pPr>
              <a:spcAft>
                <a:spcPts val="1200"/>
              </a:spcAft>
              <a:defRPr sz="1200">
                <a:solidFill>
                  <a:srgbClr val="334155"/>
                </a:solidFill>
              </a:defRPr>
            </a:pPr>
            <a:r>
              <a:t>•  Command Terminal: Recruiters type plain queries like 'Find candidates with Python score &gt;85%' or 'Draft email for Elena'.</a:t>
            </a:r>
          </a:p>
          <a:p>
            <a:pPr>
              <a:spcAft>
                <a:spcPts val="1200"/>
              </a:spcAft>
              <a:defRPr sz="1200">
                <a:solidFill>
                  <a:srgbClr val="334155"/>
                </a:solidFill>
              </a:defRPr>
            </a:pPr>
            <a:r>
              <a:t>•  Transparent Tool Calls: The agent displays every internal function it invokes ('Fetching Profile', 'Sending Email').</a:t>
            </a:r>
          </a:p>
          <a:p>
            <a:pPr>
              <a:spcAft>
                <a:spcPts val="1200"/>
              </a:spcAft>
              <a:defRPr sz="1200">
                <a:solidFill>
                  <a:srgbClr val="334155"/>
                </a:solidFill>
              </a:defRPr>
            </a:pPr>
            <a:r>
              <a:t>•  Tamper-Proof Audit Trail: Every interaction is recorded with UTC timestamps, operator tags, and 'VERIFIED' badges.</a:t>
            </a:r>
          </a:p>
          <a:p>
            <a:pPr>
              <a:spcAft>
                <a:spcPts val="1200"/>
              </a:spcAft>
              <a:defRPr sz="1200">
                <a:solidFill>
                  <a:srgbClr val="334155"/>
                </a:solidFill>
              </a:defRPr>
            </a:pPr>
            <a:r>
              <a:t>•  JSON Log Export: Compliance auditors can download the entire event history with a single click.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07008"/>
            <a:ext cx="12191695"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82880"/>
            <a:ext cx="5303520" cy="292608"/>
          </a:xfrm>
          <a:prstGeom prst="roundRect">
            <a:avLst/>
          </a:prstGeom>
          <a:solidFill>
            <a:srgbClr val="1E293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284C7"/>
                </a:solidFill>
              </a:defRPr>
            </a:pPr>
            <a:r>
              <a:t>TALENTSTREAM AI • SUMMER INTERNSHIP FINAL DEFENSE</a:t>
            </a:r>
          </a:p>
        </p:txBody>
      </p:sp>
      <p:sp>
        <p:nvSpPr>
          <p:cNvPr id="6" name="TextBox 5"/>
          <p:cNvSpPr txBox="1"/>
          <p:nvPr/>
        </p:nvSpPr>
        <p:spPr>
          <a:xfrm>
            <a:off x="731520" y="502920"/>
            <a:ext cx="10698480" cy="640080"/>
          </a:xfrm>
          <a:prstGeom prst="rect">
            <a:avLst/>
          </a:prstGeom>
          <a:noFill/>
        </p:spPr>
        <p:txBody>
          <a:bodyPr wrap="square">
            <a:spAutoFit/>
          </a:bodyPr>
          <a:lstStyle/>
          <a:p>
            <a:pPr>
              <a:defRPr sz="2200" b="1">
                <a:solidFill>
                  <a:srgbClr val="FFFFFF"/>
                </a:solidFill>
              </a:defRPr>
            </a:pPr>
            <a:r>
              <a:t>Protecting Candidate Privacy: Role-Based Access Control</a:t>
            </a:r>
          </a:p>
        </p:txBody>
      </p:sp>
      <p:graphicFrame>
        <p:nvGraphicFramePr>
          <p:cNvPr id="7" name="Table 6"/>
          <p:cNvGraphicFramePr>
            <a:graphicFrameLocks noGrp="1"/>
          </p:cNvGraphicFramePr>
          <p:nvPr/>
        </p:nvGraphicFramePr>
        <p:xfrm>
          <a:off x="731520" y="1463040"/>
          <a:ext cx="10698480" cy="2926080"/>
        </p:xfrm>
        <a:graphic>
          <a:graphicData uri="http://schemas.openxmlformats.org/drawingml/2006/table">
            <a:tbl>
              <a:tblPr firstRow="1" bandRow="1">
                <a:tableStyleId>{5C22544A-7EE6-4342-B048-85BDC9FD1C3A}</a:tableStyleId>
              </a:tblPr>
              <a:tblGrid>
                <a:gridCol w="2674620"/>
                <a:gridCol w="2674620"/>
                <a:gridCol w="2674620"/>
                <a:gridCol w="2674620"/>
              </a:tblGrid>
              <a:tr h="487680">
                <a:tc>
                  <a:txBody>
                    <a:bodyPr/>
                    <a:lstStyle/>
                    <a:p>
                      <a:pPr algn="ctr">
                        <a:defRPr sz="1100" b="1">
                          <a:solidFill>
                            <a:srgbClr val="FFFFFF"/>
                          </a:solidFill>
                        </a:defRPr>
                      </a:pPr>
                      <a:r>
                        <a:t>FEATURE / CAPABILITY</a:t>
                      </a:r>
                    </a:p>
                  </a:txBody>
                  <a:tcPr>
                    <a:solidFill>
                      <a:srgbClr val="0F172A"/>
                    </a:solidFill>
                  </a:tcPr>
                </a:tc>
                <a:tc>
                  <a:txBody>
                    <a:bodyPr/>
                    <a:lstStyle/>
                    <a:p>
                      <a:pPr algn="ctr">
                        <a:defRPr sz="1100" b="1">
                          <a:solidFill>
                            <a:srgbClr val="FFFFFF"/>
                          </a:solidFill>
                        </a:defRPr>
                      </a:pPr>
                      <a:r>
                        <a:t>HR RECRUITER</a:t>
                      </a:r>
                    </a:p>
                  </a:txBody>
                  <a:tcPr>
                    <a:solidFill>
                      <a:srgbClr val="0F172A"/>
                    </a:solidFill>
                  </a:tcPr>
                </a:tc>
                <a:tc>
                  <a:txBody>
                    <a:bodyPr/>
                    <a:lstStyle/>
                    <a:p>
                      <a:pPr algn="ctr">
                        <a:defRPr sz="1100" b="1">
                          <a:solidFill>
                            <a:srgbClr val="FFFFFF"/>
                          </a:solidFill>
                        </a:defRPr>
                      </a:pPr>
                      <a:r>
                        <a:t>HIRING MANAGER</a:t>
                      </a:r>
                    </a:p>
                  </a:txBody>
                  <a:tcPr>
                    <a:solidFill>
                      <a:srgbClr val="0F172A"/>
                    </a:solidFill>
                  </a:tcPr>
                </a:tc>
                <a:tc>
                  <a:txBody>
                    <a:bodyPr/>
                    <a:lstStyle/>
                    <a:p>
                      <a:pPr algn="ctr">
                        <a:defRPr sz="1100" b="1">
                          <a:solidFill>
                            <a:srgbClr val="FFFFFF"/>
                          </a:solidFill>
                        </a:defRPr>
                      </a:pPr>
                      <a:r>
                        <a:t>COMPLIANCE AUDITOR</a:t>
                      </a:r>
                    </a:p>
                  </a:txBody>
                  <a:tcPr>
                    <a:solidFill>
                      <a:srgbClr val="0F172A"/>
                    </a:solidFill>
                  </a:tcPr>
                </a:tc>
              </a:tr>
              <a:tr h="487680">
                <a:tc>
                  <a:txBody>
                    <a:bodyPr/>
                    <a:lstStyle/>
                    <a:p>
                      <a:pPr>
                        <a:defRPr sz="1100">
                          <a:solidFill>
                            <a:srgbClr val="0F172A"/>
                          </a:solidFill>
                        </a:defRPr>
                      </a:pPr>
                      <a:r>
                        <a:t>Candidate Full Name</a:t>
                      </a:r>
                    </a:p>
                  </a:txBody>
                  <a:tcPr>
                    <a:solidFill>
                      <a:srgbClr val="FFFFFF"/>
                    </a:solidFill>
                  </a:tcPr>
                </a:tc>
                <a:tc>
                  <a:txBody>
                    <a:bodyPr/>
                    <a:lstStyle/>
                    <a:p>
                      <a:pPr>
                        <a:defRPr sz="1100">
                          <a:solidFill>
                            <a:srgbClr val="334155"/>
                          </a:solidFill>
                        </a:defRPr>
                      </a:pPr>
                      <a:r>
                        <a:t>Full Visibility (Elena Rostova)</a:t>
                      </a:r>
                    </a:p>
                  </a:txBody>
                  <a:tcPr>
                    <a:solidFill>
                      <a:srgbClr val="FFFFFF"/>
                    </a:solidFill>
                  </a:tcPr>
                </a:tc>
                <a:tc>
                  <a:txBody>
                    <a:bodyPr/>
                    <a:lstStyle/>
                    <a:p>
                      <a:pPr>
                        <a:defRPr sz="1100">
                          <a:solidFill>
                            <a:srgbClr val="334155"/>
                          </a:solidFill>
                        </a:defRPr>
                      </a:pPr>
                      <a:r>
                        <a:t>Full Visibility (Elena Rostova)</a:t>
                      </a:r>
                    </a:p>
                  </a:txBody>
                  <a:tcPr>
                    <a:solidFill>
                      <a:srgbClr val="FFFFFF"/>
                    </a:solidFill>
                  </a:tcPr>
                </a:tc>
                <a:tc>
                  <a:txBody>
                    <a:bodyPr/>
                    <a:lstStyle/>
                    <a:p>
                      <a:pPr>
                        <a:defRPr sz="1100" b="1">
                          <a:solidFill>
                            <a:srgbClr val="0284C7"/>
                          </a:solidFill>
                        </a:defRPr>
                      </a:pPr>
                      <a:r>
                        <a:t>Masked (E**** R******)</a:t>
                      </a:r>
                    </a:p>
                  </a:txBody>
                  <a:tcPr>
                    <a:solidFill>
                      <a:srgbClr val="FFFFFF"/>
                    </a:solidFill>
                  </a:tcPr>
                </a:tc>
              </a:tr>
              <a:tr h="487680">
                <a:tc>
                  <a:txBody>
                    <a:bodyPr/>
                    <a:lstStyle/>
                    <a:p>
                      <a:pPr>
                        <a:defRPr sz="1100">
                          <a:solidFill>
                            <a:srgbClr val="0F172A"/>
                          </a:solidFill>
                        </a:defRPr>
                      </a:pPr>
                      <a:r>
                        <a:t>Personal Phone &amp; Email</a:t>
                      </a:r>
                    </a:p>
                  </a:txBody>
                  <a:tcPr>
                    <a:solidFill>
                      <a:srgbClr val="F1F5F9"/>
                    </a:solidFill>
                  </a:tcPr>
                </a:tc>
                <a:tc>
                  <a:txBody>
                    <a:bodyPr/>
                    <a:lstStyle/>
                    <a:p>
                      <a:pPr>
                        <a:defRPr sz="1100">
                          <a:solidFill>
                            <a:srgbClr val="334155"/>
                          </a:solidFill>
                        </a:defRPr>
                      </a:pPr>
                      <a:r>
                        <a:t>Full Access (Direct Contact)</a:t>
                      </a:r>
                    </a:p>
                  </a:txBody>
                  <a:tcPr>
                    <a:solidFill>
                      <a:srgbClr val="F1F5F9"/>
                    </a:solidFill>
                  </a:tcPr>
                </a:tc>
                <a:tc>
                  <a:txBody>
                    <a:bodyPr/>
                    <a:lstStyle/>
                    <a:p>
                      <a:pPr>
                        <a:defRPr sz="1100" b="1">
                          <a:solidFill>
                            <a:srgbClr val="0284C7"/>
                          </a:solidFill>
                        </a:defRPr>
                      </a:pPr>
                      <a:r>
                        <a:t>Masked (e***@techcorp.io)</a:t>
                      </a:r>
                    </a:p>
                  </a:txBody>
                  <a:tcPr>
                    <a:solidFill>
                      <a:srgbClr val="F1F5F9"/>
                    </a:solidFill>
                  </a:tcPr>
                </a:tc>
                <a:tc>
                  <a:txBody>
                    <a:bodyPr/>
                    <a:lstStyle/>
                    <a:p>
                      <a:pPr>
                        <a:defRPr sz="1100" b="1">
                          <a:solidFill>
                            <a:srgbClr val="0284C7"/>
                          </a:solidFill>
                        </a:defRPr>
                      </a:pPr>
                      <a:r>
                        <a:t>Masked (+1 555 ***)</a:t>
                      </a:r>
                    </a:p>
                  </a:txBody>
                  <a:tcPr>
                    <a:solidFill>
                      <a:srgbClr val="F1F5F9"/>
                    </a:solidFill>
                  </a:tcPr>
                </a:tc>
              </a:tr>
              <a:tr h="487680">
                <a:tc>
                  <a:txBody>
                    <a:bodyPr/>
                    <a:lstStyle/>
                    <a:p>
                      <a:pPr>
                        <a:defRPr sz="1100">
                          <a:solidFill>
                            <a:srgbClr val="0F172A"/>
                          </a:solidFill>
                        </a:defRPr>
                      </a:pPr>
                      <a:r>
                        <a:t>Resume Screening Action</a:t>
                      </a:r>
                    </a:p>
                  </a:txBody>
                  <a:tcPr>
                    <a:solidFill>
                      <a:srgbClr val="FFFFFF"/>
                    </a:solidFill>
                  </a:tcPr>
                </a:tc>
                <a:tc>
                  <a:txBody>
                    <a:bodyPr/>
                    <a:lstStyle/>
                    <a:p>
                      <a:pPr>
                        <a:defRPr sz="1100">
                          <a:solidFill>
                            <a:srgbClr val="334155"/>
                          </a:solidFill>
                        </a:defRPr>
                      </a:pPr>
                      <a:r>
                        <a:t>Full Upload &amp; Execution</a:t>
                      </a:r>
                    </a:p>
                  </a:txBody>
                  <a:tcPr>
                    <a:solidFill>
                      <a:srgbClr val="FFFFFF"/>
                    </a:solidFill>
                  </a:tcPr>
                </a:tc>
                <a:tc>
                  <a:txBody>
                    <a:bodyPr/>
                    <a:lstStyle/>
                    <a:p>
                      <a:pPr>
                        <a:defRPr sz="1100">
                          <a:solidFill>
                            <a:srgbClr val="334155"/>
                          </a:solidFill>
                        </a:defRPr>
                      </a:pPr>
                      <a:r>
                        <a:t>View Match Scores Only</a:t>
                      </a:r>
                    </a:p>
                  </a:txBody>
                  <a:tcPr>
                    <a:solidFill>
                      <a:srgbClr val="FFFFFF"/>
                    </a:solidFill>
                  </a:tcPr>
                </a:tc>
                <a:tc>
                  <a:txBody>
                    <a:bodyPr/>
                    <a:lstStyle/>
                    <a:p>
                      <a:pPr>
                        <a:defRPr sz="1100">
                          <a:solidFill>
                            <a:srgbClr val="334155"/>
                          </a:solidFill>
                        </a:defRPr>
                      </a:pPr>
                      <a:r>
                        <a:t>Disabled (View Only)</a:t>
                      </a:r>
                    </a:p>
                  </a:txBody>
                  <a:tcPr>
                    <a:solidFill>
                      <a:srgbClr val="FFFFFF"/>
                    </a:solidFill>
                  </a:tcPr>
                </a:tc>
              </a:tr>
              <a:tr h="487680">
                <a:tc>
                  <a:txBody>
                    <a:bodyPr/>
                    <a:lstStyle/>
                    <a:p>
                      <a:pPr>
                        <a:defRPr sz="1100">
                          <a:solidFill>
                            <a:srgbClr val="0F172A"/>
                          </a:solidFill>
                        </a:defRPr>
                      </a:pPr>
                      <a:r>
                        <a:t>Send Outreach Emails</a:t>
                      </a:r>
                    </a:p>
                  </a:txBody>
                  <a:tcPr>
                    <a:solidFill>
                      <a:srgbClr val="F1F5F9"/>
                    </a:solidFill>
                  </a:tcPr>
                </a:tc>
                <a:tc>
                  <a:txBody>
                    <a:bodyPr/>
                    <a:lstStyle/>
                    <a:p>
                      <a:pPr>
                        <a:defRPr sz="1100">
                          <a:solidFill>
                            <a:srgbClr val="334155"/>
                          </a:solidFill>
                        </a:defRPr>
                      </a:pPr>
                      <a:r>
                        <a:t>Full Access &amp; Editing</a:t>
                      </a:r>
                    </a:p>
                  </a:txBody>
                  <a:tcPr>
                    <a:solidFill>
                      <a:srgbClr val="F1F5F9"/>
                    </a:solidFill>
                  </a:tcPr>
                </a:tc>
                <a:tc>
                  <a:txBody>
                    <a:bodyPr/>
                    <a:lstStyle/>
                    <a:p>
                      <a:pPr>
                        <a:defRPr sz="1100">
                          <a:solidFill>
                            <a:srgbClr val="334155"/>
                          </a:solidFill>
                        </a:defRPr>
                      </a:pPr>
                      <a:r>
                        <a:t>Locked (Recruiter Only)</a:t>
                      </a:r>
                    </a:p>
                  </a:txBody>
                  <a:tcPr>
                    <a:solidFill>
                      <a:srgbClr val="F1F5F9"/>
                    </a:solidFill>
                  </a:tcPr>
                </a:tc>
                <a:tc>
                  <a:txBody>
                    <a:bodyPr/>
                    <a:lstStyle/>
                    <a:p>
                      <a:pPr>
                        <a:defRPr sz="1100">
                          <a:solidFill>
                            <a:srgbClr val="334155"/>
                          </a:solidFill>
                        </a:defRPr>
                      </a:pPr>
                      <a:r>
                        <a:t>Disabled</a:t>
                      </a:r>
                    </a:p>
                  </a:txBody>
                  <a:tcPr>
                    <a:solidFill>
                      <a:srgbClr val="F1F5F9"/>
                    </a:solidFill>
                  </a:tcPr>
                </a:tc>
              </a:tr>
              <a:tr h="487680">
                <a:tc>
                  <a:txBody>
                    <a:bodyPr/>
                    <a:lstStyle/>
                    <a:p>
                      <a:pPr>
                        <a:defRPr sz="1100">
                          <a:solidFill>
                            <a:srgbClr val="0F172A"/>
                          </a:solidFill>
                        </a:defRPr>
                      </a:pPr>
                      <a:r>
                        <a:t>Compliance Audit Trail</a:t>
                      </a:r>
                    </a:p>
                  </a:txBody>
                  <a:tcPr>
                    <a:solidFill>
                      <a:srgbClr val="FFFFFF"/>
                    </a:solidFill>
                  </a:tcPr>
                </a:tc>
                <a:tc>
                  <a:txBody>
                    <a:bodyPr/>
                    <a:lstStyle/>
                    <a:p>
                      <a:pPr>
                        <a:defRPr sz="1100">
                          <a:solidFill>
                            <a:srgbClr val="334155"/>
                          </a:solidFill>
                        </a:defRPr>
                      </a:pPr>
                      <a:r>
                        <a:t>Standard View</a:t>
                      </a:r>
                    </a:p>
                  </a:txBody>
                  <a:tcPr>
                    <a:solidFill>
                      <a:srgbClr val="FFFFFF"/>
                    </a:solidFill>
                  </a:tcPr>
                </a:tc>
                <a:tc>
                  <a:txBody>
                    <a:bodyPr/>
                    <a:lstStyle/>
                    <a:p>
                      <a:pPr>
                        <a:defRPr sz="1100">
                          <a:solidFill>
                            <a:srgbClr val="334155"/>
                          </a:solidFill>
                        </a:defRPr>
                      </a:pPr>
                      <a:r>
                        <a:t>Standard View</a:t>
                      </a:r>
                    </a:p>
                  </a:txBody>
                  <a:tcPr>
                    <a:solidFill>
                      <a:srgbClr val="FFFFFF"/>
                    </a:solidFill>
                  </a:tcPr>
                </a:tc>
                <a:tc>
                  <a:txBody>
                    <a:bodyPr/>
                    <a:lstStyle/>
                    <a:p>
                      <a:pPr>
                        <a:defRPr sz="1100">
                          <a:solidFill>
                            <a:srgbClr val="334155"/>
                          </a:solidFill>
                        </a:defRPr>
                      </a:pPr>
                      <a:r>
                        <a:t>Full Export to JSON</a:t>
                      </a:r>
                    </a:p>
                  </a:txBody>
                  <a:tcPr>
                    <a:solidFill>
                      <a:srgbClr val="FFFFFF"/>
                    </a:solidFill>
                  </a:tcPr>
                </a:tc>
              </a:tr>
            </a:tbl>
          </a:graphicData>
        </a:graphic>
      </p:graphicFrame>
      <p:sp>
        <p:nvSpPr>
          <p:cNvPr id="8" name="Rounded Rectangle 7"/>
          <p:cNvSpPr/>
          <p:nvPr/>
        </p:nvSpPr>
        <p:spPr>
          <a:xfrm>
            <a:off x="731520" y="4663440"/>
            <a:ext cx="10698480" cy="16459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4663440"/>
            <a:ext cx="1069848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4663440"/>
            <a:ext cx="109728"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736592"/>
            <a:ext cx="10378440" cy="365760"/>
          </a:xfrm>
          <a:prstGeom prst="rect">
            <a:avLst/>
          </a:prstGeom>
          <a:noFill/>
        </p:spPr>
        <p:txBody>
          <a:bodyPr wrap="none">
            <a:spAutoFit/>
          </a:bodyPr>
          <a:lstStyle/>
          <a:p>
            <a:pPr>
              <a:defRPr sz="1100" b="1">
                <a:solidFill>
                  <a:srgbClr val="0D9488"/>
                </a:solidFill>
              </a:defRPr>
            </a:pPr>
            <a:r>
              <a:t>WHY ROLE-BASED MASKING MATTERS IN PRACTICE</a:t>
            </a:r>
          </a:p>
        </p:txBody>
      </p:sp>
      <p:sp>
        <p:nvSpPr>
          <p:cNvPr id="12" name="TextBox 11"/>
          <p:cNvSpPr txBox="1"/>
          <p:nvPr/>
        </p:nvSpPr>
        <p:spPr>
          <a:xfrm>
            <a:off x="914400" y="5257800"/>
            <a:ext cx="10332720" cy="1005840"/>
          </a:xfrm>
          <a:prstGeom prst="rect">
            <a:avLst/>
          </a:prstGeom>
          <a:noFill/>
        </p:spPr>
        <p:txBody>
          <a:bodyPr wrap="square">
            <a:spAutoFit/>
          </a:bodyPr>
          <a:lstStyle/>
          <a:p>
            <a:pPr>
              <a:spcAft>
                <a:spcPts val="600"/>
              </a:spcAft>
              <a:defRPr sz="1200">
                <a:solidFill>
                  <a:srgbClr val="334155"/>
                </a:solidFill>
              </a:defRPr>
            </a:pPr>
            <a:r>
              <a:t>•  Unbiased Hiring Decisions: Masking contact info and home addresses ensures candidates are evaluated purely on technical merit.</a:t>
            </a:r>
          </a:p>
          <a:p>
            <a:pPr>
              <a:spcAft>
                <a:spcPts val="600"/>
              </a:spcAft>
              <a:defRPr sz="1200">
                <a:solidFill>
                  <a:srgbClr val="334155"/>
                </a:solidFill>
              </a:defRPr>
            </a:pPr>
            <a:r>
              <a:t>•  Candidate Privacy Protection: Personal WhatsApp numbers and emails are never exposed unnecessarily, preventing data leakage.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07008"/>
            <a:ext cx="12191695"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82880"/>
            <a:ext cx="5303520" cy="292608"/>
          </a:xfrm>
          <a:prstGeom prst="roundRect">
            <a:avLst/>
          </a:prstGeom>
          <a:solidFill>
            <a:srgbClr val="1E293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284C7"/>
                </a:solidFill>
              </a:defRPr>
            </a:pPr>
            <a:r>
              <a:t>TALENTSTREAM AI • SUMMER INTERNSHIP FINAL DEFENSE</a:t>
            </a:r>
          </a:p>
        </p:txBody>
      </p:sp>
      <p:sp>
        <p:nvSpPr>
          <p:cNvPr id="6" name="TextBox 5"/>
          <p:cNvSpPr txBox="1"/>
          <p:nvPr/>
        </p:nvSpPr>
        <p:spPr>
          <a:xfrm>
            <a:off x="731520" y="502920"/>
            <a:ext cx="10698480" cy="640080"/>
          </a:xfrm>
          <a:prstGeom prst="rect">
            <a:avLst/>
          </a:prstGeom>
          <a:noFill/>
        </p:spPr>
        <p:txBody>
          <a:bodyPr wrap="square">
            <a:spAutoFit/>
          </a:bodyPr>
          <a:lstStyle/>
          <a:p>
            <a:pPr>
              <a:defRPr sz="2200" b="1">
                <a:solidFill>
                  <a:srgbClr val="FFFFFF"/>
                </a:solidFill>
              </a:defRPr>
            </a:pPr>
            <a:r>
              <a:t>My 10-Week Development Progression &amp; Milestones</a:t>
            </a:r>
          </a:p>
        </p:txBody>
      </p:sp>
      <p:sp>
        <p:nvSpPr>
          <p:cNvPr id="7" name="Rounded Rectangle 6"/>
          <p:cNvSpPr/>
          <p:nvPr/>
        </p:nvSpPr>
        <p:spPr>
          <a:xfrm>
            <a:off x="731520" y="1463040"/>
            <a:ext cx="2578608"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2578608"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63040"/>
            <a:ext cx="109728" cy="5029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536192"/>
            <a:ext cx="2258568" cy="365760"/>
          </a:xfrm>
          <a:prstGeom prst="rect">
            <a:avLst/>
          </a:prstGeom>
          <a:noFill/>
        </p:spPr>
        <p:txBody>
          <a:bodyPr wrap="none">
            <a:spAutoFit/>
          </a:bodyPr>
          <a:lstStyle/>
          <a:p>
            <a:pPr>
              <a:defRPr sz="1100" b="1">
                <a:solidFill>
                  <a:srgbClr val="0284C7"/>
                </a:solidFill>
              </a:defRPr>
            </a:pPr>
            <a:r>
              <a:t>WEEKS 1–2: PLANNING &amp; RESEARCH</a:t>
            </a:r>
          </a:p>
        </p:txBody>
      </p:sp>
      <p:sp>
        <p:nvSpPr>
          <p:cNvPr id="11" name="TextBox 10"/>
          <p:cNvSpPr txBox="1"/>
          <p:nvPr/>
        </p:nvSpPr>
        <p:spPr>
          <a:xfrm>
            <a:off x="914400" y="2057400"/>
            <a:ext cx="2212848" cy="4206240"/>
          </a:xfrm>
          <a:prstGeom prst="rect">
            <a:avLst/>
          </a:prstGeom>
          <a:noFill/>
        </p:spPr>
        <p:txBody>
          <a:bodyPr wrap="square">
            <a:spAutoFit/>
          </a:bodyPr>
          <a:lstStyle/>
          <a:p>
            <a:pPr>
              <a:spcAft>
                <a:spcPts val="1200"/>
              </a:spcAft>
              <a:defRPr sz="1200">
                <a:solidFill>
                  <a:srgbClr val="334155"/>
                </a:solidFill>
              </a:defRPr>
            </a:pPr>
            <a:r>
              <a:t>•  Interviewed HR mentors about daily bottlenecks</a:t>
            </a:r>
          </a:p>
          <a:p>
            <a:pPr>
              <a:spcAft>
                <a:spcPts val="1200"/>
              </a:spcAft>
              <a:defRPr sz="1200">
                <a:solidFill>
                  <a:srgbClr val="334155"/>
                </a:solidFill>
              </a:defRPr>
            </a:pPr>
            <a:r>
              <a:t>•  Studied common ATS workflow delays</a:t>
            </a:r>
          </a:p>
          <a:p>
            <a:pPr>
              <a:spcAft>
                <a:spcPts val="1200"/>
              </a:spcAft>
              <a:defRPr sz="1200">
                <a:solidFill>
                  <a:srgbClr val="334155"/>
                </a:solidFill>
              </a:defRPr>
            </a:pPr>
            <a:r>
              <a:t>•  Sketched UI wireframes and database models</a:t>
            </a:r>
          </a:p>
        </p:txBody>
      </p:sp>
      <p:sp>
        <p:nvSpPr>
          <p:cNvPr id="12" name="Rounded Rectangle 11"/>
          <p:cNvSpPr/>
          <p:nvPr/>
        </p:nvSpPr>
        <p:spPr>
          <a:xfrm>
            <a:off x="3456432" y="1463040"/>
            <a:ext cx="2578608"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56432" y="1463040"/>
            <a:ext cx="2578608"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56432" y="1463040"/>
            <a:ext cx="109728" cy="5029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85032" y="1536192"/>
            <a:ext cx="2258568" cy="365760"/>
          </a:xfrm>
          <a:prstGeom prst="rect">
            <a:avLst/>
          </a:prstGeom>
          <a:noFill/>
        </p:spPr>
        <p:txBody>
          <a:bodyPr wrap="none">
            <a:spAutoFit/>
          </a:bodyPr>
          <a:lstStyle/>
          <a:p>
            <a:pPr>
              <a:defRPr sz="1100" b="1">
                <a:solidFill>
                  <a:srgbClr val="4F46E5"/>
                </a:solidFill>
              </a:defRPr>
            </a:pPr>
            <a:r>
              <a:t>WEEKS 3–5: AI ENGINE DEVELOPMENT</a:t>
            </a:r>
          </a:p>
        </p:txBody>
      </p:sp>
      <p:sp>
        <p:nvSpPr>
          <p:cNvPr id="16" name="TextBox 15"/>
          <p:cNvSpPr txBox="1"/>
          <p:nvPr/>
        </p:nvSpPr>
        <p:spPr>
          <a:xfrm>
            <a:off x="3639312" y="2057400"/>
            <a:ext cx="2212848" cy="4206240"/>
          </a:xfrm>
          <a:prstGeom prst="rect">
            <a:avLst/>
          </a:prstGeom>
          <a:noFill/>
        </p:spPr>
        <p:txBody>
          <a:bodyPr wrap="square">
            <a:spAutoFit/>
          </a:bodyPr>
          <a:lstStyle/>
          <a:p>
            <a:pPr>
              <a:spcAft>
                <a:spcPts val="1200"/>
              </a:spcAft>
              <a:defRPr sz="1200">
                <a:solidFill>
                  <a:srgbClr val="334155"/>
                </a:solidFill>
              </a:defRPr>
            </a:pPr>
            <a:r>
              <a:t>•  Engineered resume text parsing logic</a:t>
            </a:r>
          </a:p>
          <a:p>
            <a:pPr>
              <a:spcAft>
                <a:spcPts val="1200"/>
              </a:spcAft>
              <a:defRPr sz="1200">
                <a:solidFill>
                  <a:srgbClr val="334155"/>
                </a:solidFill>
              </a:defRPr>
            </a:pPr>
            <a:r>
              <a:t>•  Designed the skill matching algorithm (0–100%)</a:t>
            </a:r>
          </a:p>
          <a:p>
            <a:pPr>
              <a:spcAft>
                <a:spcPts val="1200"/>
              </a:spcAft>
              <a:defRPr sz="1200">
                <a:solidFill>
                  <a:srgbClr val="334155"/>
                </a:solidFill>
              </a:defRPr>
            </a:pPr>
            <a:r>
              <a:t>•  Built automated outreach prompt pipeline</a:t>
            </a:r>
          </a:p>
        </p:txBody>
      </p:sp>
      <p:sp>
        <p:nvSpPr>
          <p:cNvPr id="17" name="Rounded Rectangle 16"/>
          <p:cNvSpPr/>
          <p:nvPr/>
        </p:nvSpPr>
        <p:spPr>
          <a:xfrm>
            <a:off x="6181344" y="1463040"/>
            <a:ext cx="2578608"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81344" y="1463040"/>
            <a:ext cx="2578608"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81344" y="1463040"/>
            <a:ext cx="109728"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9944" y="1536192"/>
            <a:ext cx="2258568" cy="365760"/>
          </a:xfrm>
          <a:prstGeom prst="rect">
            <a:avLst/>
          </a:prstGeom>
          <a:noFill/>
        </p:spPr>
        <p:txBody>
          <a:bodyPr wrap="none">
            <a:spAutoFit/>
          </a:bodyPr>
          <a:lstStyle/>
          <a:p>
            <a:pPr>
              <a:defRPr sz="1100" b="1">
                <a:solidFill>
                  <a:srgbClr val="0D9488"/>
                </a:solidFill>
              </a:defRPr>
            </a:pPr>
            <a:r>
              <a:t>WEEKS 6–7: UI &amp; VISUAL DASHBOARDS</a:t>
            </a:r>
          </a:p>
        </p:txBody>
      </p:sp>
      <p:sp>
        <p:nvSpPr>
          <p:cNvPr id="21" name="TextBox 20"/>
          <p:cNvSpPr txBox="1"/>
          <p:nvPr/>
        </p:nvSpPr>
        <p:spPr>
          <a:xfrm>
            <a:off x="6364224" y="2057400"/>
            <a:ext cx="2212848" cy="4206240"/>
          </a:xfrm>
          <a:prstGeom prst="rect">
            <a:avLst/>
          </a:prstGeom>
          <a:noFill/>
        </p:spPr>
        <p:txBody>
          <a:bodyPr wrap="square">
            <a:spAutoFit/>
          </a:bodyPr>
          <a:lstStyle/>
          <a:p>
            <a:pPr>
              <a:spcAft>
                <a:spcPts val="1200"/>
              </a:spcAft>
              <a:defRPr sz="1200">
                <a:solidFill>
                  <a:srgbClr val="334155"/>
                </a:solidFill>
              </a:defRPr>
            </a:pPr>
            <a:r>
              <a:t>•  Created responsive layout in CSS3</a:t>
            </a:r>
          </a:p>
          <a:p>
            <a:pPr>
              <a:spcAft>
                <a:spcPts val="1200"/>
              </a:spcAft>
              <a:defRPr sz="1200">
                <a:solidFill>
                  <a:srgbClr val="334155"/>
                </a:solidFill>
              </a:defRPr>
            </a:pPr>
            <a:r>
              <a:t>•  Built lightweight inline SVG charts</a:t>
            </a:r>
          </a:p>
          <a:p>
            <a:pPr>
              <a:spcAft>
                <a:spcPts val="1200"/>
              </a:spcAft>
              <a:defRPr sz="1200">
                <a:solidFill>
                  <a:srgbClr val="334155"/>
                </a:solidFill>
              </a:defRPr>
            </a:pPr>
            <a:r>
              <a:t>•  Added live agent thinking console</a:t>
            </a:r>
          </a:p>
        </p:txBody>
      </p:sp>
      <p:sp>
        <p:nvSpPr>
          <p:cNvPr id="22" name="Rounded Rectangle 21"/>
          <p:cNvSpPr/>
          <p:nvPr/>
        </p:nvSpPr>
        <p:spPr>
          <a:xfrm>
            <a:off x="8906256" y="1463040"/>
            <a:ext cx="2578608"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906256" y="1463040"/>
            <a:ext cx="2578608"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06256" y="1463040"/>
            <a:ext cx="109728" cy="5029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34856" y="1536192"/>
            <a:ext cx="2258568" cy="365760"/>
          </a:xfrm>
          <a:prstGeom prst="rect">
            <a:avLst/>
          </a:prstGeom>
          <a:noFill/>
        </p:spPr>
        <p:txBody>
          <a:bodyPr wrap="none">
            <a:spAutoFit/>
          </a:bodyPr>
          <a:lstStyle/>
          <a:p>
            <a:pPr>
              <a:defRPr sz="1100" b="1">
                <a:solidFill>
                  <a:srgbClr val="D97706"/>
                </a:solidFill>
              </a:defRPr>
            </a:pPr>
            <a:r>
              <a:t>WEEKS 8–10: SECURITY &amp; DEPLOYMENT</a:t>
            </a:r>
          </a:p>
        </p:txBody>
      </p:sp>
      <p:sp>
        <p:nvSpPr>
          <p:cNvPr id="26" name="TextBox 25"/>
          <p:cNvSpPr txBox="1"/>
          <p:nvPr/>
        </p:nvSpPr>
        <p:spPr>
          <a:xfrm>
            <a:off x="9089136" y="2057400"/>
            <a:ext cx="2212848" cy="4206240"/>
          </a:xfrm>
          <a:prstGeom prst="rect">
            <a:avLst/>
          </a:prstGeom>
          <a:noFill/>
        </p:spPr>
        <p:txBody>
          <a:bodyPr wrap="square">
            <a:spAutoFit/>
          </a:bodyPr>
          <a:lstStyle/>
          <a:p>
            <a:pPr>
              <a:spcAft>
                <a:spcPts val="1200"/>
              </a:spcAft>
              <a:defRPr sz="1200">
                <a:solidFill>
                  <a:srgbClr val="334155"/>
                </a:solidFill>
              </a:defRPr>
            </a:pPr>
            <a:r>
              <a:t>•  Implemented PII masking and RBAC tiers</a:t>
            </a:r>
          </a:p>
          <a:p>
            <a:pPr>
              <a:spcAft>
                <a:spcPts val="1200"/>
              </a:spcAft>
              <a:defRPr sz="1200">
                <a:solidFill>
                  <a:srgbClr val="334155"/>
                </a:solidFill>
              </a:defRPr>
            </a:pPr>
            <a:r>
              <a:t>•  Engineered SOC-2 audit logging</a:t>
            </a:r>
          </a:p>
          <a:p>
            <a:pPr>
              <a:spcAft>
                <a:spcPts val="1200"/>
              </a:spcAft>
              <a:defRPr sz="1200">
                <a:solidFill>
                  <a:srgbClr val="334155"/>
                </a:solidFill>
              </a:defRPr>
            </a:pPr>
            <a:r>
              <a:t>•  Pushed to GitHub &amp; deployed to GitHub Pages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07008"/>
            <a:ext cx="12191695"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82880"/>
            <a:ext cx="5303520" cy="292608"/>
          </a:xfrm>
          <a:prstGeom prst="roundRect">
            <a:avLst/>
          </a:prstGeom>
          <a:solidFill>
            <a:srgbClr val="1E293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284C7"/>
                </a:solidFill>
              </a:defRPr>
            </a:pPr>
            <a:r>
              <a:t>TALENTSTREAM AI • SUMMER INTERNSHIP FINAL DEFENSE</a:t>
            </a:r>
          </a:p>
        </p:txBody>
      </p:sp>
      <p:sp>
        <p:nvSpPr>
          <p:cNvPr id="6" name="TextBox 5"/>
          <p:cNvSpPr txBox="1"/>
          <p:nvPr/>
        </p:nvSpPr>
        <p:spPr>
          <a:xfrm>
            <a:off x="731520" y="502920"/>
            <a:ext cx="10698480" cy="640080"/>
          </a:xfrm>
          <a:prstGeom prst="rect">
            <a:avLst/>
          </a:prstGeom>
          <a:noFill/>
        </p:spPr>
        <p:txBody>
          <a:bodyPr wrap="square">
            <a:spAutoFit/>
          </a:bodyPr>
          <a:lstStyle/>
          <a:p>
            <a:pPr>
              <a:defRPr sz="2200" b="1">
                <a:solidFill>
                  <a:srgbClr val="FFFFFF"/>
                </a:solidFill>
              </a:defRPr>
            </a:pPr>
            <a:r>
              <a:t>Results, Performance Metrics &amp; Real-World Impact</a:t>
            </a:r>
          </a:p>
        </p:txBody>
      </p:sp>
      <p:sp>
        <p:nvSpPr>
          <p:cNvPr id="7" name="Rounded Rectangle 6"/>
          <p:cNvSpPr/>
          <p:nvPr/>
        </p:nvSpPr>
        <p:spPr>
          <a:xfrm>
            <a:off x="731520" y="1463040"/>
            <a:ext cx="2578608" cy="2194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2578608"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63040"/>
            <a:ext cx="109728" cy="5029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536192"/>
            <a:ext cx="2258568" cy="365760"/>
          </a:xfrm>
          <a:prstGeom prst="rect">
            <a:avLst/>
          </a:prstGeom>
          <a:noFill/>
        </p:spPr>
        <p:txBody>
          <a:bodyPr wrap="none">
            <a:spAutoFit/>
          </a:bodyPr>
          <a:lstStyle/>
          <a:p>
            <a:pPr>
              <a:defRPr sz="1100" b="1">
                <a:solidFill>
                  <a:srgbClr val="0284C7"/>
                </a:solidFill>
              </a:defRPr>
            </a:pPr>
            <a:r>
              <a:t>TIME SAVED PER RESUME</a:t>
            </a:r>
          </a:p>
        </p:txBody>
      </p:sp>
      <p:sp>
        <p:nvSpPr>
          <p:cNvPr id="11" name="TextBox 10"/>
          <p:cNvSpPr txBox="1"/>
          <p:nvPr/>
        </p:nvSpPr>
        <p:spPr>
          <a:xfrm>
            <a:off x="914400" y="2057400"/>
            <a:ext cx="2212848" cy="1554480"/>
          </a:xfrm>
          <a:prstGeom prst="rect">
            <a:avLst/>
          </a:prstGeom>
          <a:noFill/>
        </p:spPr>
        <p:txBody>
          <a:bodyPr wrap="square">
            <a:spAutoFit/>
          </a:bodyPr>
          <a:lstStyle/>
          <a:p>
            <a:pPr>
              <a:spcAft>
                <a:spcPts val="400"/>
              </a:spcAft>
              <a:defRPr sz="2800" b="1">
                <a:solidFill>
                  <a:srgbClr val="0284C7"/>
                </a:solidFill>
              </a:defRPr>
            </a:pPr>
            <a:r>
              <a:t>85%</a:t>
            </a:r>
          </a:p>
          <a:p>
            <a:pPr>
              <a:defRPr sz="1100">
                <a:solidFill>
                  <a:srgbClr val="334155"/>
                </a:solidFill>
              </a:defRPr>
            </a:pPr>
            <a:r>
              <a:t>Average screening time dropped from ~15 mins to under 2 mins.</a:t>
            </a:r>
          </a:p>
        </p:txBody>
      </p:sp>
      <p:sp>
        <p:nvSpPr>
          <p:cNvPr id="12" name="Rounded Rectangle 11"/>
          <p:cNvSpPr/>
          <p:nvPr/>
        </p:nvSpPr>
        <p:spPr>
          <a:xfrm>
            <a:off x="3456432" y="1463040"/>
            <a:ext cx="2578608" cy="2194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56432" y="1463040"/>
            <a:ext cx="2578608"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56432" y="1463040"/>
            <a:ext cx="109728"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85032" y="1536192"/>
            <a:ext cx="2258568" cy="365760"/>
          </a:xfrm>
          <a:prstGeom prst="rect">
            <a:avLst/>
          </a:prstGeom>
          <a:noFill/>
        </p:spPr>
        <p:txBody>
          <a:bodyPr wrap="none">
            <a:spAutoFit/>
          </a:bodyPr>
          <a:lstStyle/>
          <a:p>
            <a:pPr>
              <a:defRPr sz="1100" b="1">
                <a:solidFill>
                  <a:srgbClr val="0D9488"/>
                </a:solidFill>
              </a:defRPr>
            </a:pPr>
            <a:r>
              <a:t>SCORING ACCURACY</a:t>
            </a:r>
          </a:p>
        </p:txBody>
      </p:sp>
      <p:sp>
        <p:nvSpPr>
          <p:cNvPr id="16" name="TextBox 15"/>
          <p:cNvSpPr txBox="1"/>
          <p:nvPr/>
        </p:nvSpPr>
        <p:spPr>
          <a:xfrm>
            <a:off x="3639312" y="2057400"/>
            <a:ext cx="2212848" cy="1554480"/>
          </a:xfrm>
          <a:prstGeom prst="rect">
            <a:avLst/>
          </a:prstGeom>
          <a:noFill/>
        </p:spPr>
        <p:txBody>
          <a:bodyPr wrap="square">
            <a:spAutoFit/>
          </a:bodyPr>
          <a:lstStyle/>
          <a:p>
            <a:pPr>
              <a:spcAft>
                <a:spcPts val="400"/>
              </a:spcAft>
              <a:defRPr sz="2800" b="1">
                <a:solidFill>
                  <a:srgbClr val="0D9488"/>
                </a:solidFill>
              </a:defRPr>
            </a:pPr>
            <a:r>
              <a:t>94.8%</a:t>
            </a:r>
          </a:p>
          <a:p>
            <a:pPr>
              <a:defRPr sz="1100">
                <a:solidFill>
                  <a:srgbClr val="334155"/>
                </a:solidFill>
              </a:defRPr>
            </a:pPr>
            <a:r>
              <a:t>Evaluations closely matched senior recruiters on benchmark profiles.</a:t>
            </a:r>
          </a:p>
        </p:txBody>
      </p:sp>
      <p:sp>
        <p:nvSpPr>
          <p:cNvPr id="17" name="Rounded Rectangle 16"/>
          <p:cNvSpPr/>
          <p:nvPr/>
        </p:nvSpPr>
        <p:spPr>
          <a:xfrm>
            <a:off x="6181344" y="1463040"/>
            <a:ext cx="2578608" cy="2194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81344" y="1463040"/>
            <a:ext cx="2578608"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81344" y="1463040"/>
            <a:ext cx="109728" cy="5029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9944" y="1536192"/>
            <a:ext cx="2258568" cy="365760"/>
          </a:xfrm>
          <a:prstGeom prst="rect">
            <a:avLst/>
          </a:prstGeom>
          <a:noFill/>
        </p:spPr>
        <p:txBody>
          <a:bodyPr wrap="none">
            <a:spAutoFit/>
          </a:bodyPr>
          <a:lstStyle/>
          <a:p>
            <a:pPr>
              <a:defRPr sz="1100" b="1">
                <a:solidFill>
                  <a:srgbClr val="D97706"/>
                </a:solidFill>
              </a:defRPr>
            </a:pPr>
            <a:r>
              <a:t>INSTANT OUTREACH DRAFTING</a:t>
            </a:r>
          </a:p>
        </p:txBody>
      </p:sp>
      <p:sp>
        <p:nvSpPr>
          <p:cNvPr id="21" name="TextBox 20"/>
          <p:cNvSpPr txBox="1"/>
          <p:nvPr/>
        </p:nvSpPr>
        <p:spPr>
          <a:xfrm>
            <a:off x="6364224" y="2057400"/>
            <a:ext cx="2212848" cy="1554480"/>
          </a:xfrm>
          <a:prstGeom prst="rect">
            <a:avLst/>
          </a:prstGeom>
          <a:noFill/>
        </p:spPr>
        <p:txBody>
          <a:bodyPr wrap="square">
            <a:spAutoFit/>
          </a:bodyPr>
          <a:lstStyle/>
          <a:p>
            <a:pPr>
              <a:spcAft>
                <a:spcPts val="400"/>
              </a:spcAft>
              <a:defRPr sz="2800" b="1">
                <a:solidFill>
                  <a:srgbClr val="D97706"/>
                </a:solidFill>
              </a:defRPr>
            </a:pPr>
            <a:r>
              <a:t>1-Click</a:t>
            </a:r>
          </a:p>
          <a:p>
            <a:pPr>
              <a:defRPr sz="1100">
                <a:solidFill>
                  <a:srgbClr val="334155"/>
                </a:solidFill>
              </a:defRPr>
            </a:pPr>
            <a:r>
              <a:t>Personalized emails ready in seconds—no more manual drafting.</a:t>
            </a:r>
          </a:p>
        </p:txBody>
      </p:sp>
      <p:sp>
        <p:nvSpPr>
          <p:cNvPr id="22" name="Rounded Rectangle 21"/>
          <p:cNvSpPr/>
          <p:nvPr/>
        </p:nvSpPr>
        <p:spPr>
          <a:xfrm>
            <a:off x="8906256" y="1463040"/>
            <a:ext cx="2578608" cy="2194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906256" y="1463040"/>
            <a:ext cx="2578608"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06256" y="1463040"/>
            <a:ext cx="109728" cy="5029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34856" y="1536192"/>
            <a:ext cx="2258568" cy="365760"/>
          </a:xfrm>
          <a:prstGeom prst="rect">
            <a:avLst/>
          </a:prstGeom>
          <a:noFill/>
        </p:spPr>
        <p:txBody>
          <a:bodyPr wrap="none">
            <a:spAutoFit/>
          </a:bodyPr>
          <a:lstStyle/>
          <a:p>
            <a:pPr>
              <a:defRPr sz="1100" b="1">
                <a:solidFill>
                  <a:srgbClr val="4F46E5"/>
                </a:solidFill>
              </a:defRPr>
            </a:pPr>
            <a:r>
              <a:t>AUDIT TRACEABILITY</a:t>
            </a:r>
          </a:p>
        </p:txBody>
      </p:sp>
      <p:sp>
        <p:nvSpPr>
          <p:cNvPr id="26" name="TextBox 25"/>
          <p:cNvSpPr txBox="1"/>
          <p:nvPr/>
        </p:nvSpPr>
        <p:spPr>
          <a:xfrm>
            <a:off x="9089136" y="2057400"/>
            <a:ext cx="2212848" cy="1554480"/>
          </a:xfrm>
          <a:prstGeom prst="rect">
            <a:avLst/>
          </a:prstGeom>
          <a:noFill/>
        </p:spPr>
        <p:txBody>
          <a:bodyPr wrap="square">
            <a:spAutoFit/>
          </a:bodyPr>
          <a:lstStyle/>
          <a:p>
            <a:pPr>
              <a:spcAft>
                <a:spcPts val="400"/>
              </a:spcAft>
              <a:defRPr sz="2800" b="1">
                <a:solidFill>
                  <a:srgbClr val="4F46E5"/>
                </a:solidFill>
              </a:defRPr>
            </a:pPr>
            <a:r>
              <a:t>100%</a:t>
            </a:r>
          </a:p>
          <a:p>
            <a:pPr>
              <a:defRPr sz="1100">
                <a:solidFill>
                  <a:srgbClr val="334155"/>
                </a:solidFill>
              </a:defRPr>
            </a:pPr>
            <a:r>
              <a:t>Every AI action and user query is permanently recorded with timestamps.</a:t>
            </a:r>
          </a:p>
        </p:txBody>
      </p:sp>
      <p:sp>
        <p:nvSpPr>
          <p:cNvPr id="27" name="Rounded Rectangle 26"/>
          <p:cNvSpPr/>
          <p:nvPr/>
        </p:nvSpPr>
        <p:spPr>
          <a:xfrm>
            <a:off x="731520" y="3931920"/>
            <a:ext cx="1069848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31520" y="3931920"/>
            <a:ext cx="1069848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1520" y="3931920"/>
            <a:ext cx="109728" cy="5029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4005072"/>
            <a:ext cx="10378440" cy="365760"/>
          </a:xfrm>
          <a:prstGeom prst="rect">
            <a:avLst/>
          </a:prstGeom>
          <a:noFill/>
        </p:spPr>
        <p:txBody>
          <a:bodyPr wrap="none">
            <a:spAutoFit/>
          </a:bodyPr>
          <a:lstStyle/>
          <a:p>
            <a:pPr>
              <a:defRPr sz="1100" b="1">
                <a:solidFill>
                  <a:srgbClr val="0284C7"/>
                </a:solidFill>
              </a:defRPr>
            </a:pPr>
            <a:r>
              <a:t>VERIFIED PROJECT DELIVERABLES</a:t>
            </a:r>
          </a:p>
        </p:txBody>
      </p:sp>
      <p:sp>
        <p:nvSpPr>
          <p:cNvPr id="31" name="TextBox 30"/>
          <p:cNvSpPr txBox="1"/>
          <p:nvPr/>
        </p:nvSpPr>
        <p:spPr>
          <a:xfrm>
            <a:off x="914400" y="4526280"/>
            <a:ext cx="10332720" cy="1737360"/>
          </a:xfrm>
          <a:prstGeom prst="rect">
            <a:avLst/>
          </a:prstGeom>
          <a:noFill/>
        </p:spPr>
        <p:txBody>
          <a:bodyPr wrap="square">
            <a:spAutoFit/>
          </a:bodyPr>
          <a:lstStyle/>
          <a:p>
            <a:pPr>
              <a:spcAft>
                <a:spcPts val="800"/>
              </a:spcAft>
              <a:defRPr sz="1200">
                <a:solidFill>
                  <a:srgbClr val="334155"/>
                </a:solidFill>
              </a:defRPr>
            </a:pPr>
            <a:r>
              <a:t>•  Fully Operational Application: Live web app featuring all 5 modules running in the browser.</a:t>
            </a:r>
          </a:p>
          <a:p>
            <a:pPr>
              <a:spcAft>
                <a:spcPts val="800"/>
              </a:spcAft>
              <a:defRPr sz="1200">
                <a:solidFill>
                  <a:srgbClr val="334155"/>
                </a:solidFill>
              </a:defRPr>
            </a:pPr>
            <a:r>
              <a:t>•  Public GitHub Codebase: Production-ready code hosted at github.com/narayanalikhitha/talentstream-ai.</a:t>
            </a:r>
          </a:p>
          <a:p>
            <a:pPr>
              <a:spcAft>
                <a:spcPts val="800"/>
              </a:spcAft>
              <a:defRPr sz="1200">
                <a:solidFill>
                  <a:srgbClr val="334155"/>
                </a:solidFill>
              </a:defRPr>
            </a:pPr>
            <a:r>
              <a:t>•  Active Public Hosting: Deployed and accessible via GitHub Pages for immediate evaluation.</a:t>
            </a:r>
          </a:p>
          <a:p>
            <a:pPr>
              <a:spcAft>
                <a:spcPts val="800"/>
              </a:spcAft>
              <a:defRPr sz="1200">
                <a:solidFill>
                  <a:srgbClr val="334155"/>
                </a:solidFill>
              </a:defRPr>
            </a:pPr>
            <a:r>
              <a:t>•  Architectural Documentation: Comprehensive documentation of all agent tools and workflows in README.md.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07008"/>
            <a:ext cx="12191695"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82880"/>
            <a:ext cx="5303520" cy="292608"/>
          </a:xfrm>
          <a:prstGeom prst="roundRect">
            <a:avLst/>
          </a:prstGeom>
          <a:solidFill>
            <a:srgbClr val="1E293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284C7"/>
                </a:solidFill>
              </a:defRPr>
            </a:pPr>
            <a:r>
              <a:t>TALENTSTREAM AI • SUMMER INTERNSHIP FINAL DEFENSE</a:t>
            </a:r>
          </a:p>
        </p:txBody>
      </p:sp>
      <p:sp>
        <p:nvSpPr>
          <p:cNvPr id="6" name="TextBox 5"/>
          <p:cNvSpPr txBox="1"/>
          <p:nvPr/>
        </p:nvSpPr>
        <p:spPr>
          <a:xfrm>
            <a:off x="731520" y="502920"/>
            <a:ext cx="10698480" cy="640080"/>
          </a:xfrm>
          <a:prstGeom prst="rect">
            <a:avLst/>
          </a:prstGeom>
          <a:noFill/>
        </p:spPr>
        <p:txBody>
          <a:bodyPr wrap="square">
            <a:spAutoFit/>
          </a:bodyPr>
          <a:lstStyle/>
          <a:p>
            <a:pPr>
              <a:defRPr sz="2200" b="1">
                <a:solidFill>
                  <a:srgbClr val="FFFFFF"/>
                </a:solidFill>
              </a:defRPr>
            </a:pPr>
            <a:r>
              <a:t>Conclusion &amp; Personal Key Learnings</a:t>
            </a:r>
          </a:p>
        </p:txBody>
      </p:sp>
      <p:sp>
        <p:nvSpPr>
          <p:cNvPr id="7" name="Rounded Rectangle 6"/>
          <p:cNvSpPr/>
          <p:nvPr/>
        </p:nvSpPr>
        <p:spPr>
          <a:xfrm>
            <a:off x="731520" y="1463040"/>
            <a:ext cx="3383280"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338328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63040"/>
            <a:ext cx="109728" cy="5029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536192"/>
            <a:ext cx="3063240" cy="365760"/>
          </a:xfrm>
          <a:prstGeom prst="rect">
            <a:avLst/>
          </a:prstGeom>
          <a:noFill/>
        </p:spPr>
        <p:txBody>
          <a:bodyPr wrap="none">
            <a:spAutoFit/>
          </a:bodyPr>
          <a:lstStyle/>
          <a:p>
            <a:pPr>
              <a:defRPr sz="1100" b="1">
                <a:solidFill>
                  <a:srgbClr val="0284C7"/>
                </a:solidFill>
              </a:defRPr>
            </a:pPr>
            <a:r>
              <a:t>TECHNICAL LEARNINGS</a:t>
            </a:r>
          </a:p>
        </p:txBody>
      </p:sp>
      <p:sp>
        <p:nvSpPr>
          <p:cNvPr id="11" name="TextBox 10"/>
          <p:cNvSpPr txBox="1"/>
          <p:nvPr/>
        </p:nvSpPr>
        <p:spPr>
          <a:xfrm>
            <a:off x="914400" y="2057400"/>
            <a:ext cx="3017520" cy="4206240"/>
          </a:xfrm>
          <a:prstGeom prst="rect">
            <a:avLst/>
          </a:prstGeom>
          <a:noFill/>
        </p:spPr>
        <p:txBody>
          <a:bodyPr wrap="square">
            <a:spAutoFit/>
          </a:bodyPr>
          <a:lstStyle/>
          <a:p>
            <a:pPr>
              <a:spcAft>
                <a:spcPts val="1400"/>
              </a:spcAft>
              <a:defRPr sz="1200">
                <a:solidFill>
                  <a:srgbClr val="334155"/>
                </a:solidFill>
              </a:defRPr>
            </a:pPr>
            <a:r>
              <a:t>•  Engineered autonomous agents that perform deterministic business actions.</a:t>
            </a:r>
          </a:p>
          <a:p>
            <a:pPr>
              <a:spcAft>
                <a:spcPts val="1400"/>
              </a:spcAft>
              <a:defRPr sz="1200">
                <a:solidFill>
                  <a:srgbClr val="334155"/>
                </a:solidFill>
              </a:defRPr>
            </a:pPr>
            <a:r>
              <a:t>•  Learned how to reliably parse unstructured, messy resume text.</a:t>
            </a:r>
          </a:p>
          <a:p>
            <a:pPr>
              <a:spcAft>
                <a:spcPts val="1400"/>
              </a:spcAft>
              <a:defRPr sz="1200">
                <a:solidFill>
                  <a:srgbClr val="334155"/>
                </a:solidFill>
              </a:defRPr>
            </a:pPr>
            <a:r>
              <a:t>•  Implemented real-time client-side PII masking and access control.</a:t>
            </a:r>
          </a:p>
          <a:p>
            <a:pPr>
              <a:spcAft>
                <a:spcPts val="1400"/>
              </a:spcAft>
              <a:defRPr sz="1200">
                <a:solidFill>
                  <a:srgbClr val="334155"/>
                </a:solidFill>
              </a:defRPr>
            </a:pPr>
            <a:r>
              <a:t>•  Mastered modern Git workflows, GitHub Actions CI/CD, and static hosting.</a:t>
            </a:r>
          </a:p>
        </p:txBody>
      </p:sp>
      <p:sp>
        <p:nvSpPr>
          <p:cNvPr id="12" name="Rounded Rectangle 11"/>
          <p:cNvSpPr/>
          <p:nvPr/>
        </p:nvSpPr>
        <p:spPr>
          <a:xfrm>
            <a:off x="4389120" y="1463040"/>
            <a:ext cx="3383280"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89120" y="1463040"/>
            <a:ext cx="338328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463040"/>
            <a:ext cx="109728"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1536192"/>
            <a:ext cx="3063240" cy="365760"/>
          </a:xfrm>
          <a:prstGeom prst="rect">
            <a:avLst/>
          </a:prstGeom>
          <a:noFill/>
        </p:spPr>
        <p:txBody>
          <a:bodyPr wrap="none">
            <a:spAutoFit/>
          </a:bodyPr>
          <a:lstStyle/>
          <a:p>
            <a:pPr>
              <a:defRPr sz="1100" b="1">
                <a:solidFill>
                  <a:srgbClr val="0D9488"/>
                </a:solidFill>
              </a:defRPr>
            </a:pPr>
            <a:r>
              <a:t>PROFESSIONAL GROWTH</a:t>
            </a:r>
          </a:p>
        </p:txBody>
      </p:sp>
      <p:sp>
        <p:nvSpPr>
          <p:cNvPr id="16" name="TextBox 15"/>
          <p:cNvSpPr txBox="1"/>
          <p:nvPr/>
        </p:nvSpPr>
        <p:spPr>
          <a:xfrm>
            <a:off x="4572000" y="2057400"/>
            <a:ext cx="3017520" cy="4206240"/>
          </a:xfrm>
          <a:prstGeom prst="rect">
            <a:avLst/>
          </a:prstGeom>
          <a:noFill/>
        </p:spPr>
        <p:txBody>
          <a:bodyPr wrap="square">
            <a:spAutoFit/>
          </a:bodyPr>
          <a:lstStyle/>
          <a:p>
            <a:pPr>
              <a:spcAft>
                <a:spcPts val="1400"/>
              </a:spcAft>
              <a:defRPr sz="1200">
                <a:solidFill>
                  <a:srgbClr val="334155"/>
                </a:solidFill>
              </a:defRPr>
            </a:pPr>
            <a:r>
              <a:t>•  Learned that user trust and data privacy matter just as much as AI accuracy.</a:t>
            </a:r>
          </a:p>
          <a:p>
            <a:pPr>
              <a:spcAft>
                <a:spcPts val="1400"/>
              </a:spcAft>
              <a:defRPr sz="1200">
                <a:solidFill>
                  <a:srgbClr val="334155"/>
                </a:solidFill>
              </a:defRPr>
            </a:pPr>
            <a:r>
              <a:t>•  Gained practical appreciation for corporate compliance (SOC-2/GDPR).</a:t>
            </a:r>
          </a:p>
          <a:p>
            <a:pPr>
              <a:spcAft>
                <a:spcPts val="1400"/>
              </a:spcAft>
              <a:defRPr sz="1200">
                <a:solidFill>
                  <a:srgbClr val="334155"/>
                </a:solidFill>
              </a:defRPr>
            </a:pPr>
            <a:r>
              <a:t>•  Broke down complex business problems into manageable weekly milestones.</a:t>
            </a:r>
          </a:p>
          <a:p>
            <a:pPr>
              <a:spcAft>
                <a:spcPts val="1400"/>
              </a:spcAft>
              <a:defRPr sz="1200">
                <a:solidFill>
                  <a:srgbClr val="334155"/>
                </a:solidFill>
              </a:defRPr>
            </a:pPr>
            <a:r>
              <a:t>•  Built confidence in demonstrating technical software to evaluators.</a:t>
            </a:r>
          </a:p>
        </p:txBody>
      </p:sp>
      <p:sp>
        <p:nvSpPr>
          <p:cNvPr id="17" name="Rounded Rectangle 16"/>
          <p:cNvSpPr/>
          <p:nvPr/>
        </p:nvSpPr>
        <p:spPr>
          <a:xfrm>
            <a:off x="8046720" y="1463040"/>
            <a:ext cx="3383280"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46720" y="1463040"/>
            <a:ext cx="3383280" cy="5029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463040"/>
            <a:ext cx="109728" cy="5029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536192"/>
            <a:ext cx="3063240" cy="365760"/>
          </a:xfrm>
          <a:prstGeom prst="rect">
            <a:avLst/>
          </a:prstGeom>
          <a:noFill/>
        </p:spPr>
        <p:txBody>
          <a:bodyPr wrap="none">
            <a:spAutoFit/>
          </a:bodyPr>
          <a:lstStyle/>
          <a:p>
            <a:pPr>
              <a:defRPr sz="1100" b="1">
                <a:solidFill>
                  <a:srgbClr val="D97706"/>
                </a:solidFill>
              </a:defRPr>
            </a:pPr>
            <a:r>
              <a:t>FUTURE ENHANCEMENTS</a:t>
            </a:r>
          </a:p>
        </p:txBody>
      </p:sp>
      <p:sp>
        <p:nvSpPr>
          <p:cNvPr id="21" name="TextBox 20"/>
          <p:cNvSpPr txBox="1"/>
          <p:nvPr/>
        </p:nvSpPr>
        <p:spPr>
          <a:xfrm>
            <a:off x="8229600" y="2057400"/>
            <a:ext cx="3017520" cy="4206240"/>
          </a:xfrm>
          <a:prstGeom prst="rect">
            <a:avLst/>
          </a:prstGeom>
          <a:noFill/>
        </p:spPr>
        <p:txBody>
          <a:bodyPr wrap="square">
            <a:spAutoFit/>
          </a:bodyPr>
          <a:lstStyle/>
          <a:p>
            <a:pPr>
              <a:spcAft>
                <a:spcPts val="1400"/>
              </a:spcAft>
              <a:defRPr sz="1200">
                <a:solidFill>
                  <a:srgbClr val="334155"/>
                </a:solidFill>
              </a:defRPr>
            </a:pPr>
            <a:r>
              <a:t>•  Multi-language CV translation and screening support.</a:t>
            </a:r>
          </a:p>
          <a:p>
            <a:pPr>
              <a:spcAft>
                <a:spcPts val="1400"/>
              </a:spcAft>
              <a:defRPr sz="1200">
                <a:solidFill>
                  <a:srgbClr val="334155"/>
                </a:solidFill>
              </a:defRPr>
            </a:pPr>
            <a:r>
              <a:t>•  Direct integration with enterprise HR platforms (Workday, Greenhouse).</a:t>
            </a:r>
          </a:p>
          <a:p>
            <a:pPr>
              <a:spcAft>
                <a:spcPts val="1400"/>
              </a:spcAft>
              <a:defRPr sz="1200">
                <a:solidFill>
                  <a:srgbClr val="334155"/>
                </a:solidFill>
              </a:defRPr>
            </a:pPr>
            <a:r>
              <a:t>•  Voice input allowing recruiters to dictate commands hands-free.</a:t>
            </a:r>
          </a:p>
          <a:p>
            <a:pPr>
              <a:spcAft>
                <a:spcPts val="1400"/>
              </a:spcAft>
              <a:defRPr sz="1200">
                <a:solidFill>
                  <a:srgbClr val="334155"/>
                </a:solidFill>
              </a:defRPr>
            </a:pPr>
            <a:r>
              <a:t>•  Automated calendar syncing for direct interview scheduling.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