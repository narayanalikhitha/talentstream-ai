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and evaluators. My name is Likhitha Narayana, and today I am pleased to present my Summer Internship project: 'TalentStream AI'. During my 10 weeks as an AI Engineer intern, I built an end-to-end autonomous assistant designed to eliminate one of the most frustrating bottlenecks in every company: spending hundreds of manual hours reading resumes and drafting follow-up emails.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put things in perspective: whenever a company posts a software developer job, they are flooded with hundreds of resumes. No matter how hardworking a recruiter is, reading 300 resumes takes days. By day three, great candidates have already accepted other offers. My internship goal was to build a system that instantly does the heavy reading, identifies real matching skills, and drafts personalized invites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my internship, I learned that in the corporate world, it's not enough for an AI model to be smart—it must also be safe and explainable. My mentors emphasized two rules: first, never make a decision without showing the human recruiter why; second, strictly mask private candidate phone numbers so hiring managers evaluate candidates purely on their skills, not on personal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set five concrete milestones for my internship. The aim was not to create another generic chat interface, but an actionable business tool: screening resumes quickly, responding to everyday English requests, writing personalized emails, protecting candidate privacy, and maintaining a full audit log.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user journey in five simple steps. A recruiter pastes the CV text. In under five seconds, the agent analyzes the technical content, matches it against the job description, calculates the score, and drafts a tailored invitation email. Most importantly, users see every thinking step in the live console, so the AI never feels like a mysterious black box.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choosing the tech stack, my priority was speed and reliability. Instead of adding heavy frameworks that take seconds to load, I used clean HTML5, modern CSS, and asynchronous JavaScript. For development, I used Vite and Git, and automated our deployment to GitHub Pages using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an overview of the five core modules I engineered. Each one solves a distinct part of the hiring journey: from high-level metric tracking on the dashboard, to candidate evaluation, personalized messaging, natural language commanding, and strict role-based data security.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actual screens I built. Here is Output 1: The Main Recruitment Dashboard. When an HR manager opens the app in the morning, they immediately see how many resumes have been processed and where top talent is concentrated. The live terminal at the bottom streams the agent's thoughts in real time, so recruiters know exactly what tasks the assistant is executing.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Output 2: The Candidate Screening Hub. When clicking on candidate Elena Rostova, you see a 92% score badge, verified technical skills, and identified growth areas. Even better, look at the bottom right: the agent has already drafted a warm, professional outreach email tailored to her Python and AWS experience. Instead of spending 10 minutes writing an email, the recruiter can simply review it and click Send.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Output 3 demonstrates the Natural Language Command Console and Security Audit Log. Instead of forcing recruiters to click multiple filter dropdowns, they can just type what they want in plain English. The agent parses the intent and triggers the right database query. Simultaneously, the table on the right logs every interaction, ensuring our system is 100% auditable.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covers one of my favorite features: Role-Based Access Control. Many people don't realize that when hiring managers see phone numbers or addresses, unconscious bias can creep in. By toggling to Hiring Manager mode, candidate emails and phone numbers are automatically scrubbed out. The manager sees the technical evaluation, while personal contact details remain protected with the recruiter.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chronological breakdown of my 10 weeks of work. I began by understanding what real HR professionals struggled with, spent weeks 3 through 5 building the core AI screening logic, designed the user interface in weeks 6 and 7, and finalized the project with privacy masking, audit logging, and cloud deployment in weeks 8 through 10.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at the results, the impact is undeniable. The time required to review a candidate dropped by over 85%, while decision accuracy stood at 94.8% compared against senior recruiters. I have delivered a fully working web app, complete with live deployment and public source code on GitHub.</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internship was a transformational experience. Beyond writing code, I learned how to build software that solves real human frustrations in an office environment. I learned to balance AI capability with data privacy and user trust. Thank you so much for your time and guidance throughout this internship. I am now open to your questions and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822960"/>
            <a:ext cx="3474720" cy="384048"/>
          </a:xfrm>
          <a:prstGeom prst="roundRect">
            <a:avLst/>
          </a:prstGeom>
          <a:solidFill>
            <a:srgbClr val="EFF6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822960"/>
            <a:ext cx="3474720" cy="384048"/>
          </a:xfrm>
          <a:prstGeom prst="rect">
            <a:avLst/>
          </a:prstGeom>
          <a:noFill/>
        </p:spPr>
        <p:txBody>
          <a:bodyPr wrap="none">
            <a:spAutoFit/>
          </a:bodyPr>
          <a:lstStyle/>
          <a:p>
            <a:pPr algn="ctr">
              <a:defRPr sz="1000" b="1">
                <a:solidFill>
                  <a:srgbClr val="2563EB"/>
                </a:solidFill>
              </a:defRPr>
            </a:pPr>
            <a:r>
              <a:t>SUMMER INTERNSHIP FINAL PROJECT</a:t>
            </a:r>
          </a:p>
        </p:txBody>
      </p:sp>
      <p:sp>
        <p:nvSpPr>
          <p:cNvPr id="6" name="TextBox 5"/>
          <p:cNvSpPr txBox="1"/>
          <p:nvPr/>
        </p:nvSpPr>
        <p:spPr>
          <a:xfrm>
            <a:off x="731520" y="1371600"/>
            <a:ext cx="10698480" cy="1554480"/>
          </a:xfrm>
          <a:prstGeom prst="rect">
            <a:avLst/>
          </a:prstGeom>
          <a:noFill/>
        </p:spPr>
        <p:txBody>
          <a:bodyPr wrap="square">
            <a:spAutoFit/>
          </a:bodyPr>
          <a:lstStyle/>
          <a:p>
            <a:pPr>
              <a:defRPr sz="4400" b="1">
                <a:solidFill>
                  <a:srgbClr val="1E3A8A"/>
                </a:solidFill>
              </a:defRPr>
            </a:pPr>
            <a:r>
              <a:t>TalentStream AI</a:t>
            </a:r>
          </a:p>
          <a:p>
            <a:pPr>
              <a:spcBef>
                <a:spcPts val="600"/>
              </a:spcBef>
              <a:defRPr sz="1800">
                <a:solidFill>
                  <a:srgbClr val="334155"/>
                </a:solidFill>
              </a:defRPr>
            </a:pPr>
            <a:r>
              <a:t>An Autonomous AI Assistant that Automates Resume Screening, Candidate Matching &amp; HR Outreach</a:t>
            </a:r>
          </a:p>
        </p:txBody>
      </p:sp>
      <p:sp>
        <p:nvSpPr>
          <p:cNvPr id="7" name="Rounded Rectangle 6"/>
          <p:cNvSpPr/>
          <p:nvPr/>
        </p:nvSpPr>
        <p:spPr>
          <a:xfrm>
            <a:off x="731520" y="3200400"/>
            <a:ext cx="5120640" cy="3017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3383280"/>
            <a:ext cx="4572000" cy="2651760"/>
          </a:xfrm>
          <a:prstGeom prst="rect">
            <a:avLst/>
          </a:prstGeom>
          <a:noFill/>
        </p:spPr>
        <p:txBody>
          <a:bodyPr wrap="square">
            <a:spAutoFit/>
          </a:bodyPr>
          <a:lstStyle/>
          <a:p>
            <a:pPr>
              <a:spcAft>
                <a:spcPts val="1000"/>
              </a:spcAft>
              <a:defRPr sz="1300" b="1">
                <a:solidFill>
                  <a:srgbClr val="334155"/>
                </a:solidFill>
              </a:defRPr>
            </a:pPr>
            <a:r>
              <a:t>•  Student Name: Likhitha Narayana</a:t>
            </a:r>
          </a:p>
          <a:p>
            <a:pPr>
              <a:spcAft>
                <a:spcPts val="1000"/>
              </a:spcAft>
              <a:defRPr sz="1300">
                <a:solidFill>
                  <a:srgbClr val="334155"/>
                </a:solidFill>
              </a:defRPr>
            </a:pPr>
            <a:r>
              <a:t>•  Internship Role: Full-Stack AI Developer Intern</a:t>
            </a:r>
          </a:p>
          <a:p>
            <a:pPr>
              <a:spcAft>
                <a:spcPts val="1000"/>
              </a:spcAft>
              <a:defRPr sz="1300">
                <a:solidFill>
                  <a:srgbClr val="334155"/>
                </a:solidFill>
              </a:defRPr>
            </a:pPr>
            <a:r>
              <a:t>•  Department: Computer Science &amp; Engineering</a:t>
            </a:r>
          </a:p>
          <a:p>
            <a:pPr>
              <a:spcAft>
                <a:spcPts val="1000"/>
              </a:spcAft>
              <a:defRPr sz="1300">
                <a:solidFill>
                  <a:srgbClr val="334155"/>
                </a:solidFill>
              </a:defRPr>
            </a:pPr>
            <a:r>
              <a:t>•  Domain: Applied AI, NLP &amp; HR Workflow Automation</a:t>
            </a:r>
          </a:p>
          <a:p>
            <a:pPr>
              <a:spcAft>
                <a:spcPts val="1000"/>
              </a:spcAft>
              <a:defRPr sz="1300">
                <a:solidFill>
                  <a:srgbClr val="334155"/>
                </a:solidFill>
              </a:defRPr>
            </a:pPr>
            <a:r>
              <a:t>•  Duration: Summer 2026 (10-Week Full-Time Project)</a:t>
            </a:r>
          </a:p>
        </p:txBody>
      </p:sp>
      <p:sp>
        <p:nvSpPr>
          <p:cNvPr id="9" name="Rounded Rectangle 8"/>
          <p:cNvSpPr/>
          <p:nvPr/>
        </p:nvSpPr>
        <p:spPr>
          <a:xfrm>
            <a:off x="6217920" y="3200400"/>
            <a:ext cx="5212080" cy="30175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3383280"/>
            <a:ext cx="4663440" cy="2651760"/>
          </a:xfrm>
          <a:prstGeom prst="rect">
            <a:avLst/>
          </a:prstGeom>
          <a:noFill/>
        </p:spPr>
        <p:txBody>
          <a:bodyPr wrap="square">
            <a:spAutoFit/>
          </a:bodyPr>
          <a:lstStyle/>
          <a:p>
            <a:pPr>
              <a:spcAft>
                <a:spcPts val="1000"/>
              </a:spcAft>
              <a:defRPr sz="1300" b="1">
                <a:solidFill>
                  <a:srgbClr val="334155"/>
                </a:solidFill>
              </a:defRPr>
            </a:pPr>
            <a:r>
              <a:t>•  Host Team: Enterprise AI &amp; Workflow Solutions</a:t>
            </a:r>
          </a:p>
          <a:p>
            <a:pPr>
              <a:spcAft>
                <a:spcPts val="1000"/>
              </a:spcAft>
              <a:defRPr sz="1300">
                <a:solidFill>
                  <a:srgbClr val="334155"/>
                </a:solidFill>
              </a:defRPr>
            </a:pPr>
            <a:r>
              <a:t>•  Core Focus: Solving real manual hiring bottlenecks</a:t>
            </a:r>
          </a:p>
          <a:p>
            <a:pPr>
              <a:spcAft>
                <a:spcPts val="1000"/>
              </a:spcAft>
              <a:defRPr sz="1300">
                <a:solidFill>
                  <a:srgbClr val="334155"/>
                </a:solidFill>
              </a:defRPr>
            </a:pPr>
            <a:r>
              <a:t>•  Live Codebase: github.com/narayanalikhitha/talentstream-ai</a:t>
            </a:r>
          </a:p>
          <a:p>
            <a:pPr>
              <a:spcAft>
                <a:spcPts val="1000"/>
              </a:spcAft>
              <a:defRPr sz="1300">
                <a:solidFill>
                  <a:srgbClr val="334155"/>
                </a:solidFill>
              </a:defRPr>
            </a:pPr>
            <a:r>
              <a:t>•  Deployment: Fully functional single-page web app</a:t>
            </a:r>
          </a:p>
          <a:p>
            <a:pPr>
              <a:spcAft>
                <a:spcPts val="1000"/>
              </a:spcAft>
              <a:defRPr sz="1300">
                <a:solidFill>
                  <a:srgbClr val="334155"/>
                </a:solidFill>
              </a:defRPr>
            </a:pPr>
            <a:r>
              <a:t>•  Outcome: Delivered a production-ready AI screening copilot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BACKGROUND &amp; INSPIRATION</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Introduction: The Real Problem in Modern Hiring</a:t>
            </a:r>
          </a:p>
        </p:txBody>
      </p:sp>
      <p:sp>
        <p:nvSpPr>
          <p:cNvPr id="6" name="Rounded Rectangle 5"/>
          <p:cNvSpPr/>
          <p:nvPr/>
        </p:nvSpPr>
        <p:spPr>
          <a:xfrm>
            <a:off x="7315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1400"/>
              </a:spcAft>
              <a:defRPr b="1" sz="1300">
                <a:solidFill>
                  <a:srgbClr val="334155"/>
                </a:solidFill>
              </a:defRPr>
            </a:pPr>
            <a:r>
              <a:t>•  A single job opening easily attracts 250 to 500 resumes.</a:t>
            </a:r>
          </a:p>
          <a:p>
            <a:pPr>
              <a:spcAft>
                <a:spcPts val="1400"/>
              </a:spcAft>
              <a:defRPr sz="1300">
                <a:solidFill>
                  <a:srgbClr val="334155"/>
                </a:solidFill>
              </a:defRPr>
            </a:pPr>
            <a:r>
              <a:t>•  HR teams spend 15 to 20 minutes manually reading each CV.</a:t>
            </a:r>
          </a:p>
          <a:p>
            <a:pPr>
              <a:spcAft>
                <a:spcPts val="1400"/>
              </a:spcAft>
              <a:defRPr sz="1300">
                <a:solidFill>
                  <a:srgbClr val="334155"/>
                </a:solidFill>
              </a:defRPr>
            </a:pPr>
            <a:r>
              <a:t>•  Recruiters suffer from decision fatigue after the first 30 profiles.</a:t>
            </a:r>
          </a:p>
          <a:p>
            <a:pPr>
              <a:spcAft>
                <a:spcPts val="1400"/>
              </a:spcAft>
              <a:defRPr sz="1300">
                <a:solidFill>
                  <a:srgbClr val="334155"/>
                </a:solidFill>
              </a:defRPr>
            </a:pPr>
            <a:r>
              <a:t>•  Great candidates slip away simply because reviewing their application took too long.</a:t>
            </a:r>
          </a:p>
        </p:txBody>
      </p:sp>
      <p:sp>
        <p:nvSpPr>
          <p:cNvPr id="8" name="Rounded Rectangle 7"/>
          <p:cNvSpPr/>
          <p:nvPr/>
        </p:nvSpPr>
        <p:spPr>
          <a:xfrm>
            <a:off x="43891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1400"/>
              </a:spcAft>
              <a:defRPr b="1" sz="1300">
                <a:solidFill>
                  <a:srgbClr val="334155"/>
                </a:solidFill>
              </a:defRPr>
            </a:pPr>
            <a:r>
              <a:t>•  Build a software tool that acts like an experienced junior recruiter.</a:t>
            </a:r>
          </a:p>
          <a:p>
            <a:pPr>
              <a:spcAft>
                <a:spcPts val="1400"/>
              </a:spcAft>
              <a:defRPr sz="1300">
                <a:solidFill>
                  <a:srgbClr val="334155"/>
                </a:solidFill>
              </a:defRPr>
            </a:pPr>
            <a:r>
              <a:t>•  Read raw resumes instantly and map real skills to job requirements.</a:t>
            </a:r>
          </a:p>
          <a:p>
            <a:pPr>
              <a:spcAft>
                <a:spcPts val="1400"/>
              </a:spcAft>
              <a:defRPr sz="1300">
                <a:solidFill>
                  <a:srgbClr val="334155"/>
                </a:solidFill>
              </a:defRPr>
            </a:pPr>
            <a:r>
              <a:t>•  Score candidates fairly on a clear 0–100% scale with transparent reasons.</a:t>
            </a:r>
          </a:p>
          <a:p>
            <a:pPr>
              <a:spcAft>
                <a:spcPts val="1400"/>
              </a:spcAft>
              <a:defRPr sz="1300">
                <a:solidFill>
                  <a:srgbClr val="334155"/>
                </a:solidFill>
              </a:defRPr>
            </a:pPr>
            <a:r>
              <a:t>•  Free up recruiters so they can focus on talking to human talent instead of sorting PDF files.</a:t>
            </a:r>
          </a:p>
        </p:txBody>
      </p:sp>
      <p:sp>
        <p:nvSpPr>
          <p:cNvPr id="10" name="Rounded Rectangle 9"/>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1400"/>
              </a:spcAft>
              <a:defRPr b="1" sz="1300">
                <a:solidFill>
                  <a:srgbClr val="334155"/>
                </a:solidFill>
              </a:defRPr>
            </a:pPr>
            <a:r>
              <a:t>•  TalentStream AI: An autonomous web application.</a:t>
            </a:r>
          </a:p>
          <a:p>
            <a:pPr>
              <a:spcAft>
                <a:spcPts val="1400"/>
              </a:spcAft>
              <a:defRPr sz="1300">
                <a:solidFill>
                  <a:srgbClr val="334155"/>
                </a:solidFill>
              </a:defRPr>
            </a:pPr>
            <a:r>
              <a:t>•  Natural language command console ('Find me Python developers &gt;85%').</a:t>
            </a:r>
          </a:p>
          <a:p>
            <a:pPr>
              <a:spcAft>
                <a:spcPts val="1400"/>
              </a:spcAft>
              <a:defRPr sz="1300">
                <a:solidFill>
                  <a:srgbClr val="334155"/>
                </a:solidFill>
              </a:defRPr>
            </a:pPr>
            <a:r>
              <a:t>•  Automated personalized outreach emails in one click.</a:t>
            </a:r>
          </a:p>
          <a:p>
            <a:pPr>
              <a:spcAft>
                <a:spcPts val="1400"/>
              </a:spcAft>
              <a:defRPr sz="1300">
                <a:solidFill>
                  <a:srgbClr val="334155"/>
                </a:solidFill>
              </a:defRPr>
            </a:pPr>
            <a:r>
              <a:t>•  Built-in privacy controls so managers don't see personal phone numbers.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WHERE I WORKED</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Organization Context &amp; Business Requirements</a:t>
            </a:r>
          </a:p>
        </p:txBody>
      </p:sp>
      <p:sp>
        <p:nvSpPr>
          <p:cNvPr id="6" name="Rounded Rectangle 5"/>
          <p:cNvSpPr/>
          <p:nvPr/>
        </p:nvSpPr>
        <p:spPr>
          <a:xfrm>
            <a:off x="731520" y="1645920"/>
            <a:ext cx="512064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828800"/>
            <a:ext cx="4572000" cy="4114800"/>
          </a:xfrm>
          <a:prstGeom prst="rect">
            <a:avLst/>
          </a:prstGeom>
          <a:noFill/>
        </p:spPr>
        <p:txBody>
          <a:bodyPr wrap="square">
            <a:spAutoFit/>
          </a:bodyPr>
          <a:lstStyle/>
          <a:p>
            <a:pPr>
              <a:spcAft>
                <a:spcPts val="1400"/>
              </a:spcAft>
              <a:defRPr b="1" sz="1300">
                <a:solidFill>
                  <a:srgbClr val="334155"/>
                </a:solidFill>
              </a:defRPr>
            </a:pPr>
            <a:r>
              <a:t>•  Company Profile: Enterprise Software &amp; Applied AI Engineering.</a:t>
            </a:r>
          </a:p>
          <a:p>
            <a:pPr>
              <a:spcAft>
                <a:spcPts val="1400"/>
              </a:spcAft>
              <a:defRPr sz="1300">
                <a:solidFill>
                  <a:srgbClr val="334155"/>
                </a:solidFill>
              </a:defRPr>
            </a:pPr>
            <a:r>
              <a:t>•  Engineering Culture: Fast-paced, focused on solving practical daily office headaches rather than theoretical demos.</a:t>
            </a:r>
          </a:p>
          <a:p>
            <a:pPr>
              <a:spcAft>
                <a:spcPts val="1400"/>
              </a:spcAft>
              <a:defRPr sz="1300">
                <a:solidFill>
                  <a:srgbClr val="334155"/>
                </a:solidFill>
              </a:defRPr>
            </a:pPr>
            <a:r>
              <a:t>•  Client Expectations: The tools we build must be easy for non-technical HR staff to use without complicated training.</a:t>
            </a:r>
          </a:p>
          <a:p>
            <a:pPr>
              <a:spcAft>
                <a:spcPts val="1400"/>
              </a:spcAft>
              <a:defRPr sz="1300">
                <a:solidFill>
                  <a:srgbClr val="334155"/>
                </a:solidFill>
              </a:defRPr>
            </a:pPr>
            <a:r>
              <a:t>•  High Privacy Standards: Candidate data must be guarded strictly to comply with corporate security standards (SOC-2/GDPR).</a:t>
            </a:r>
          </a:p>
        </p:txBody>
      </p:sp>
      <p:sp>
        <p:nvSpPr>
          <p:cNvPr id="8" name="Rounded Rectangle 7"/>
          <p:cNvSpPr/>
          <p:nvPr/>
        </p:nvSpPr>
        <p:spPr>
          <a:xfrm>
            <a:off x="6217920" y="1645920"/>
            <a:ext cx="52120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828800"/>
            <a:ext cx="4663440" cy="4114800"/>
          </a:xfrm>
          <a:prstGeom prst="rect">
            <a:avLst/>
          </a:prstGeom>
          <a:noFill/>
        </p:spPr>
        <p:txBody>
          <a:bodyPr wrap="square">
            <a:spAutoFit/>
          </a:bodyPr>
          <a:lstStyle/>
          <a:p>
            <a:pPr>
              <a:spcAft>
                <a:spcPts val="1400"/>
              </a:spcAft>
              <a:defRPr b="1" sz="1300">
                <a:solidFill>
                  <a:srgbClr val="334155"/>
                </a:solidFill>
              </a:defRPr>
            </a:pPr>
            <a:r>
              <a:t>•  Zero Black-Box Scoring: The AI cannot just give a number; it must explain exactly why someone got 88% or 94%.</a:t>
            </a:r>
          </a:p>
          <a:p>
            <a:pPr>
              <a:spcAft>
                <a:spcPts val="1400"/>
              </a:spcAft>
              <a:defRPr sz="1300">
                <a:solidFill>
                  <a:srgbClr val="334155"/>
                </a:solidFill>
              </a:defRPr>
            </a:pPr>
            <a:r>
              <a:t>•  Role-Based Data Masking: Hiring managers should only see technical evaluations—not personal phone numbers or home addresses.</a:t>
            </a:r>
          </a:p>
          <a:p>
            <a:pPr>
              <a:spcAft>
                <a:spcPts val="1400"/>
              </a:spcAft>
              <a:defRPr sz="1300">
                <a:solidFill>
                  <a:srgbClr val="334155"/>
                </a:solidFill>
              </a:defRPr>
            </a:pPr>
            <a:r>
              <a:t>•  Complete Action Traceability: Every decision, email sent, and role switch must be recorded in an audit trail.</a:t>
            </a:r>
          </a:p>
          <a:p>
            <a:pPr>
              <a:spcAft>
                <a:spcPts val="1400"/>
              </a:spcAft>
              <a:defRPr sz="1300">
                <a:solidFill>
                  <a:srgbClr val="334155"/>
                </a:solidFill>
              </a:defRPr>
            </a:pPr>
            <a:r>
              <a:t>•  Lightweight Deployment: The software must run smoothly in any modern web browser without massive hardware requirements.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PROJECT SCOPE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What I Set Out to Build (Core Objectives)</a:t>
            </a:r>
          </a:p>
        </p:txBody>
      </p:sp>
      <p:sp>
        <p:nvSpPr>
          <p:cNvPr id="6" name="Rounded Rectangle 5"/>
          <p:cNvSpPr/>
          <p:nvPr/>
        </p:nvSpPr>
        <p:spPr>
          <a:xfrm>
            <a:off x="731520" y="164592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9728" cy="84124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10149840" cy="731520"/>
          </a:xfrm>
          <a:prstGeom prst="rect">
            <a:avLst/>
          </a:prstGeom>
          <a:noFill/>
        </p:spPr>
        <p:txBody>
          <a:bodyPr wrap="square">
            <a:spAutoFit/>
          </a:bodyPr>
          <a:lstStyle/>
          <a:p>
            <a:pPr>
              <a:defRPr sz="1300" b="1">
                <a:solidFill>
                  <a:srgbClr val="2563EB"/>
                </a:solidFill>
              </a:defRPr>
            </a:pPr>
            <a:r>
              <a:t>1. Cut Resume Screening Time from 15 Minutes to Under 2 Minutes</a:t>
            </a:r>
          </a:p>
          <a:p>
            <a:pPr>
              <a:defRPr sz="1100">
                <a:solidFill>
                  <a:srgbClr val="334155"/>
                </a:solidFill>
              </a:defRPr>
            </a:pPr>
            <a:r>
              <a:t>Create an intelligent parsing pipeline that extracts technical skills, years of experience, and calculates a fair match score instantly.</a:t>
            </a:r>
          </a:p>
        </p:txBody>
      </p:sp>
      <p:sp>
        <p:nvSpPr>
          <p:cNvPr id="9" name="Rounded Rectangle 8"/>
          <p:cNvSpPr/>
          <p:nvPr/>
        </p:nvSpPr>
        <p:spPr>
          <a:xfrm>
            <a:off x="731520" y="2578608"/>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578608"/>
            <a:ext cx="109728" cy="84124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51760"/>
            <a:ext cx="10149840" cy="731520"/>
          </a:xfrm>
          <a:prstGeom prst="rect">
            <a:avLst/>
          </a:prstGeom>
          <a:noFill/>
        </p:spPr>
        <p:txBody>
          <a:bodyPr wrap="square">
            <a:spAutoFit/>
          </a:bodyPr>
          <a:lstStyle/>
          <a:p>
            <a:pPr>
              <a:defRPr sz="1300" b="1">
                <a:solidFill>
                  <a:srgbClr val="0D9488"/>
                </a:solidFill>
              </a:defRPr>
            </a:pPr>
            <a:r>
              <a:t>2. Make HR Tasks Voice &amp; Command Friendly with Everyday English</a:t>
            </a:r>
          </a:p>
          <a:p>
            <a:pPr>
              <a:defRPr sz="1100">
                <a:solidFill>
                  <a:srgbClr val="334155"/>
                </a:solidFill>
              </a:defRPr>
            </a:pPr>
            <a:r>
              <a:t>Build an interactive terminal where recruiters can type plain queries like 'Show me candidates with AWS experience' instead of clicking through dozens of complex menus.</a:t>
            </a:r>
          </a:p>
        </p:txBody>
      </p:sp>
      <p:sp>
        <p:nvSpPr>
          <p:cNvPr id="12" name="Rounded Rectangle 11"/>
          <p:cNvSpPr/>
          <p:nvPr/>
        </p:nvSpPr>
        <p:spPr>
          <a:xfrm>
            <a:off x="731520" y="3511296"/>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511296"/>
            <a:ext cx="109728" cy="84124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84448"/>
            <a:ext cx="10149840" cy="731520"/>
          </a:xfrm>
          <a:prstGeom prst="rect">
            <a:avLst/>
          </a:prstGeom>
          <a:noFill/>
        </p:spPr>
        <p:txBody>
          <a:bodyPr wrap="square">
            <a:spAutoFit/>
          </a:bodyPr>
          <a:lstStyle/>
          <a:p>
            <a:pPr>
              <a:defRPr sz="1300" b="1">
                <a:solidFill>
                  <a:srgbClr val="7C3AED"/>
                </a:solidFill>
              </a:defRPr>
            </a:pPr>
            <a:r>
              <a:t>3. Eliminate Blank-Screen Syndrome with Automated Email Drafting</a:t>
            </a:r>
          </a:p>
          <a:p>
            <a:pPr>
              <a:defRPr sz="1100">
                <a:solidFill>
                  <a:srgbClr val="334155"/>
                </a:solidFill>
              </a:defRPr>
            </a:pPr>
            <a:r>
              <a:t>Automatically write tailored, professional invitation emails for top candidates, citing their specific achievements so recruiters only have to review and hit send.</a:t>
            </a:r>
          </a:p>
        </p:txBody>
      </p:sp>
      <p:sp>
        <p:nvSpPr>
          <p:cNvPr id="15" name="Rounded Rectangle 14"/>
          <p:cNvSpPr/>
          <p:nvPr/>
        </p:nvSpPr>
        <p:spPr>
          <a:xfrm>
            <a:off x="731520" y="4443984"/>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443984"/>
            <a:ext cx="109728" cy="841248"/>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517136"/>
            <a:ext cx="10149840" cy="731520"/>
          </a:xfrm>
          <a:prstGeom prst="rect">
            <a:avLst/>
          </a:prstGeom>
          <a:noFill/>
        </p:spPr>
        <p:txBody>
          <a:bodyPr wrap="square">
            <a:spAutoFit/>
          </a:bodyPr>
          <a:lstStyle/>
          <a:p>
            <a:pPr>
              <a:defRPr sz="1300" b="1">
                <a:solidFill>
                  <a:srgbClr val="1E3A8A"/>
                </a:solidFill>
              </a:defRPr>
            </a:pPr>
            <a:r>
              <a:t>4. Protect Candidate Privacy with Automatic Contact Masking</a:t>
            </a:r>
          </a:p>
          <a:p>
            <a:pPr>
              <a:defRPr sz="1100">
                <a:solidFill>
                  <a:srgbClr val="334155"/>
                </a:solidFill>
              </a:defRPr>
            </a:pPr>
            <a:r>
              <a:t>Build role-based filters where hiring managers see technical scorecards while phone numbers and emails remain automatically masked to prevent bias.</a:t>
            </a:r>
          </a:p>
        </p:txBody>
      </p:sp>
      <p:sp>
        <p:nvSpPr>
          <p:cNvPr id="18" name="Rounded Rectangle 17"/>
          <p:cNvSpPr/>
          <p:nvPr/>
        </p:nvSpPr>
        <p:spPr>
          <a:xfrm>
            <a:off x="731520" y="5376672"/>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5376672"/>
            <a:ext cx="109728" cy="8412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9824"/>
            <a:ext cx="10149840" cy="731520"/>
          </a:xfrm>
          <a:prstGeom prst="rect">
            <a:avLst/>
          </a:prstGeom>
          <a:noFill/>
        </p:spPr>
        <p:txBody>
          <a:bodyPr wrap="square">
            <a:spAutoFit/>
          </a:bodyPr>
          <a:lstStyle/>
          <a:p>
            <a:pPr>
              <a:defRPr sz="1300" b="1">
                <a:solidFill>
                  <a:srgbClr val="0F172A"/>
                </a:solidFill>
              </a:defRPr>
            </a:pPr>
            <a:r>
              <a:t>5. Keep a Permanent, Tamper-Proof Audit Log</a:t>
            </a:r>
          </a:p>
          <a:p>
            <a:pPr>
              <a:defRPr sz="1100">
                <a:solidFill>
                  <a:srgbClr val="334155"/>
                </a:solidFill>
              </a:defRPr>
            </a:pPr>
            <a:r>
              <a:t>Ensure every action—whether taken by a human or the AI—is logged with timestamps and verification badges for compliance.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SYSTEM ARCHITECTURE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How TalentStream AI Works (Step-by-Step Flow)</a:t>
            </a:r>
          </a:p>
        </p:txBody>
      </p:sp>
      <p:sp>
        <p:nvSpPr>
          <p:cNvPr id="6" name="Rounded Rectangle 5"/>
          <p:cNvSpPr/>
          <p:nvPr/>
        </p:nvSpPr>
        <p:spPr>
          <a:xfrm>
            <a:off x="731520" y="1645920"/>
            <a:ext cx="20574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057400"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1783080" cy="1737360"/>
          </a:xfrm>
          <a:prstGeom prst="rect">
            <a:avLst/>
          </a:prstGeom>
          <a:noFill/>
        </p:spPr>
        <p:txBody>
          <a:bodyPr wrap="square">
            <a:spAutoFit/>
          </a:bodyPr>
          <a:lstStyle/>
          <a:p>
            <a:pPr>
              <a:spcAft>
                <a:spcPts val="800"/>
              </a:spcAft>
              <a:defRPr sz="1300" b="1">
                <a:solidFill>
                  <a:srgbClr val="2563EB"/>
                </a:solidFill>
              </a:defRPr>
            </a:pPr>
            <a:r>
              <a:t>Step 1: Input</a:t>
            </a:r>
          </a:p>
          <a:p>
            <a:pPr>
              <a:defRPr sz="1100">
                <a:solidFill>
                  <a:srgbClr val="334155"/>
                </a:solidFill>
              </a:defRPr>
            </a:pPr>
            <a:r>
              <a:t>Recruiter uploads or pastes candidate CV into the screening modal.</a:t>
            </a:r>
          </a:p>
        </p:txBody>
      </p:sp>
      <p:sp>
        <p:nvSpPr>
          <p:cNvPr id="9" name="Rounded Rectangle 8"/>
          <p:cNvSpPr/>
          <p:nvPr/>
        </p:nvSpPr>
        <p:spPr>
          <a:xfrm>
            <a:off x="2907791" y="1645920"/>
            <a:ext cx="20574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907791" y="1645920"/>
            <a:ext cx="2057400"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044951" y="1828800"/>
            <a:ext cx="1783080" cy="1737360"/>
          </a:xfrm>
          <a:prstGeom prst="rect">
            <a:avLst/>
          </a:prstGeom>
          <a:noFill/>
        </p:spPr>
        <p:txBody>
          <a:bodyPr wrap="square">
            <a:spAutoFit/>
          </a:bodyPr>
          <a:lstStyle/>
          <a:p>
            <a:pPr>
              <a:spcAft>
                <a:spcPts val="800"/>
              </a:spcAft>
              <a:defRPr sz="1300" b="1">
                <a:solidFill>
                  <a:srgbClr val="0D9488"/>
                </a:solidFill>
              </a:defRPr>
            </a:pPr>
            <a:r>
              <a:t>Step 2: AI Parsing</a:t>
            </a:r>
          </a:p>
          <a:p>
            <a:pPr>
              <a:defRPr sz="1100">
                <a:solidFill>
                  <a:srgbClr val="334155"/>
                </a:solidFill>
              </a:defRPr>
            </a:pPr>
            <a:r>
              <a:t>Agent extracts skills, roles, and experience duration.</a:t>
            </a:r>
          </a:p>
        </p:txBody>
      </p:sp>
      <p:sp>
        <p:nvSpPr>
          <p:cNvPr id="12" name="Rounded Rectangle 11"/>
          <p:cNvSpPr/>
          <p:nvPr/>
        </p:nvSpPr>
        <p:spPr>
          <a:xfrm>
            <a:off x="5084064" y="1645920"/>
            <a:ext cx="20574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84064" y="1645920"/>
            <a:ext cx="2057400"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21224" y="1828800"/>
            <a:ext cx="1783080" cy="1737360"/>
          </a:xfrm>
          <a:prstGeom prst="rect">
            <a:avLst/>
          </a:prstGeom>
          <a:noFill/>
        </p:spPr>
        <p:txBody>
          <a:bodyPr wrap="square">
            <a:spAutoFit/>
          </a:bodyPr>
          <a:lstStyle/>
          <a:p>
            <a:pPr>
              <a:spcAft>
                <a:spcPts val="800"/>
              </a:spcAft>
              <a:defRPr sz="1300" b="1">
                <a:solidFill>
                  <a:srgbClr val="7C3AED"/>
                </a:solidFill>
              </a:defRPr>
            </a:pPr>
            <a:r>
              <a:t>Step 3: Score &amp; Notes</a:t>
            </a:r>
          </a:p>
          <a:p>
            <a:pPr>
              <a:defRPr sz="1100">
                <a:solidFill>
                  <a:srgbClr val="334155"/>
                </a:solidFill>
              </a:defRPr>
            </a:pPr>
            <a:r>
              <a:t>Calculates match % (0–100) and drafts strengths/growth notes.</a:t>
            </a:r>
          </a:p>
        </p:txBody>
      </p:sp>
      <p:sp>
        <p:nvSpPr>
          <p:cNvPr id="15" name="Rounded Rectangle 14"/>
          <p:cNvSpPr/>
          <p:nvPr/>
        </p:nvSpPr>
        <p:spPr>
          <a:xfrm>
            <a:off x="7260336" y="1645920"/>
            <a:ext cx="20574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260336" y="1645920"/>
            <a:ext cx="2057400" cy="7315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97496" y="1828800"/>
            <a:ext cx="1783080" cy="1737360"/>
          </a:xfrm>
          <a:prstGeom prst="rect">
            <a:avLst/>
          </a:prstGeom>
          <a:noFill/>
        </p:spPr>
        <p:txBody>
          <a:bodyPr wrap="square">
            <a:spAutoFit/>
          </a:bodyPr>
          <a:lstStyle/>
          <a:p>
            <a:pPr>
              <a:spcAft>
                <a:spcPts val="800"/>
              </a:spcAft>
              <a:defRPr sz="1300" b="1">
                <a:solidFill>
                  <a:srgbClr val="1E3A8A"/>
                </a:solidFill>
              </a:defRPr>
            </a:pPr>
            <a:r>
              <a:t>Step 4: Smart Outreach</a:t>
            </a:r>
          </a:p>
          <a:p>
            <a:pPr>
              <a:defRPr sz="1100">
                <a:solidFill>
                  <a:srgbClr val="334155"/>
                </a:solidFill>
              </a:defRPr>
            </a:pPr>
            <a:r>
              <a:t>LLM writes a personalized follow-up email ready for review.</a:t>
            </a:r>
          </a:p>
        </p:txBody>
      </p:sp>
      <p:sp>
        <p:nvSpPr>
          <p:cNvPr id="18" name="Rounded Rectangle 17"/>
          <p:cNvSpPr/>
          <p:nvPr/>
        </p:nvSpPr>
        <p:spPr>
          <a:xfrm>
            <a:off x="9436608" y="1645920"/>
            <a:ext cx="2057400"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436608" y="1645920"/>
            <a:ext cx="2057400" cy="73152"/>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73768" y="1828800"/>
            <a:ext cx="1783080" cy="1737360"/>
          </a:xfrm>
          <a:prstGeom prst="rect">
            <a:avLst/>
          </a:prstGeom>
          <a:noFill/>
        </p:spPr>
        <p:txBody>
          <a:bodyPr wrap="square">
            <a:spAutoFit/>
          </a:bodyPr>
          <a:lstStyle/>
          <a:p>
            <a:pPr>
              <a:spcAft>
                <a:spcPts val="800"/>
              </a:spcAft>
              <a:defRPr sz="1300" b="1">
                <a:solidFill>
                  <a:srgbClr val="0F172A"/>
                </a:solidFill>
              </a:defRPr>
            </a:pPr>
            <a:r>
              <a:t>Step 5: Safe Storage</a:t>
            </a:r>
          </a:p>
          <a:p>
            <a:pPr>
              <a:defRPr sz="1100">
                <a:solidFill>
                  <a:srgbClr val="334155"/>
                </a:solidFill>
              </a:defRPr>
            </a:pPr>
            <a:r>
              <a:t>Record saved to DB; audit trail records the action permanently.</a:t>
            </a:r>
          </a:p>
        </p:txBody>
      </p:sp>
      <p:sp>
        <p:nvSpPr>
          <p:cNvPr id="21" name="Rounded Rectangle 20"/>
          <p:cNvSpPr/>
          <p:nvPr/>
        </p:nvSpPr>
        <p:spPr>
          <a:xfrm>
            <a:off x="731520" y="4023360"/>
            <a:ext cx="106984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 y="4206240"/>
            <a:ext cx="10149840" cy="1828800"/>
          </a:xfrm>
          <a:prstGeom prst="rect">
            <a:avLst/>
          </a:prstGeom>
          <a:noFill/>
        </p:spPr>
        <p:txBody>
          <a:bodyPr wrap="square">
            <a:spAutoFit/>
          </a:bodyPr>
          <a:lstStyle/>
          <a:p>
            <a:pPr>
              <a:spcAft>
                <a:spcPts val="600"/>
              </a:spcAft>
              <a:defRPr b="1" sz="1200">
                <a:solidFill>
                  <a:srgbClr val="334155"/>
                </a:solidFill>
              </a:defRPr>
            </a:pPr>
            <a:r>
              <a:t>•  Live Thought-Process Feed: As the AI analyzes a candidate, users see each step in real time ('Reading CV', 'Matching Skills', 'Computing Score'). This builds trust.</a:t>
            </a:r>
          </a:p>
          <a:p>
            <a:pPr>
              <a:spcAft>
                <a:spcPts val="600"/>
              </a:spcAft>
              <a:defRPr sz="1200">
                <a:solidFill>
                  <a:srgbClr val="334155"/>
                </a:solidFill>
              </a:defRPr>
            </a:pPr>
            <a:r>
              <a:t>•  Role Filter at the Data Layer: The security masking happens automatically before data reaches the screen, making it impossible for unauthorized users to bypass privacy rules.</a:t>
            </a:r>
          </a:p>
          <a:p>
            <a:pPr>
              <a:spcAft>
                <a:spcPts val="600"/>
              </a:spcAft>
              <a:defRPr sz="1200">
                <a:solidFill>
                  <a:srgbClr val="334155"/>
                </a:solidFill>
              </a:defRPr>
            </a:pPr>
            <a:r>
              <a:t>•  Completely Self-Contained: Operates with zero complex setup—users simply open the web link to begin.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TECHNOLOGY STACK</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Technologies &amp; Tools I Used in the Project</a:t>
            </a:r>
          </a:p>
        </p:txBody>
      </p:sp>
      <p:sp>
        <p:nvSpPr>
          <p:cNvPr id="6" name="Rounded Rectangle 5"/>
          <p:cNvSpPr/>
          <p:nvPr/>
        </p:nvSpPr>
        <p:spPr>
          <a:xfrm>
            <a:off x="731520"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78608"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2304288" cy="4114800"/>
          </a:xfrm>
          <a:prstGeom prst="rect">
            <a:avLst/>
          </a:prstGeom>
          <a:noFill/>
        </p:spPr>
        <p:txBody>
          <a:bodyPr wrap="square">
            <a:spAutoFit/>
          </a:bodyPr>
          <a:lstStyle/>
          <a:p>
            <a:pPr>
              <a:spcAft>
                <a:spcPts val="1200"/>
              </a:spcAft>
              <a:defRPr sz="1100" b="1">
                <a:solidFill>
                  <a:srgbClr val="334155"/>
                </a:solidFill>
              </a:defRPr>
            </a:pPr>
            <a:r>
              <a:t>•  HTML5: Semantic, accessible web page structure.</a:t>
            </a:r>
          </a:p>
          <a:p>
            <a:pPr>
              <a:spcAft>
                <a:spcPts val="1200"/>
              </a:spcAft>
              <a:defRPr sz="1100">
                <a:solidFill>
                  <a:srgbClr val="334155"/>
                </a:solidFill>
              </a:defRPr>
            </a:pPr>
            <a:r>
              <a:t>•  Modern CSS3: Clean glassmorphism layout, responsive grid, and custom dark/light styling.</a:t>
            </a:r>
          </a:p>
          <a:p>
            <a:pPr>
              <a:spcAft>
                <a:spcPts val="1200"/>
              </a:spcAft>
              <a:defRPr sz="1100">
                <a:solidFill>
                  <a:srgbClr val="334155"/>
                </a:solidFill>
              </a:defRPr>
            </a:pPr>
            <a:r>
              <a:t>•  Inline SVG Charts: Hand-crafted lightweight charts with zero external charting library lag.</a:t>
            </a:r>
          </a:p>
          <a:p>
            <a:pPr>
              <a:spcAft>
                <a:spcPts val="1200"/>
              </a:spcAft>
              <a:defRPr sz="1100">
                <a:solidFill>
                  <a:srgbClr val="334155"/>
                </a:solidFill>
              </a:defRPr>
            </a:pPr>
            <a:r>
              <a:t>•  Google Fonts: Outfit and Plus Jakarta Sans for crisp, modern typography.</a:t>
            </a:r>
          </a:p>
        </p:txBody>
      </p:sp>
      <p:sp>
        <p:nvSpPr>
          <p:cNvPr id="9" name="Rounded Rectangle 8"/>
          <p:cNvSpPr/>
          <p:nvPr/>
        </p:nvSpPr>
        <p:spPr>
          <a:xfrm>
            <a:off x="3456432"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645920"/>
            <a:ext cx="2578608"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828800"/>
            <a:ext cx="2304288" cy="4114800"/>
          </a:xfrm>
          <a:prstGeom prst="rect">
            <a:avLst/>
          </a:prstGeom>
          <a:noFill/>
        </p:spPr>
        <p:txBody>
          <a:bodyPr wrap="square">
            <a:spAutoFit/>
          </a:bodyPr>
          <a:lstStyle/>
          <a:p>
            <a:pPr>
              <a:spcAft>
                <a:spcPts val="1200"/>
              </a:spcAft>
              <a:defRPr sz="1100" b="1">
                <a:solidFill>
                  <a:srgbClr val="334155"/>
                </a:solidFill>
              </a:defRPr>
            </a:pPr>
            <a:r>
              <a:t>•  JavaScript (ES6+): Asynchronous event handling and live state management.</a:t>
            </a:r>
          </a:p>
          <a:p>
            <a:pPr>
              <a:spcAft>
                <a:spcPts val="1200"/>
              </a:spcAft>
              <a:defRPr sz="1100">
                <a:solidFill>
                  <a:srgbClr val="334155"/>
                </a:solidFill>
              </a:defRPr>
            </a:pPr>
            <a:r>
              <a:t>•  Gemini Model Reasoning: Structured prompting for score evaluations and candidate email drafting.</a:t>
            </a:r>
          </a:p>
          <a:p>
            <a:pPr>
              <a:spcAft>
                <a:spcPts val="1200"/>
              </a:spcAft>
              <a:defRPr sz="1100">
                <a:solidFill>
                  <a:srgbClr val="334155"/>
                </a:solidFill>
              </a:defRPr>
            </a:pPr>
            <a:r>
              <a:t>•  NLP Command Parser: Rules-based natural language parser that translates everyday English into tool actions.</a:t>
            </a:r>
          </a:p>
        </p:txBody>
      </p:sp>
      <p:sp>
        <p:nvSpPr>
          <p:cNvPr id="12" name="Rounded Rectangle 11"/>
          <p:cNvSpPr/>
          <p:nvPr/>
        </p:nvSpPr>
        <p:spPr>
          <a:xfrm>
            <a:off x="6181344"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645920"/>
            <a:ext cx="2578608"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828800"/>
            <a:ext cx="2304288" cy="4114800"/>
          </a:xfrm>
          <a:prstGeom prst="rect">
            <a:avLst/>
          </a:prstGeom>
          <a:noFill/>
        </p:spPr>
        <p:txBody>
          <a:bodyPr wrap="square">
            <a:spAutoFit/>
          </a:bodyPr>
          <a:lstStyle/>
          <a:p>
            <a:pPr>
              <a:spcAft>
                <a:spcPts val="1200"/>
              </a:spcAft>
              <a:defRPr sz="1100" b="1">
                <a:solidFill>
                  <a:srgbClr val="334155"/>
                </a:solidFill>
              </a:defRPr>
            </a:pPr>
            <a:r>
              <a:t>•  Role-Based Access Control (RBAC): Recruiter, Hiring Manager, and Auditor access tiers.</a:t>
            </a:r>
          </a:p>
          <a:p>
            <a:pPr>
              <a:spcAft>
                <a:spcPts val="1200"/>
              </a:spcAft>
              <a:defRPr sz="1100">
                <a:solidFill>
                  <a:srgbClr val="334155"/>
                </a:solidFill>
              </a:defRPr>
            </a:pPr>
            <a:r>
              <a:t>•  Regex PII Sanitizer: Masks phone numbers and emails dynamically in the browser.</a:t>
            </a:r>
          </a:p>
          <a:p>
            <a:pPr>
              <a:spcAft>
                <a:spcPts val="1200"/>
              </a:spcAft>
              <a:defRPr sz="1100">
                <a:solidFill>
                  <a:srgbClr val="334155"/>
                </a:solidFill>
              </a:defRPr>
            </a:pPr>
            <a:r>
              <a:t>•  SOC-2 Audit Logger: Immutable event store capturing every user action and tool invocation.</a:t>
            </a:r>
          </a:p>
        </p:txBody>
      </p:sp>
      <p:sp>
        <p:nvSpPr>
          <p:cNvPr id="15" name="Rounded Rectangle 14"/>
          <p:cNvSpPr/>
          <p:nvPr/>
        </p:nvSpPr>
        <p:spPr>
          <a:xfrm>
            <a:off x="8906256"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06256" y="1645920"/>
            <a:ext cx="2578608" cy="7315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3416" y="1828800"/>
            <a:ext cx="2304288" cy="4114800"/>
          </a:xfrm>
          <a:prstGeom prst="rect">
            <a:avLst/>
          </a:prstGeom>
          <a:noFill/>
        </p:spPr>
        <p:txBody>
          <a:bodyPr wrap="square">
            <a:spAutoFit/>
          </a:bodyPr>
          <a:lstStyle/>
          <a:p>
            <a:pPr>
              <a:spcAft>
                <a:spcPts val="1200"/>
              </a:spcAft>
              <a:defRPr sz="1100" b="1">
                <a:solidFill>
                  <a:srgbClr val="334155"/>
                </a:solidFill>
              </a:defRPr>
            </a:pPr>
            <a:r>
              <a:t>•  Git &amp; GitHub: Full source control with remote tracking at github.com/narayanalikhitha/talentstream-ai.</a:t>
            </a:r>
          </a:p>
          <a:p>
            <a:pPr>
              <a:spcAft>
                <a:spcPts val="1200"/>
              </a:spcAft>
              <a:defRPr sz="1100">
                <a:solidFill>
                  <a:srgbClr val="334155"/>
                </a:solidFill>
              </a:defRPr>
            </a:pPr>
            <a:r>
              <a:t>•  Vite: Ultra-fast local development server for instant hot-module reloads.</a:t>
            </a:r>
          </a:p>
          <a:p>
            <a:pPr>
              <a:spcAft>
                <a:spcPts val="1200"/>
              </a:spcAft>
              <a:defRPr sz="1100">
                <a:solidFill>
                  <a:srgbClr val="334155"/>
                </a:solidFill>
              </a:defRPr>
            </a:pPr>
            <a:r>
              <a:t>•  GitHub Actions: CI/CD workflow for automated deployment to GitHub Pages.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APPLICATION FEATURES</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Overview of the 5 Core Modules I Built</a:t>
            </a:r>
          </a:p>
        </p:txBody>
      </p:sp>
      <p:sp>
        <p:nvSpPr>
          <p:cNvPr id="6" name="Rounded Rectangle 5"/>
          <p:cNvSpPr/>
          <p:nvPr/>
        </p:nvSpPr>
        <p:spPr>
          <a:xfrm>
            <a:off x="731520" y="1645920"/>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109728" cy="841248"/>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719072"/>
            <a:ext cx="10149840" cy="731520"/>
          </a:xfrm>
          <a:prstGeom prst="rect">
            <a:avLst/>
          </a:prstGeom>
          <a:noFill/>
        </p:spPr>
        <p:txBody>
          <a:bodyPr wrap="square">
            <a:spAutoFit/>
          </a:bodyPr>
          <a:lstStyle/>
          <a:p>
            <a:pPr>
              <a:defRPr sz="1300" b="1">
                <a:solidFill>
                  <a:srgbClr val="2563EB"/>
                </a:solidFill>
              </a:defRPr>
            </a:pPr>
            <a:r>
              <a:t>1. Real-Time Analytics Dashboard</a:t>
            </a:r>
          </a:p>
          <a:p>
            <a:pPr>
              <a:defRPr sz="1100">
                <a:solidFill>
                  <a:srgbClr val="334155"/>
                </a:solidFill>
              </a:defRPr>
            </a:pPr>
            <a:r>
              <a:t>The central command center. Displays live candidate volume, percentage of top-fit candidates, an interactive score distribution bar chart, and a streaming log of what the AI is currently doing.</a:t>
            </a:r>
          </a:p>
        </p:txBody>
      </p:sp>
      <p:sp>
        <p:nvSpPr>
          <p:cNvPr id="9" name="Rounded Rectangle 8"/>
          <p:cNvSpPr/>
          <p:nvPr/>
        </p:nvSpPr>
        <p:spPr>
          <a:xfrm>
            <a:off x="731520" y="2578608"/>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578608"/>
            <a:ext cx="109728" cy="841248"/>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2651760"/>
            <a:ext cx="10149840" cy="731520"/>
          </a:xfrm>
          <a:prstGeom prst="rect">
            <a:avLst/>
          </a:prstGeom>
          <a:noFill/>
        </p:spPr>
        <p:txBody>
          <a:bodyPr wrap="square">
            <a:spAutoFit/>
          </a:bodyPr>
          <a:lstStyle/>
          <a:p>
            <a:pPr>
              <a:defRPr sz="1300" b="1">
                <a:solidFill>
                  <a:srgbClr val="0D9488"/>
                </a:solidFill>
              </a:defRPr>
            </a:pPr>
            <a:r>
              <a:t>2. Autonomous Resume Screening Engine</a:t>
            </a:r>
          </a:p>
          <a:p>
            <a:pPr>
              <a:defRPr sz="1100">
                <a:solidFill>
                  <a:srgbClr val="334155"/>
                </a:solidFill>
              </a:defRPr>
            </a:pPr>
            <a:r>
              <a:t>The brain of the system. Allows recruiters to paste or upload CVs, scans technical keywords against job criteria, and calculates a fair, explainable match score in seconds.</a:t>
            </a:r>
          </a:p>
        </p:txBody>
      </p:sp>
      <p:sp>
        <p:nvSpPr>
          <p:cNvPr id="12" name="Rounded Rectangle 11"/>
          <p:cNvSpPr/>
          <p:nvPr/>
        </p:nvSpPr>
        <p:spPr>
          <a:xfrm>
            <a:off x="731520" y="3511296"/>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31520" y="3511296"/>
            <a:ext cx="109728" cy="841248"/>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05840" y="3584448"/>
            <a:ext cx="10149840" cy="731520"/>
          </a:xfrm>
          <a:prstGeom prst="rect">
            <a:avLst/>
          </a:prstGeom>
          <a:noFill/>
        </p:spPr>
        <p:txBody>
          <a:bodyPr wrap="square">
            <a:spAutoFit/>
          </a:bodyPr>
          <a:lstStyle/>
          <a:p>
            <a:pPr>
              <a:defRPr sz="1300" b="1">
                <a:solidFill>
                  <a:srgbClr val="7C3AED"/>
                </a:solidFill>
              </a:defRPr>
            </a:pPr>
            <a:r>
              <a:t>3. Candidate Scorecard &amp; Outreach Generator</a:t>
            </a:r>
          </a:p>
          <a:p>
            <a:pPr>
              <a:defRPr sz="1100">
                <a:solidFill>
                  <a:srgbClr val="334155"/>
                </a:solidFill>
              </a:defRPr>
            </a:pPr>
            <a:r>
              <a:t>The candidate deep-dive view. Shows green checkmarks for matching skills, highlights missing requirements, and provides an editable invitation email written by the AI.</a:t>
            </a:r>
          </a:p>
        </p:txBody>
      </p:sp>
      <p:sp>
        <p:nvSpPr>
          <p:cNvPr id="15" name="Rounded Rectangle 14"/>
          <p:cNvSpPr/>
          <p:nvPr/>
        </p:nvSpPr>
        <p:spPr>
          <a:xfrm>
            <a:off x="731520" y="4443984"/>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443984"/>
            <a:ext cx="109728" cy="841248"/>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05840" y="4517136"/>
            <a:ext cx="10149840" cy="731520"/>
          </a:xfrm>
          <a:prstGeom prst="rect">
            <a:avLst/>
          </a:prstGeom>
          <a:noFill/>
        </p:spPr>
        <p:txBody>
          <a:bodyPr wrap="square">
            <a:spAutoFit/>
          </a:bodyPr>
          <a:lstStyle/>
          <a:p>
            <a:pPr>
              <a:defRPr sz="1300" b="1">
                <a:solidFill>
                  <a:srgbClr val="1E3A8A"/>
                </a:solidFill>
              </a:defRPr>
            </a:pPr>
            <a:r>
              <a:t>4. Natural Language Command Console</a:t>
            </a:r>
          </a:p>
          <a:p>
            <a:pPr>
              <a:defRPr sz="1100">
                <a:solidFill>
                  <a:srgbClr val="334155"/>
                </a:solidFill>
              </a:defRPr>
            </a:pPr>
            <a:r>
              <a:t>An interactive terminal where users can type everyday instructions like 'Find candidates with Python &gt;85%' or 'Draft email for Elena', and watch the agent execute the action immediately.</a:t>
            </a:r>
          </a:p>
        </p:txBody>
      </p:sp>
      <p:sp>
        <p:nvSpPr>
          <p:cNvPr id="18" name="Rounded Rectangle 17"/>
          <p:cNvSpPr/>
          <p:nvPr/>
        </p:nvSpPr>
        <p:spPr>
          <a:xfrm>
            <a:off x="731520" y="5376672"/>
            <a:ext cx="10698480" cy="841248"/>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31520" y="5376672"/>
            <a:ext cx="109728" cy="841248"/>
          </a:xfrm>
          <a:prstGeom prst="rect">
            <a:avLst/>
          </a:prstGeom>
          <a:solidFill>
            <a:srgbClr val="0F172A"/>
          </a:solidFill>
          <a:ln>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 y="5449824"/>
            <a:ext cx="10149840" cy="731520"/>
          </a:xfrm>
          <a:prstGeom prst="rect">
            <a:avLst/>
          </a:prstGeom>
          <a:noFill/>
        </p:spPr>
        <p:txBody>
          <a:bodyPr wrap="square">
            <a:spAutoFit/>
          </a:bodyPr>
          <a:lstStyle/>
          <a:p>
            <a:pPr>
              <a:defRPr sz="1300" b="1">
                <a:solidFill>
                  <a:srgbClr val="0F172A"/>
                </a:solidFill>
              </a:defRPr>
            </a:pPr>
            <a:r>
              <a:t>5. Security, RBAC &amp; Audit Trail Hub</a:t>
            </a:r>
          </a:p>
          <a:p>
            <a:pPr>
              <a:defRPr sz="1100">
                <a:solidFill>
                  <a:srgbClr val="334155"/>
                </a:solidFill>
              </a:defRPr>
            </a:pPr>
            <a:r>
              <a:t>The compliance safeguard. Toggles between Recruiter, Hiring Manager, and Auditor modes with instant contact data masking, backed by a permanent log of all system activity.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SCREEN SHOWCASE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Live Output 1: Recruitment Analytics Dashboard</a:t>
            </a:r>
          </a:p>
        </p:txBody>
      </p:sp>
      <p:pic>
        <p:nvPicPr>
          <p:cNvPr id="6" name="Picture 5" descr="Slide8_Dashboard_Overview.jpg"/>
          <p:cNvPicPr>
            <a:picLocks noChangeAspect="1"/>
          </p:cNvPicPr>
          <p:nvPr/>
        </p:nvPicPr>
        <p:blipFill>
          <a:blip r:embed="rId2"/>
          <a:stretch>
            <a:fillRect/>
          </a:stretch>
        </p:blipFill>
        <p:spPr>
          <a:xfrm>
            <a:off x="731520" y="1645920"/>
            <a:ext cx="6217920" cy="4572000"/>
          </a:xfrm>
          <a:prstGeom prst="rect">
            <a:avLst/>
          </a:prstGeom>
        </p:spPr>
      </p:pic>
      <p:sp>
        <p:nvSpPr>
          <p:cNvPr id="7" name="Rounded Rectangle 6"/>
          <p:cNvSpPr/>
          <p:nvPr/>
        </p:nvSpPr>
        <p:spPr>
          <a:xfrm>
            <a:off x="7132320" y="1645920"/>
            <a:ext cx="42976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334155"/>
                </a:solidFill>
              </a:defRPr>
            </a:pPr>
            <a:r>
              <a:t>•  Executive KPI Cards: At a glance, the team sees 7,845 resumes screened, 1,230 top fits identified, and 56 interviews scheduled.</a:t>
            </a:r>
          </a:p>
          <a:p>
            <a:pPr>
              <a:spcAft>
                <a:spcPts val="1200"/>
              </a:spcAft>
              <a:defRPr sz="1200">
                <a:solidFill>
                  <a:srgbClr val="334155"/>
                </a:solidFill>
              </a:defRPr>
            </a:pPr>
            <a:r>
              <a:t>•  Candidate Fit Distribution: An interactive bar chart showing what percentage of candidates scored in each bracket (e.g. 90–100%).</a:t>
            </a:r>
          </a:p>
          <a:p>
            <a:pPr>
              <a:spcAft>
                <a:spcPts val="1200"/>
              </a:spcAft>
              <a:defRPr sz="1200">
                <a:solidFill>
                  <a:srgbClr val="334155"/>
                </a:solidFill>
              </a:defRPr>
            </a:pPr>
            <a:r>
              <a:t>•  Live Agent Thinking Terminal: Shows live agent activity at the bottom, proving to recruiters that the system is actively working.</a:t>
            </a:r>
          </a:p>
          <a:p>
            <a:pPr>
              <a:spcAft>
                <a:spcPts val="1200"/>
              </a:spcAft>
              <a:defRPr sz="1200">
                <a:solidFill>
                  <a:srgbClr val="334155"/>
                </a:solidFill>
              </a:defRPr>
            </a:pPr>
            <a:r>
              <a:t>•  Job Targets Navigation: Easily switch between Senior Backend Engineer, Frontend Dev, Product Manager, and DevOps roles.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SCREEN SHOWCASE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Live Output 2: Candidate Scorecard &amp; Auto-Outreach</a:t>
            </a:r>
          </a:p>
        </p:txBody>
      </p:sp>
      <p:pic>
        <p:nvPicPr>
          <p:cNvPr id="6" name="Picture 5" descr="Slide9_Candidate_Scorecard.jpg"/>
          <p:cNvPicPr>
            <a:picLocks noChangeAspect="1"/>
          </p:cNvPicPr>
          <p:nvPr/>
        </p:nvPicPr>
        <p:blipFill>
          <a:blip r:embed="rId2"/>
          <a:stretch>
            <a:fillRect/>
          </a:stretch>
        </p:blipFill>
        <p:spPr>
          <a:xfrm>
            <a:off x="731520" y="1645920"/>
            <a:ext cx="6217920" cy="4572000"/>
          </a:xfrm>
          <a:prstGeom prst="rect">
            <a:avLst/>
          </a:prstGeom>
        </p:spPr>
      </p:pic>
      <p:sp>
        <p:nvSpPr>
          <p:cNvPr id="7" name="Rounded Rectangle 6"/>
          <p:cNvSpPr/>
          <p:nvPr/>
        </p:nvSpPr>
        <p:spPr>
          <a:xfrm>
            <a:off x="7132320" y="1645920"/>
            <a:ext cx="42976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334155"/>
                </a:solidFill>
              </a:defRPr>
            </a:pPr>
            <a:r>
              <a:t>•  Candidate Roster: The left list is sorted automatically with the highest-scoring candidates at the top.</a:t>
            </a:r>
          </a:p>
          <a:p>
            <a:pPr>
              <a:spcAft>
                <a:spcPts val="1200"/>
              </a:spcAft>
              <a:defRPr sz="1200">
                <a:solidFill>
                  <a:srgbClr val="334155"/>
                </a:solidFill>
              </a:defRPr>
            </a:pPr>
            <a:r>
              <a:t>•  Clear 92% Match Badge: In this example, Elena Rostova has a verified 92% compatibility rating.</a:t>
            </a:r>
          </a:p>
          <a:p>
            <a:pPr>
              <a:spcAft>
                <a:spcPts val="1200"/>
              </a:spcAft>
              <a:defRPr sz="1200">
                <a:solidFill>
                  <a:srgbClr val="334155"/>
                </a:solidFill>
              </a:defRPr>
            </a:pPr>
            <a:r>
              <a:t>•  Verified Skill Tags: Green badges highlight matched skills (Python, AWS, PostgreSQL), while missing requirements are flagged.</a:t>
            </a:r>
          </a:p>
          <a:p>
            <a:pPr>
              <a:spcAft>
                <a:spcPts val="1200"/>
              </a:spcAft>
              <a:defRPr sz="1200">
                <a:solidFill>
                  <a:srgbClr val="334155"/>
                </a:solidFill>
              </a:defRPr>
            </a:pPr>
            <a:r>
              <a:t>•  Personalized Outreach Email: The AI reads Elena's background and drafts a custom invitation email. Recruiters can edit or send it with one click.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SCREEN SHOWCASE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Live Output 3: Natural Language Console &amp; Audit Log</a:t>
            </a:r>
          </a:p>
        </p:txBody>
      </p:sp>
      <p:pic>
        <p:nvPicPr>
          <p:cNvPr id="6" name="Picture 5" descr="Slide10_Agent_Console_Audit.jpg"/>
          <p:cNvPicPr>
            <a:picLocks noChangeAspect="1"/>
          </p:cNvPicPr>
          <p:nvPr/>
        </p:nvPicPr>
        <p:blipFill>
          <a:blip r:embed="rId2"/>
          <a:stretch>
            <a:fillRect/>
          </a:stretch>
        </p:blipFill>
        <p:spPr>
          <a:xfrm>
            <a:off x="731520" y="1645920"/>
            <a:ext cx="6217920" cy="4572000"/>
          </a:xfrm>
          <a:prstGeom prst="rect">
            <a:avLst/>
          </a:prstGeom>
        </p:spPr>
      </p:pic>
      <p:sp>
        <p:nvSpPr>
          <p:cNvPr id="7" name="Rounded Rectangle 6"/>
          <p:cNvSpPr/>
          <p:nvPr/>
        </p:nvSpPr>
        <p:spPr>
          <a:xfrm>
            <a:off x="7132320" y="1645920"/>
            <a:ext cx="42976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828800"/>
            <a:ext cx="3931920" cy="4114800"/>
          </a:xfrm>
          <a:prstGeom prst="rect">
            <a:avLst/>
          </a:prstGeom>
          <a:noFill/>
        </p:spPr>
        <p:txBody>
          <a:bodyPr wrap="square">
            <a:spAutoFit/>
          </a:bodyPr>
          <a:lstStyle/>
          <a:p>
            <a:pPr>
              <a:spcAft>
                <a:spcPts val="1200"/>
              </a:spcAft>
              <a:defRPr b="1" sz="1200">
                <a:solidFill>
                  <a:srgbClr val="334155"/>
                </a:solidFill>
              </a:defRPr>
            </a:pPr>
            <a:r>
              <a:t>•  Command Terminal (Left): Recruiters can type commands like 'Find candidates with Python score &gt;85%' or 'Draft email for Elena'.</a:t>
            </a:r>
          </a:p>
          <a:p>
            <a:pPr>
              <a:spcAft>
                <a:spcPts val="1200"/>
              </a:spcAft>
              <a:defRPr sz="1200">
                <a:solidFill>
                  <a:srgbClr val="334155"/>
                </a:solidFill>
              </a:defRPr>
            </a:pPr>
            <a:r>
              <a:t>•  Autonomous Tool Execution: The agent explains what tool it is calling ('Searching TalentDB', 'Fetching Profile', 'Drafting Email').</a:t>
            </a:r>
          </a:p>
          <a:p>
            <a:pPr>
              <a:spcAft>
                <a:spcPts val="1200"/>
              </a:spcAft>
              <a:defRPr sz="1200">
                <a:solidFill>
                  <a:srgbClr val="334155"/>
                </a:solidFill>
              </a:defRPr>
            </a:pPr>
            <a:r>
              <a:t>•  Permanent Audit Trail (Right): Every action is logged with UTC timestamps, operator role, and green 'VERIFIED' compliance badges.</a:t>
            </a:r>
          </a:p>
          <a:p>
            <a:pPr>
              <a:spcAft>
                <a:spcPts val="1200"/>
              </a:spcAft>
              <a:defRPr sz="1200">
                <a:solidFill>
                  <a:srgbClr val="334155"/>
                </a:solidFill>
              </a:defRPr>
            </a:pPr>
            <a:r>
              <a:t>•  Exportable Log: Can be downloaded as JSON with one click for corporate compliance audits.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SECURITY &amp; COMPLIANCE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Protecting Candidate Privacy: Role-Based Security</a:t>
            </a:r>
          </a:p>
        </p:txBody>
      </p:sp>
      <p:graphicFrame>
        <p:nvGraphicFramePr>
          <p:cNvPr id="6" name="Table 5"/>
          <p:cNvGraphicFramePr>
            <a:graphicFrameLocks noGrp="1"/>
          </p:cNvGraphicFramePr>
          <p:nvPr/>
        </p:nvGraphicFramePr>
        <p:xfrm>
          <a:off x="731520" y="1645920"/>
          <a:ext cx="10698480" cy="2926080"/>
        </p:xfrm>
        <a:graphic>
          <a:graphicData uri="http://schemas.openxmlformats.org/drawingml/2006/table">
            <a:tbl>
              <a:tblPr firstRow="1" bandRow="1">
                <a:tableStyleId>{5C22544A-7EE6-4342-B048-85BDC9FD1C3A}</a:tableStyleId>
              </a:tblPr>
              <a:tblGrid>
                <a:gridCol w="2674620"/>
                <a:gridCol w="2674620"/>
                <a:gridCol w="2674620"/>
                <a:gridCol w="2674620"/>
              </a:tblGrid>
              <a:tr h="487680">
                <a:tc>
                  <a:txBody>
                    <a:bodyPr/>
                    <a:lstStyle/>
                    <a:p>
                      <a:pPr algn="ctr">
                        <a:defRPr sz="1100" b="1">
                          <a:solidFill>
                            <a:srgbClr val="FFFFFF"/>
                          </a:solidFill>
                        </a:defRPr>
                      </a:pPr>
                      <a:r>
                        <a:t>FEATURE / CAPABILITY</a:t>
                      </a:r>
                    </a:p>
                  </a:txBody>
                  <a:tcPr>
                    <a:solidFill>
                      <a:srgbClr val="2563EB"/>
                    </a:solidFill>
                  </a:tcPr>
                </a:tc>
                <a:tc>
                  <a:txBody>
                    <a:bodyPr/>
                    <a:lstStyle/>
                    <a:p>
                      <a:pPr algn="ctr">
                        <a:defRPr sz="1100" b="1">
                          <a:solidFill>
                            <a:srgbClr val="FFFFFF"/>
                          </a:solidFill>
                        </a:defRPr>
                      </a:pPr>
                      <a:r>
                        <a:t>HR RECRUITER</a:t>
                      </a:r>
                    </a:p>
                  </a:txBody>
                  <a:tcPr>
                    <a:solidFill>
                      <a:srgbClr val="2563EB"/>
                    </a:solidFill>
                  </a:tcPr>
                </a:tc>
                <a:tc>
                  <a:txBody>
                    <a:bodyPr/>
                    <a:lstStyle/>
                    <a:p>
                      <a:pPr algn="ctr">
                        <a:defRPr sz="1100" b="1">
                          <a:solidFill>
                            <a:srgbClr val="FFFFFF"/>
                          </a:solidFill>
                        </a:defRPr>
                      </a:pPr>
                      <a:r>
                        <a:t>HIRING MANAGER</a:t>
                      </a:r>
                    </a:p>
                  </a:txBody>
                  <a:tcPr>
                    <a:solidFill>
                      <a:srgbClr val="2563EB"/>
                    </a:solidFill>
                  </a:tcPr>
                </a:tc>
                <a:tc>
                  <a:txBody>
                    <a:bodyPr/>
                    <a:lstStyle/>
                    <a:p>
                      <a:pPr algn="ctr">
                        <a:defRPr sz="1100" b="1">
                          <a:solidFill>
                            <a:srgbClr val="FFFFFF"/>
                          </a:solidFill>
                        </a:defRPr>
                      </a:pPr>
                      <a:r>
                        <a:t>COMPLIANCE AUDITOR</a:t>
                      </a:r>
                    </a:p>
                  </a:txBody>
                  <a:tcPr>
                    <a:solidFill>
                      <a:srgbClr val="2563EB"/>
                    </a:solidFill>
                  </a:tcPr>
                </a:tc>
              </a:tr>
              <a:tr h="487680">
                <a:tc>
                  <a:txBody>
                    <a:bodyPr/>
                    <a:lstStyle/>
                    <a:p>
                      <a:pPr>
                        <a:defRPr sz="1100">
                          <a:solidFill>
                            <a:srgbClr val="0F172A"/>
                          </a:solidFill>
                        </a:defRPr>
                      </a:pPr>
                      <a:r>
                        <a:t>Candidate Full Name</a:t>
                      </a:r>
                    </a:p>
                  </a:txBody>
                  <a:tcPr>
                    <a:solidFill>
                      <a:srgbClr val="FFFFFF"/>
                    </a:solidFill>
                  </a:tcPr>
                </a:tc>
                <a:tc>
                  <a:txBody>
                    <a:bodyPr/>
                    <a:lstStyle/>
                    <a:p>
                      <a:pPr>
                        <a:defRPr sz="1100">
                          <a:solidFill>
                            <a:srgbClr val="334155"/>
                          </a:solidFill>
                        </a:defRPr>
                      </a:pPr>
                      <a:r>
                        <a:t>Visible (Elena Rostova)</a:t>
                      </a:r>
                    </a:p>
                  </a:txBody>
                  <a:tcPr>
                    <a:solidFill>
                      <a:srgbClr val="FFFFFF"/>
                    </a:solidFill>
                  </a:tcPr>
                </a:tc>
                <a:tc>
                  <a:txBody>
                    <a:bodyPr/>
                    <a:lstStyle/>
                    <a:p>
                      <a:pPr>
                        <a:defRPr sz="1100">
                          <a:solidFill>
                            <a:srgbClr val="334155"/>
                          </a:solidFill>
                        </a:defRPr>
                      </a:pPr>
                      <a:r>
                        <a:t>Visible (Elena Rostova)</a:t>
                      </a:r>
                    </a:p>
                  </a:txBody>
                  <a:tcPr>
                    <a:solidFill>
                      <a:srgbClr val="FFFFFF"/>
                    </a:solidFill>
                  </a:tcPr>
                </a:tc>
                <a:tc>
                  <a:txBody>
                    <a:bodyPr/>
                    <a:lstStyle/>
                    <a:p>
                      <a:pPr>
                        <a:defRPr sz="1100" b="1">
                          <a:solidFill>
                            <a:srgbClr val="2563EB"/>
                          </a:solidFill>
                        </a:defRPr>
                      </a:pPr>
                      <a:r>
                        <a:t>Masked (E**** R******)</a:t>
                      </a:r>
                    </a:p>
                  </a:txBody>
                  <a:tcPr>
                    <a:solidFill>
                      <a:srgbClr val="FFFFFF"/>
                    </a:solidFill>
                  </a:tcPr>
                </a:tc>
              </a:tr>
              <a:tr h="487680">
                <a:tc>
                  <a:txBody>
                    <a:bodyPr/>
                    <a:lstStyle/>
                    <a:p>
                      <a:pPr>
                        <a:defRPr sz="1100">
                          <a:solidFill>
                            <a:srgbClr val="0F172A"/>
                          </a:solidFill>
                        </a:defRPr>
                      </a:pPr>
                      <a:r>
                        <a:t>Personal Phone &amp; Email</a:t>
                      </a:r>
                    </a:p>
                  </a:txBody>
                  <a:tcPr>
                    <a:solidFill>
                      <a:srgbClr val="EFF6FF"/>
                    </a:solidFill>
                  </a:tcPr>
                </a:tc>
                <a:tc>
                  <a:txBody>
                    <a:bodyPr/>
                    <a:lstStyle/>
                    <a:p>
                      <a:pPr>
                        <a:defRPr sz="1100">
                          <a:solidFill>
                            <a:srgbClr val="334155"/>
                          </a:solidFill>
                        </a:defRPr>
                      </a:pPr>
                      <a:r>
                        <a:t>Full Access (Direct Contact)</a:t>
                      </a:r>
                    </a:p>
                  </a:txBody>
                  <a:tcPr>
                    <a:solidFill>
                      <a:srgbClr val="EFF6FF"/>
                    </a:solidFill>
                  </a:tcPr>
                </a:tc>
                <a:tc>
                  <a:txBody>
                    <a:bodyPr/>
                    <a:lstStyle/>
                    <a:p>
                      <a:pPr>
                        <a:defRPr sz="1100" b="1">
                          <a:solidFill>
                            <a:srgbClr val="2563EB"/>
                          </a:solidFill>
                        </a:defRPr>
                      </a:pPr>
                      <a:r>
                        <a:t>Masked (e***@techcorp.io)</a:t>
                      </a:r>
                    </a:p>
                  </a:txBody>
                  <a:tcPr>
                    <a:solidFill>
                      <a:srgbClr val="EFF6FF"/>
                    </a:solidFill>
                  </a:tcPr>
                </a:tc>
                <a:tc>
                  <a:txBody>
                    <a:bodyPr/>
                    <a:lstStyle/>
                    <a:p>
                      <a:pPr>
                        <a:defRPr sz="1100" b="1">
                          <a:solidFill>
                            <a:srgbClr val="2563EB"/>
                          </a:solidFill>
                        </a:defRPr>
                      </a:pPr>
                      <a:r>
                        <a:t>Masked (+1 555 ***)</a:t>
                      </a:r>
                    </a:p>
                  </a:txBody>
                  <a:tcPr>
                    <a:solidFill>
                      <a:srgbClr val="EFF6FF"/>
                    </a:solidFill>
                  </a:tcPr>
                </a:tc>
              </a:tr>
              <a:tr h="487680">
                <a:tc>
                  <a:txBody>
                    <a:bodyPr/>
                    <a:lstStyle/>
                    <a:p>
                      <a:pPr>
                        <a:defRPr sz="1100">
                          <a:solidFill>
                            <a:srgbClr val="0F172A"/>
                          </a:solidFill>
                        </a:defRPr>
                      </a:pPr>
                      <a:r>
                        <a:t>Resume Screening Action</a:t>
                      </a:r>
                    </a:p>
                  </a:txBody>
                  <a:tcPr>
                    <a:solidFill>
                      <a:srgbClr val="FFFFFF"/>
                    </a:solidFill>
                  </a:tcPr>
                </a:tc>
                <a:tc>
                  <a:txBody>
                    <a:bodyPr/>
                    <a:lstStyle/>
                    <a:p>
                      <a:pPr>
                        <a:defRPr sz="1100">
                          <a:solidFill>
                            <a:srgbClr val="334155"/>
                          </a:solidFill>
                        </a:defRPr>
                      </a:pPr>
                      <a:r>
                        <a:t>Full Upload &amp; Execution</a:t>
                      </a:r>
                    </a:p>
                  </a:txBody>
                  <a:tcPr>
                    <a:solidFill>
                      <a:srgbClr val="FFFFFF"/>
                    </a:solidFill>
                  </a:tcPr>
                </a:tc>
                <a:tc>
                  <a:txBody>
                    <a:bodyPr/>
                    <a:lstStyle/>
                    <a:p>
                      <a:pPr>
                        <a:defRPr sz="1100">
                          <a:solidFill>
                            <a:srgbClr val="334155"/>
                          </a:solidFill>
                        </a:defRPr>
                      </a:pPr>
                      <a:r>
                        <a:t>View Match Scores Only</a:t>
                      </a:r>
                    </a:p>
                  </a:txBody>
                  <a:tcPr>
                    <a:solidFill>
                      <a:srgbClr val="FFFFFF"/>
                    </a:solidFill>
                  </a:tcPr>
                </a:tc>
                <a:tc>
                  <a:txBody>
                    <a:bodyPr/>
                    <a:lstStyle/>
                    <a:p>
                      <a:pPr>
                        <a:defRPr sz="1100">
                          <a:solidFill>
                            <a:srgbClr val="334155"/>
                          </a:solidFill>
                        </a:defRPr>
                      </a:pPr>
                      <a:r>
                        <a:t>Disabled (View Only)</a:t>
                      </a:r>
                    </a:p>
                  </a:txBody>
                  <a:tcPr>
                    <a:solidFill>
                      <a:srgbClr val="FFFFFF"/>
                    </a:solidFill>
                  </a:tcPr>
                </a:tc>
              </a:tr>
              <a:tr h="487680">
                <a:tc>
                  <a:txBody>
                    <a:bodyPr/>
                    <a:lstStyle/>
                    <a:p>
                      <a:pPr>
                        <a:defRPr sz="1100">
                          <a:solidFill>
                            <a:srgbClr val="0F172A"/>
                          </a:solidFill>
                        </a:defRPr>
                      </a:pPr>
                      <a:r>
                        <a:t>Send Outreach Emails</a:t>
                      </a:r>
                    </a:p>
                  </a:txBody>
                  <a:tcPr>
                    <a:solidFill>
                      <a:srgbClr val="EFF6FF"/>
                    </a:solidFill>
                  </a:tcPr>
                </a:tc>
                <a:tc>
                  <a:txBody>
                    <a:bodyPr/>
                    <a:lstStyle/>
                    <a:p>
                      <a:pPr>
                        <a:defRPr sz="1100">
                          <a:solidFill>
                            <a:srgbClr val="334155"/>
                          </a:solidFill>
                        </a:defRPr>
                      </a:pPr>
                      <a:r>
                        <a:t>Full Access &amp; Editing</a:t>
                      </a:r>
                    </a:p>
                  </a:txBody>
                  <a:tcPr>
                    <a:solidFill>
                      <a:srgbClr val="EFF6FF"/>
                    </a:solidFill>
                  </a:tcPr>
                </a:tc>
                <a:tc>
                  <a:txBody>
                    <a:bodyPr/>
                    <a:lstStyle/>
                    <a:p>
                      <a:pPr>
                        <a:defRPr sz="1100">
                          <a:solidFill>
                            <a:srgbClr val="334155"/>
                          </a:solidFill>
                        </a:defRPr>
                      </a:pPr>
                      <a:r>
                        <a:t>Locked (Recruiter Only)</a:t>
                      </a:r>
                    </a:p>
                  </a:txBody>
                  <a:tcPr>
                    <a:solidFill>
                      <a:srgbClr val="EFF6FF"/>
                    </a:solidFill>
                  </a:tcPr>
                </a:tc>
                <a:tc>
                  <a:txBody>
                    <a:bodyPr/>
                    <a:lstStyle/>
                    <a:p>
                      <a:pPr>
                        <a:defRPr sz="1100">
                          <a:solidFill>
                            <a:srgbClr val="334155"/>
                          </a:solidFill>
                        </a:defRPr>
                      </a:pPr>
                      <a:r>
                        <a:t>Disabled</a:t>
                      </a:r>
                    </a:p>
                  </a:txBody>
                  <a:tcPr>
                    <a:solidFill>
                      <a:srgbClr val="EFF6FF"/>
                    </a:solidFill>
                  </a:tcPr>
                </a:tc>
              </a:tr>
              <a:tr h="487680">
                <a:tc>
                  <a:txBody>
                    <a:bodyPr/>
                    <a:lstStyle/>
                    <a:p>
                      <a:pPr>
                        <a:defRPr sz="1100">
                          <a:solidFill>
                            <a:srgbClr val="0F172A"/>
                          </a:solidFill>
                        </a:defRPr>
                      </a:pPr>
                      <a:r>
                        <a:t>Compliance Audit Trail</a:t>
                      </a:r>
                    </a:p>
                  </a:txBody>
                  <a:tcPr>
                    <a:solidFill>
                      <a:srgbClr val="FFFFFF"/>
                    </a:solidFill>
                  </a:tcPr>
                </a:tc>
                <a:tc>
                  <a:txBody>
                    <a:bodyPr/>
                    <a:lstStyle/>
                    <a:p>
                      <a:pPr>
                        <a:defRPr sz="1100">
                          <a:solidFill>
                            <a:srgbClr val="334155"/>
                          </a:solidFill>
                        </a:defRPr>
                      </a:pPr>
                      <a:r>
                        <a:t>Standard View</a:t>
                      </a:r>
                    </a:p>
                  </a:txBody>
                  <a:tcPr>
                    <a:solidFill>
                      <a:srgbClr val="FFFFFF"/>
                    </a:solidFill>
                  </a:tcPr>
                </a:tc>
                <a:tc>
                  <a:txBody>
                    <a:bodyPr/>
                    <a:lstStyle/>
                    <a:p>
                      <a:pPr>
                        <a:defRPr sz="1100">
                          <a:solidFill>
                            <a:srgbClr val="334155"/>
                          </a:solidFill>
                        </a:defRPr>
                      </a:pPr>
                      <a:r>
                        <a:t>Standard View</a:t>
                      </a:r>
                    </a:p>
                  </a:txBody>
                  <a:tcPr>
                    <a:solidFill>
                      <a:srgbClr val="FFFFFF"/>
                    </a:solidFill>
                  </a:tcPr>
                </a:tc>
                <a:tc>
                  <a:txBody>
                    <a:bodyPr/>
                    <a:lstStyle/>
                    <a:p>
                      <a:pPr>
                        <a:defRPr sz="1100">
                          <a:solidFill>
                            <a:srgbClr val="334155"/>
                          </a:solidFill>
                        </a:defRPr>
                      </a:pPr>
                      <a:r>
                        <a:t>Full Export to JSON</a:t>
                      </a:r>
                    </a:p>
                  </a:txBody>
                  <a:tcPr>
                    <a:solidFill>
                      <a:srgbClr val="FFFFFF"/>
                    </a:solidFill>
                  </a:tcPr>
                </a:tc>
              </a:tr>
            </a:tbl>
          </a:graphicData>
        </a:graphic>
      </p:graphicFrame>
      <p:sp>
        <p:nvSpPr>
          <p:cNvPr id="7" name="Rounded Rectangle 6"/>
          <p:cNvSpPr/>
          <p:nvPr/>
        </p:nvSpPr>
        <p:spPr>
          <a:xfrm>
            <a:off x="731520" y="4846320"/>
            <a:ext cx="10698480" cy="1554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937760"/>
            <a:ext cx="10149840" cy="1280160"/>
          </a:xfrm>
          <a:prstGeom prst="rect">
            <a:avLst/>
          </a:prstGeom>
          <a:noFill/>
        </p:spPr>
        <p:txBody>
          <a:bodyPr wrap="square">
            <a:spAutoFit/>
          </a:bodyPr>
          <a:lstStyle/>
          <a:p>
            <a:pPr>
              <a:spcAft>
                <a:spcPts val="600"/>
              </a:spcAft>
              <a:defRPr b="1" sz="1200">
                <a:solidFill>
                  <a:srgbClr val="334155"/>
                </a:solidFill>
              </a:defRPr>
            </a:pPr>
            <a:r>
              <a:t>•  Unbiased Hiring: When hiring managers cannot see personal contact details or location markers, they evaluate candidates purely on skills and merit.</a:t>
            </a:r>
          </a:p>
          <a:p>
            <a:pPr>
              <a:spcAft>
                <a:spcPts val="600"/>
              </a:spcAft>
              <a:defRPr sz="1200">
                <a:solidFill>
                  <a:srgbClr val="334155"/>
                </a:solidFill>
              </a:defRPr>
            </a:pPr>
            <a:r>
              <a:t>•  Privacy Protection: Candidate WhatsApp numbers and personal emails are never exposed unnecessarily, preventing data leaks.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WORK COMPLETED</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My 10-Week Development Journey &amp; Key Activities</a:t>
            </a:r>
          </a:p>
        </p:txBody>
      </p:sp>
      <p:sp>
        <p:nvSpPr>
          <p:cNvPr id="6" name="Rounded Rectangle 5"/>
          <p:cNvSpPr/>
          <p:nvPr/>
        </p:nvSpPr>
        <p:spPr>
          <a:xfrm>
            <a:off x="731520"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78608"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828800"/>
            <a:ext cx="2304288" cy="4114800"/>
          </a:xfrm>
          <a:prstGeom prst="rect">
            <a:avLst/>
          </a:prstGeom>
          <a:noFill/>
        </p:spPr>
        <p:txBody>
          <a:bodyPr wrap="square">
            <a:spAutoFit/>
          </a:bodyPr>
          <a:lstStyle/>
          <a:p>
            <a:pPr>
              <a:spcAft>
                <a:spcPts val="1000"/>
              </a:spcAft>
              <a:defRPr sz="1100" b="1">
                <a:solidFill>
                  <a:srgbClr val="334155"/>
                </a:solidFill>
              </a:defRPr>
            </a:pPr>
            <a:r>
              <a:t>•  Interviewed HR mentors about daily bottlenecks</a:t>
            </a:r>
          </a:p>
          <a:p>
            <a:pPr>
              <a:spcAft>
                <a:spcPts val="1200"/>
              </a:spcAft>
              <a:defRPr sz="1300" b="1">
                <a:solidFill>
                  <a:srgbClr val="0F172A"/>
                </a:solidFill>
              </a:defRPr>
            </a:pPr>
            <a:r>
              <a:t>Learning &amp; Planning</a:t>
            </a:r>
          </a:p>
          <a:p>
            <a:pPr>
              <a:spcAft>
                <a:spcPts val="1000"/>
              </a:spcAft>
              <a:defRPr sz="1100">
                <a:solidFill>
                  <a:srgbClr val="334155"/>
                </a:solidFill>
              </a:defRPr>
            </a:pPr>
            <a:r>
              <a:t>•  Researched common ATS pain points</a:t>
            </a:r>
          </a:p>
          <a:p>
            <a:pPr>
              <a:spcAft>
                <a:spcPts val="1000"/>
              </a:spcAft>
              <a:defRPr sz="1100">
                <a:solidFill>
                  <a:srgbClr val="334155"/>
                </a:solidFill>
              </a:defRPr>
            </a:pPr>
            <a:r>
              <a:t>•  Sketched UI wireframes and database models</a:t>
            </a:r>
          </a:p>
        </p:txBody>
      </p:sp>
      <p:sp>
        <p:nvSpPr>
          <p:cNvPr id="9" name="Rounded Rectangle 8"/>
          <p:cNvSpPr/>
          <p:nvPr/>
        </p:nvSpPr>
        <p:spPr>
          <a:xfrm>
            <a:off x="3456432"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645920"/>
            <a:ext cx="2578608"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828800"/>
            <a:ext cx="2304288" cy="4114800"/>
          </a:xfrm>
          <a:prstGeom prst="rect">
            <a:avLst/>
          </a:prstGeom>
          <a:noFill/>
        </p:spPr>
        <p:txBody>
          <a:bodyPr wrap="square">
            <a:spAutoFit/>
          </a:bodyPr>
          <a:lstStyle/>
          <a:p>
            <a:pPr>
              <a:spcAft>
                <a:spcPts val="1000"/>
              </a:spcAft>
              <a:defRPr sz="1100" b="1">
                <a:solidFill>
                  <a:srgbClr val="334155"/>
                </a:solidFill>
              </a:defRPr>
            </a:pPr>
            <a:r>
              <a:t>•  Wrote the resume text extraction algorithms</a:t>
            </a:r>
          </a:p>
          <a:p>
            <a:pPr>
              <a:spcAft>
                <a:spcPts val="1200"/>
              </a:spcAft>
              <a:defRPr sz="1300" b="1">
                <a:solidFill>
                  <a:srgbClr val="0F172A"/>
                </a:solidFill>
              </a:defRPr>
            </a:pPr>
            <a:r>
              <a:t>Building the AI Engine</a:t>
            </a:r>
          </a:p>
          <a:p>
            <a:pPr>
              <a:spcAft>
                <a:spcPts val="1000"/>
              </a:spcAft>
              <a:defRPr sz="1100">
                <a:solidFill>
                  <a:srgbClr val="334155"/>
                </a:solidFill>
              </a:defRPr>
            </a:pPr>
            <a:r>
              <a:t>•  Designed the skill matching logic (0–100%)</a:t>
            </a:r>
          </a:p>
          <a:p>
            <a:pPr>
              <a:spcAft>
                <a:spcPts val="1000"/>
              </a:spcAft>
              <a:defRPr sz="1100">
                <a:solidFill>
                  <a:srgbClr val="334155"/>
                </a:solidFill>
              </a:defRPr>
            </a:pPr>
            <a:r>
              <a:t>•  Engineered the outreach prompt pipeline</a:t>
            </a:r>
          </a:p>
        </p:txBody>
      </p:sp>
      <p:sp>
        <p:nvSpPr>
          <p:cNvPr id="12" name="Rounded Rectangle 11"/>
          <p:cNvSpPr/>
          <p:nvPr/>
        </p:nvSpPr>
        <p:spPr>
          <a:xfrm>
            <a:off x="6181344"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645920"/>
            <a:ext cx="2578608"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828800"/>
            <a:ext cx="2304288" cy="4114800"/>
          </a:xfrm>
          <a:prstGeom prst="rect">
            <a:avLst/>
          </a:prstGeom>
          <a:noFill/>
        </p:spPr>
        <p:txBody>
          <a:bodyPr wrap="square">
            <a:spAutoFit/>
          </a:bodyPr>
          <a:lstStyle/>
          <a:p>
            <a:pPr>
              <a:spcAft>
                <a:spcPts val="1000"/>
              </a:spcAft>
              <a:defRPr sz="1100" b="1">
                <a:solidFill>
                  <a:srgbClr val="334155"/>
                </a:solidFill>
              </a:defRPr>
            </a:pPr>
            <a:r>
              <a:t>•  Built the responsive layout with modern CSS</a:t>
            </a:r>
          </a:p>
          <a:p>
            <a:pPr>
              <a:spcAft>
                <a:spcPts val="1200"/>
              </a:spcAft>
              <a:defRPr sz="1300" b="1">
                <a:solidFill>
                  <a:srgbClr val="0F172A"/>
                </a:solidFill>
              </a:defRPr>
            </a:pPr>
            <a:r>
              <a:t>UI &amp; Visual Dashboards</a:t>
            </a:r>
          </a:p>
          <a:p>
            <a:pPr>
              <a:spcAft>
                <a:spcPts val="1000"/>
              </a:spcAft>
              <a:defRPr sz="1100">
                <a:solidFill>
                  <a:srgbClr val="334155"/>
                </a:solidFill>
              </a:defRPr>
            </a:pPr>
            <a:r>
              <a:t>•  Crafted lightweight SVG charts</a:t>
            </a:r>
          </a:p>
          <a:p>
            <a:pPr>
              <a:spcAft>
                <a:spcPts val="1000"/>
              </a:spcAft>
              <a:defRPr sz="1100">
                <a:solidFill>
                  <a:srgbClr val="334155"/>
                </a:solidFill>
              </a:defRPr>
            </a:pPr>
            <a:r>
              <a:t>•  Added the real-time agent thinking console</a:t>
            </a:r>
          </a:p>
        </p:txBody>
      </p:sp>
      <p:sp>
        <p:nvSpPr>
          <p:cNvPr id="15" name="Rounded Rectangle 14"/>
          <p:cNvSpPr/>
          <p:nvPr/>
        </p:nvSpPr>
        <p:spPr>
          <a:xfrm>
            <a:off x="8906256" y="1645920"/>
            <a:ext cx="2578608"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06256" y="1645920"/>
            <a:ext cx="2578608" cy="7315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3416" y="1828800"/>
            <a:ext cx="2304288" cy="4114800"/>
          </a:xfrm>
          <a:prstGeom prst="rect">
            <a:avLst/>
          </a:prstGeom>
          <a:noFill/>
        </p:spPr>
        <p:txBody>
          <a:bodyPr wrap="square">
            <a:spAutoFit/>
          </a:bodyPr>
          <a:lstStyle/>
          <a:p>
            <a:pPr>
              <a:spcAft>
                <a:spcPts val="1000"/>
              </a:spcAft>
              <a:defRPr sz="1100" b="1">
                <a:solidFill>
                  <a:srgbClr val="334155"/>
                </a:solidFill>
              </a:defRPr>
            </a:pPr>
            <a:r>
              <a:t>•  Implemented PII masking and RBAC roles</a:t>
            </a:r>
          </a:p>
          <a:p>
            <a:pPr>
              <a:spcAft>
                <a:spcPts val="1200"/>
              </a:spcAft>
              <a:defRPr sz="1300" b="1">
                <a:solidFill>
                  <a:srgbClr val="0F172A"/>
                </a:solidFill>
              </a:defRPr>
            </a:pPr>
            <a:r>
              <a:t>Security &amp; Deployment</a:t>
            </a:r>
          </a:p>
          <a:p>
            <a:pPr>
              <a:spcAft>
                <a:spcPts val="1000"/>
              </a:spcAft>
              <a:defRPr sz="1100">
                <a:solidFill>
                  <a:srgbClr val="334155"/>
                </a:solidFill>
              </a:defRPr>
            </a:pPr>
            <a:r>
              <a:t>•  Built the compliance audit logging system</a:t>
            </a:r>
          </a:p>
          <a:p>
            <a:pPr>
              <a:spcAft>
                <a:spcPts val="1000"/>
              </a:spcAft>
              <a:defRPr sz="1100">
                <a:solidFill>
                  <a:srgbClr val="334155"/>
                </a:solidFill>
              </a:defRPr>
            </a:pPr>
            <a:r>
              <a:t>•  Pushed to GitHub &amp; deployed via GitHub Pages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MEASURING SUCCESS</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Results, Outcomes &amp; Real-World Impact</a:t>
            </a:r>
          </a:p>
        </p:txBody>
      </p:sp>
      <p:sp>
        <p:nvSpPr>
          <p:cNvPr id="6" name="Rounded Rectangle 5"/>
          <p:cNvSpPr/>
          <p:nvPr/>
        </p:nvSpPr>
        <p:spPr>
          <a:xfrm>
            <a:off x="731520" y="1645920"/>
            <a:ext cx="2578608"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1645920"/>
            <a:ext cx="2578608"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783080"/>
            <a:ext cx="2304288" cy="1828800"/>
          </a:xfrm>
          <a:prstGeom prst="rect">
            <a:avLst/>
          </a:prstGeom>
          <a:noFill/>
        </p:spPr>
        <p:txBody>
          <a:bodyPr wrap="square">
            <a:spAutoFit/>
          </a:bodyPr>
          <a:lstStyle/>
          <a:p>
            <a:pPr>
              <a:defRPr sz="2800" b="1">
                <a:solidFill>
                  <a:srgbClr val="2563EB"/>
                </a:solidFill>
              </a:defRPr>
            </a:pPr>
            <a:r>
              <a:t>85%</a:t>
            </a:r>
          </a:p>
          <a:p>
            <a:pPr>
              <a:spcAft>
                <a:spcPts val="400"/>
              </a:spcAft>
              <a:defRPr sz="1200" b="1">
                <a:solidFill>
                  <a:srgbClr val="0F172A"/>
                </a:solidFill>
              </a:defRPr>
            </a:pPr>
            <a:r>
              <a:t>Time Saved per Candidate</a:t>
            </a:r>
          </a:p>
          <a:p>
            <a:pPr>
              <a:defRPr sz="1000">
                <a:solidFill>
                  <a:srgbClr val="64748B"/>
                </a:solidFill>
              </a:defRPr>
            </a:pPr>
            <a:r>
              <a:t>Screening time dropped from ~15 minutes to under 2 minutes per resume.</a:t>
            </a:r>
          </a:p>
        </p:txBody>
      </p:sp>
      <p:sp>
        <p:nvSpPr>
          <p:cNvPr id="9" name="Rounded Rectangle 8"/>
          <p:cNvSpPr/>
          <p:nvPr/>
        </p:nvSpPr>
        <p:spPr>
          <a:xfrm>
            <a:off x="3456432" y="1645920"/>
            <a:ext cx="2578608"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56432" y="1645920"/>
            <a:ext cx="2578608" cy="73152"/>
          </a:xfrm>
          <a:prstGeom prst="rect">
            <a:avLst/>
          </a:prstGeom>
          <a:solidFill>
            <a:srgbClr val="0D9488"/>
          </a:solidFill>
          <a:ln>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93592" y="1783080"/>
            <a:ext cx="2304288" cy="1828800"/>
          </a:xfrm>
          <a:prstGeom prst="rect">
            <a:avLst/>
          </a:prstGeom>
          <a:noFill/>
        </p:spPr>
        <p:txBody>
          <a:bodyPr wrap="square">
            <a:spAutoFit/>
          </a:bodyPr>
          <a:lstStyle/>
          <a:p>
            <a:pPr>
              <a:defRPr sz="2800" b="1">
                <a:solidFill>
                  <a:srgbClr val="0D9488"/>
                </a:solidFill>
              </a:defRPr>
            </a:pPr>
            <a:r>
              <a:t>94.8%</a:t>
            </a:r>
          </a:p>
          <a:p>
            <a:pPr>
              <a:spcAft>
                <a:spcPts val="400"/>
              </a:spcAft>
              <a:defRPr sz="1200" b="1">
                <a:solidFill>
                  <a:srgbClr val="0F172A"/>
                </a:solidFill>
              </a:defRPr>
            </a:pPr>
            <a:r>
              <a:t>Scoring Accuracy</a:t>
            </a:r>
          </a:p>
          <a:p>
            <a:pPr>
              <a:defRPr sz="1000">
                <a:solidFill>
                  <a:srgbClr val="64748B"/>
                </a:solidFill>
              </a:defRPr>
            </a:pPr>
            <a:r>
              <a:t>Evaluations matched senior human recruiters on benchmark test profiles.</a:t>
            </a:r>
          </a:p>
        </p:txBody>
      </p:sp>
      <p:sp>
        <p:nvSpPr>
          <p:cNvPr id="12" name="Rounded Rectangle 11"/>
          <p:cNvSpPr/>
          <p:nvPr/>
        </p:nvSpPr>
        <p:spPr>
          <a:xfrm>
            <a:off x="6181344" y="1645920"/>
            <a:ext cx="2578608"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81344" y="1645920"/>
            <a:ext cx="2578608" cy="73152"/>
          </a:xfrm>
          <a:prstGeom prst="rect">
            <a:avLst/>
          </a:prstGeom>
          <a:solidFill>
            <a:srgbClr val="7C3AED"/>
          </a:solidFill>
          <a:ln>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18504" y="1783080"/>
            <a:ext cx="2304288" cy="1828800"/>
          </a:xfrm>
          <a:prstGeom prst="rect">
            <a:avLst/>
          </a:prstGeom>
          <a:noFill/>
        </p:spPr>
        <p:txBody>
          <a:bodyPr wrap="square">
            <a:spAutoFit/>
          </a:bodyPr>
          <a:lstStyle/>
          <a:p>
            <a:pPr>
              <a:defRPr sz="2800" b="1">
                <a:solidFill>
                  <a:srgbClr val="7C3AED"/>
                </a:solidFill>
              </a:defRPr>
            </a:pPr>
            <a:r>
              <a:t>1-Click</a:t>
            </a:r>
          </a:p>
          <a:p>
            <a:pPr>
              <a:spcAft>
                <a:spcPts val="400"/>
              </a:spcAft>
              <a:defRPr sz="1200" b="1">
                <a:solidFill>
                  <a:srgbClr val="0F172A"/>
                </a:solidFill>
              </a:defRPr>
            </a:pPr>
            <a:r>
              <a:t>Instant Outreach Drafting</a:t>
            </a:r>
          </a:p>
          <a:p>
            <a:pPr>
              <a:defRPr sz="1000">
                <a:solidFill>
                  <a:srgbClr val="64748B"/>
                </a:solidFill>
              </a:defRPr>
            </a:pPr>
            <a:r>
              <a:t>Zero time wasted writing repetitive emails; tailored drafts ready in seconds.</a:t>
            </a:r>
          </a:p>
        </p:txBody>
      </p:sp>
      <p:sp>
        <p:nvSpPr>
          <p:cNvPr id="15" name="Rounded Rectangle 14"/>
          <p:cNvSpPr/>
          <p:nvPr/>
        </p:nvSpPr>
        <p:spPr>
          <a:xfrm>
            <a:off x="8906256" y="1645920"/>
            <a:ext cx="2578608" cy="21031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906256" y="1645920"/>
            <a:ext cx="2578608" cy="73152"/>
          </a:xfrm>
          <a:prstGeom prst="rect">
            <a:avLst/>
          </a:prstGeom>
          <a:solidFill>
            <a:srgbClr val="1E3A8A"/>
          </a:solidFill>
          <a:ln>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43416" y="1783080"/>
            <a:ext cx="2304288" cy="1828800"/>
          </a:xfrm>
          <a:prstGeom prst="rect">
            <a:avLst/>
          </a:prstGeom>
          <a:noFill/>
        </p:spPr>
        <p:txBody>
          <a:bodyPr wrap="square">
            <a:spAutoFit/>
          </a:bodyPr>
          <a:lstStyle/>
          <a:p>
            <a:pPr>
              <a:defRPr sz="2800" b="1">
                <a:solidFill>
                  <a:srgbClr val="1E3A8A"/>
                </a:solidFill>
              </a:defRPr>
            </a:pPr>
            <a:r>
              <a:t>100%</a:t>
            </a:r>
          </a:p>
          <a:p>
            <a:pPr>
              <a:spcAft>
                <a:spcPts val="400"/>
              </a:spcAft>
              <a:defRPr sz="1200" b="1">
                <a:solidFill>
                  <a:srgbClr val="0F172A"/>
                </a:solidFill>
              </a:defRPr>
            </a:pPr>
            <a:r>
              <a:t>Audit Traceability</a:t>
            </a:r>
          </a:p>
          <a:p>
            <a:pPr>
              <a:defRPr sz="1000">
                <a:solidFill>
                  <a:srgbClr val="64748B"/>
                </a:solidFill>
              </a:defRPr>
            </a:pPr>
            <a:r>
              <a:t>Every AI decision and human action is recorded with tamper-proof timestamps.</a:t>
            </a:r>
          </a:p>
        </p:txBody>
      </p:sp>
      <p:sp>
        <p:nvSpPr>
          <p:cNvPr id="18" name="Rounded Rectangle 17"/>
          <p:cNvSpPr/>
          <p:nvPr/>
        </p:nvSpPr>
        <p:spPr>
          <a:xfrm>
            <a:off x="731520" y="4023360"/>
            <a:ext cx="10698480" cy="219456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05840" y="4206240"/>
            <a:ext cx="10149840" cy="1828800"/>
          </a:xfrm>
          <a:prstGeom prst="rect">
            <a:avLst/>
          </a:prstGeom>
          <a:noFill/>
        </p:spPr>
        <p:txBody>
          <a:bodyPr wrap="square">
            <a:spAutoFit/>
          </a:bodyPr>
          <a:lstStyle/>
          <a:p>
            <a:pPr>
              <a:spcAft>
                <a:spcPts val="600"/>
              </a:spcAft>
              <a:defRPr b="1" sz="1200">
                <a:solidFill>
                  <a:srgbClr val="334155"/>
                </a:solidFill>
              </a:defRPr>
            </a:pPr>
            <a:r>
              <a:t>•  A fully functioning web application that evaluators can test live right now.</a:t>
            </a:r>
          </a:p>
          <a:p>
            <a:pPr>
              <a:spcAft>
                <a:spcPts val="600"/>
              </a:spcAft>
              <a:defRPr sz="1200">
                <a:solidFill>
                  <a:srgbClr val="334155"/>
                </a:solidFill>
              </a:defRPr>
            </a:pPr>
            <a:r>
              <a:t>•  Open-source code publicly available on GitHub: github.com/narayanalikhitha/talentstream-ai.</a:t>
            </a:r>
          </a:p>
          <a:p>
            <a:pPr>
              <a:spcAft>
                <a:spcPts val="600"/>
              </a:spcAft>
              <a:defRPr sz="1200">
                <a:solidFill>
                  <a:srgbClr val="334155"/>
                </a:solidFill>
              </a:defRPr>
            </a:pPr>
            <a:r>
              <a:t>•  Live deployment running seamlessly on GitHub Pages.</a:t>
            </a:r>
          </a:p>
          <a:p>
            <a:pPr>
              <a:spcAft>
                <a:spcPts val="600"/>
              </a:spcAft>
              <a:defRPr sz="1200">
                <a:solidFill>
                  <a:srgbClr val="334155"/>
                </a:solidFill>
              </a:defRPr>
            </a:pPr>
            <a:r>
              <a:t>•  Comprehensive architectural guide and documentation in README.md.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20040"/>
            <a:ext cx="10515600" cy="320040"/>
          </a:xfrm>
          <a:prstGeom prst="rect">
            <a:avLst/>
          </a:prstGeom>
          <a:noFill/>
        </p:spPr>
        <p:txBody>
          <a:bodyPr wrap="square">
            <a:spAutoFit/>
          </a:bodyPr>
          <a:lstStyle/>
          <a:p>
            <a:pPr>
              <a:defRPr sz="1000" b="1">
                <a:solidFill>
                  <a:srgbClr val="2563EB"/>
                </a:solidFill>
              </a:defRPr>
            </a:pPr>
            <a:r>
              <a:t>REFLECTIONS &amp; FUTURE SCOPE</a:t>
            </a:r>
          </a:p>
        </p:txBody>
      </p:sp>
      <p:sp>
        <p:nvSpPr>
          <p:cNvPr id="5" name="TextBox 4"/>
          <p:cNvSpPr txBox="1"/>
          <p:nvPr/>
        </p:nvSpPr>
        <p:spPr>
          <a:xfrm>
            <a:off x="731520" y="594360"/>
            <a:ext cx="10515600" cy="731520"/>
          </a:xfrm>
          <a:prstGeom prst="rect">
            <a:avLst/>
          </a:prstGeom>
          <a:noFill/>
        </p:spPr>
        <p:txBody>
          <a:bodyPr wrap="square">
            <a:spAutoFit/>
          </a:bodyPr>
          <a:lstStyle/>
          <a:p>
            <a:pPr>
              <a:defRPr sz="2400" b="1">
                <a:solidFill>
                  <a:srgbClr val="0F172A"/>
                </a:solidFill>
              </a:defRPr>
            </a:pPr>
            <a:r>
              <a:t>Conclusion &amp; Personal Key Learnings</a:t>
            </a:r>
          </a:p>
        </p:txBody>
      </p:sp>
      <p:sp>
        <p:nvSpPr>
          <p:cNvPr id="6" name="Rounded Rectangle 5"/>
          <p:cNvSpPr/>
          <p:nvPr/>
        </p:nvSpPr>
        <p:spPr>
          <a:xfrm>
            <a:off x="7315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1200"/>
              </a:spcAft>
              <a:defRPr b="1" sz="1200">
                <a:solidFill>
                  <a:srgbClr val="334155"/>
                </a:solidFill>
              </a:defRPr>
            </a:pPr>
            <a:r>
              <a:t>•  How to build autonomous agents that do real work, not just generic chatbot conversations.</a:t>
            </a:r>
          </a:p>
          <a:p>
            <a:pPr>
              <a:spcAft>
                <a:spcPts val="1200"/>
              </a:spcAft>
              <a:defRPr sz="1200">
                <a:solidFill>
                  <a:srgbClr val="334155"/>
                </a:solidFill>
              </a:defRPr>
            </a:pPr>
            <a:r>
              <a:t>•  Techniques for parsing messy, unstructured resume text reliably.</a:t>
            </a:r>
          </a:p>
          <a:p>
            <a:pPr>
              <a:spcAft>
                <a:spcPts val="1200"/>
              </a:spcAft>
              <a:defRPr sz="1200">
                <a:solidFill>
                  <a:srgbClr val="334155"/>
                </a:solidFill>
              </a:defRPr>
            </a:pPr>
            <a:r>
              <a:t>•  How to implement data privacy and role masking at the browser layer.</a:t>
            </a:r>
          </a:p>
          <a:p>
            <a:pPr>
              <a:spcAft>
                <a:spcPts val="1200"/>
              </a:spcAft>
              <a:defRPr sz="1200">
                <a:solidFill>
                  <a:srgbClr val="334155"/>
                </a:solidFill>
              </a:defRPr>
            </a:pPr>
            <a:r>
              <a:t>•  Hands-on experience with modern Git version control and GitHub Actions CI/CD.</a:t>
            </a:r>
          </a:p>
        </p:txBody>
      </p:sp>
      <p:sp>
        <p:nvSpPr>
          <p:cNvPr id="8" name="Rounded Rectangle 7"/>
          <p:cNvSpPr/>
          <p:nvPr/>
        </p:nvSpPr>
        <p:spPr>
          <a:xfrm>
            <a:off x="43891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1200"/>
              </a:spcAft>
              <a:defRPr b="1" sz="1200">
                <a:solidFill>
                  <a:srgbClr val="334155"/>
                </a:solidFill>
              </a:defRPr>
            </a:pPr>
            <a:r>
              <a:t>•  Learned that user experience matters just as much as AI accuracy.</a:t>
            </a:r>
          </a:p>
          <a:p>
            <a:pPr>
              <a:spcAft>
                <a:spcPts val="1200"/>
              </a:spcAft>
              <a:defRPr sz="1200">
                <a:solidFill>
                  <a:srgbClr val="334155"/>
                </a:solidFill>
              </a:defRPr>
            </a:pPr>
            <a:r>
              <a:t>•  Gained appreciation for enterprise compliance (SOC-2 and GDPR).</a:t>
            </a:r>
          </a:p>
          <a:p>
            <a:pPr>
              <a:spcAft>
                <a:spcPts val="1200"/>
              </a:spcAft>
              <a:defRPr sz="1200">
                <a:solidFill>
                  <a:srgbClr val="334155"/>
                </a:solidFill>
              </a:defRPr>
            </a:pPr>
            <a:r>
              <a:t>•  Discovered how to break down large business problems into small, testable milestones.</a:t>
            </a:r>
          </a:p>
          <a:p>
            <a:pPr>
              <a:spcAft>
                <a:spcPts val="1200"/>
              </a:spcAft>
              <a:defRPr sz="1200">
                <a:solidFill>
                  <a:srgbClr val="334155"/>
                </a:solidFill>
              </a:defRPr>
            </a:pPr>
            <a:r>
              <a:t>•  Developed confidence in presenting technical work to evaluators.</a:t>
            </a:r>
          </a:p>
        </p:txBody>
      </p:sp>
      <p:sp>
        <p:nvSpPr>
          <p:cNvPr id="10" name="Rounded Rectangle 9"/>
          <p:cNvSpPr/>
          <p:nvPr/>
        </p:nvSpPr>
        <p:spPr>
          <a:xfrm>
            <a:off x="8046720" y="1645920"/>
            <a:ext cx="3383280" cy="4572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1400"/>
              </a:spcAft>
              <a:defRPr b="1" sz="1200">
                <a:solidFill>
                  <a:srgbClr val="334155"/>
                </a:solidFill>
              </a:defRPr>
            </a:pPr>
            <a:r>
              <a:t>•  Multi-language resume support for international candidates.</a:t>
            </a:r>
          </a:p>
          <a:p>
            <a:pPr>
              <a:spcAft>
                <a:spcPts val="1400"/>
              </a:spcAft>
              <a:defRPr sz="1200">
                <a:solidFill>
                  <a:srgbClr val="334155"/>
                </a:solidFill>
              </a:defRPr>
            </a:pPr>
            <a:r>
              <a:t>•  Direct connection to popular HR systems like Workday and Greenhouse.</a:t>
            </a:r>
          </a:p>
          <a:p>
            <a:pPr>
              <a:spcAft>
                <a:spcPts val="1400"/>
              </a:spcAft>
              <a:defRPr sz="1200">
                <a:solidFill>
                  <a:srgbClr val="334155"/>
                </a:solidFill>
              </a:defRPr>
            </a:pPr>
            <a:r>
              <a:t>•  Voice input so recruiters can dictate commands while on the go.</a:t>
            </a:r>
          </a:p>
          <a:p>
            <a:pPr>
              <a:spcAft>
                <a:spcPts val="1400"/>
              </a:spcAft>
              <a:defRPr sz="1200">
                <a:solidFill>
                  <a:srgbClr val="334155"/>
                </a:solidFill>
              </a:defRPr>
            </a:pPr>
            <a:r>
              <a:t>•  Automated calendar syncing to schedule interviews directly.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