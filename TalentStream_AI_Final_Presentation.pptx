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evaluators, and faculty members. My name is Narayana Likhitha, and I am pleased to present my Summer Internship project: TalentStream AI. During my internship as an AI Intern, I built an autonomous web application that solves the biggest hiring bottleneck: manually reviewing hundreds of resumes.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quick snapshot of my internship. Over 10 weeks as an AI Intern, I designed and built TalentStream AI—a full-featured autonomous HR agent that cuts resume screening time by 85%.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host organization focuses on building practical AI tools that solve real business problems. During my onboarding, mentors emphasized two non-negotiable rules: always explain why the AI gave a score, and never expose candidate phone numbers or emails to hiring managers.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internship had five precise objectives. The goal was to build a tool that not just demos AI, but actively saves recruiter hours every single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architecture in five steps. From the moment a recruiter submits a CV, the agent reasons through it, computes a score, drafts an email, and logs the action—all within seconds and all visible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chose a lean, zero-bloat technology stack. Pure HTML5, CSS3, and ES6+ JavaScript for the frontend. Gemini model logic for AI reasoning. Git and GitHub Actions for version control and automated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is structured around five functional modules. Each one handles a distinct part of the recruitment lifecycle.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first major output: the Executive Analytics Dashboard. When HR opens the app, they instantly see volume metrics and score distributions. The live console at the bottom proves the agent is actively running—building recruiter trust in the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2 shows the Candidate Scorecard. Clicking Elena Rostova reveals her 92% match, verified skills, and the AI-drafted invitation email. Recruiters go from 10 minutes of manual email writing to a single review-and-click.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3 demonstrates the Command Terminal. Recruiters type in everyday English and the agent executes it. On the right, every action is permanently logged—making the system 100% auditable.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internship progressed through four clear phases: research and planning, building the AI engine, designing the user interface, and finally securing the system and deploying to GitHub Pages.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were clear and measurable. Screening time dropped by 85%, accuracy hit 94.8%, and the application is live on GitHub Pages for anyone to test right now.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internship gave me hands-on experience building production-grade AI software. I learned that great AI tools must be explainable, privacy-safe, and genuinely useful—not just technically impressive.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guidance, and evaluation. I am now open to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47472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274320"/>
            <a:ext cx="4754880" cy="411480"/>
          </a:xfrm>
          <a:prstGeom prst="roundRect">
            <a:avLst/>
          </a:prstGeom>
          <a:solidFill>
            <a:srgbClr val="14553A"/>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E8A33D"/>
                </a:solidFill>
              </a:rPr>
              <a:t>SUMMER INTERNSHIP FINAL PRESENTATION</a:t>
            </a:r>
          </a:p>
        </p:txBody>
      </p:sp>
      <p:sp>
        <p:nvSpPr>
          <p:cNvPr id="5" name="TextBox 4"/>
          <p:cNvSpPr txBox="1"/>
          <p:nvPr/>
        </p:nvSpPr>
        <p:spPr>
          <a:xfrm>
            <a:off x="640080" y="822960"/>
            <a:ext cx="10972800" cy="1097280"/>
          </a:xfrm>
          <a:prstGeom prst="rect">
            <a:avLst/>
          </a:prstGeom>
          <a:noFill/>
        </p:spPr>
        <p:txBody>
          <a:bodyPr wrap="square">
            <a:spAutoFit/>
          </a:bodyPr>
          <a:lstStyle/>
          <a:p>
            <a:pPr algn="l"/>
            <a:r>
              <a:rPr sz="4400" b="1" i="0">
                <a:solidFill>
                  <a:srgbClr val="FFFFFF"/>
                </a:solidFill>
              </a:rPr>
              <a:t>TalentStream AI</a:t>
            </a:r>
          </a:p>
        </p:txBody>
      </p:sp>
      <p:sp>
        <p:nvSpPr>
          <p:cNvPr id="6" name="TextBox 5"/>
          <p:cNvSpPr txBox="1"/>
          <p:nvPr/>
        </p:nvSpPr>
        <p:spPr>
          <a:xfrm>
            <a:off x="640080" y="1874519"/>
            <a:ext cx="10972800" cy="594360"/>
          </a:xfrm>
          <a:prstGeom prst="rect">
            <a:avLst/>
          </a:prstGeom>
          <a:noFill/>
        </p:spPr>
        <p:txBody>
          <a:bodyPr wrap="square">
            <a:spAutoFit/>
          </a:bodyPr>
          <a:lstStyle/>
          <a:p>
            <a:pPr algn="l"/>
            <a:r>
              <a:rPr sz="1800" b="1" i="0">
                <a:solidFill>
                  <a:srgbClr val="C8EBD7"/>
                </a:solidFill>
              </a:rPr>
              <a:t>Autonomous HR Recruitment, Resume Screening &amp; Outreach Agent</a:t>
            </a:r>
          </a:p>
        </p:txBody>
      </p:sp>
      <p:sp>
        <p:nvSpPr>
          <p:cNvPr id="7" name="TextBox 6"/>
          <p:cNvSpPr txBox="1"/>
          <p:nvPr/>
        </p:nvSpPr>
        <p:spPr>
          <a:xfrm>
            <a:off x="640080" y="2468880"/>
            <a:ext cx="10972800" cy="457200"/>
          </a:xfrm>
          <a:prstGeom prst="rect">
            <a:avLst/>
          </a:prstGeom>
          <a:noFill/>
        </p:spPr>
        <p:txBody>
          <a:bodyPr wrap="square">
            <a:spAutoFit/>
          </a:bodyPr>
          <a:lstStyle/>
          <a:p>
            <a:pPr algn="l"/>
            <a:r>
              <a:rPr sz="1200" b="0" i="0">
                <a:solidFill>
                  <a:srgbClr val="B4D7C3"/>
                </a:solidFill>
              </a:rPr>
              <a:t>An AI-powered tool that automates candidate evaluation and personalized outreach</a:t>
            </a:r>
          </a:p>
        </p:txBody>
      </p:sp>
      <p:sp>
        <p:nvSpPr>
          <p:cNvPr id="8" name="Rounded Rectangle 7"/>
          <p:cNvSpPr/>
          <p:nvPr/>
        </p:nvSpPr>
        <p:spPr>
          <a:xfrm>
            <a:off x="594360" y="3703320"/>
            <a:ext cx="3566160" cy="132588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3703320"/>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767328"/>
            <a:ext cx="3337560" cy="411480"/>
          </a:xfrm>
          <a:prstGeom prst="rect">
            <a:avLst/>
          </a:prstGeom>
          <a:noFill/>
        </p:spPr>
        <p:txBody>
          <a:bodyPr wrap="square">
            <a:spAutoFit/>
          </a:bodyPr>
          <a:lstStyle/>
          <a:p>
            <a:pPr algn="l"/>
            <a:r>
              <a:rPr sz="1200" b="1" i="0">
                <a:solidFill>
                  <a:srgbClr val="1B3B5F"/>
                </a:solidFill>
              </a:rPr>
              <a:t>Presenter</a:t>
            </a:r>
          </a:p>
        </p:txBody>
      </p:sp>
      <p:sp>
        <p:nvSpPr>
          <p:cNvPr id="11" name="TextBox 10"/>
          <p:cNvSpPr txBox="1"/>
          <p:nvPr/>
        </p:nvSpPr>
        <p:spPr>
          <a:xfrm>
            <a:off x="758952" y="4251959"/>
            <a:ext cx="3337560" cy="731519"/>
          </a:xfrm>
          <a:prstGeom prst="rect">
            <a:avLst/>
          </a:prstGeom>
          <a:noFill/>
        </p:spPr>
        <p:txBody>
          <a:bodyPr wrap="square">
            <a:spAutoFit/>
          </a:bodyPr>
          <a:lstStyle/>
          <a:p>
            <a:pPr algn="l"/>
            <a:r>
              <a:rPr sz="1200" b="0" i="0">
                <a:solidFill>
                  <a:srgbClr val="1E2A28"/>
                </a:solidFill>
              </a:rPr>
              <a:t>Narayana Likhitha</a:t>
            </a:r>
          </a:p>
        </p:txBody>
      </p:sp>
      <p:sp>
        <p:nvSpPr>
          <p:cNvPr id="12" name="Rounded Rectangle 11"/>
          <p:cNvSpPr/>
          <p:nvPr/>
        </p:nvSpPr>
        <p:spPr>
          <a:xfrm>
            <a:off x="4434840" y="3703320"/>
            <a:ext cx="3566160" cy="132588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34840" y="3703320"/>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3767328"/>
            <a:ext cx="3337560" cy="411480"/>
          </a:xfrm>
          <a:prstGeom prst="rect">
            <a:avLst/>
          </a:prstGeom>
          <a:noFill/>
        </p:spPr>
        <p:txBody>
          <a:bodyPr wrap="square">
            <a:spAutoFit/>
          </a:bodyPr>
          <a:lstStyle/>
          <a:p>
            <a:pPr algn="l"/>
            <a:r>
              <a:rPr sz="1200" b="1" i="0">
                <a:solidFill>
                  <a:srgbClr val="1B3B5F"/>
                </a:solidFill>
              </a:rPr>
              <a:t>Roll No.</a:t>
            </a:r>
          </a:p>
        </p:txBody>
      </p:sp>
      <p:sp>
        <p:nvSpPr>
          <p:cNvPr id="15" name="TextBox 14"/>
          <p:cNvSpPr txBox="1"/>
          <p:nvPr/>
        </p:nvSpPr>
        <p:spPr>
          <a:xfrm>
            <a:off x="4599432" y="4251959"/>
            <a:ext cx="3337560" cy="731519"/>
          </a:xfrm>
          <a:prstGeom prst="rect">
            <a:avLst/>
          </a:prstGeom>
          <a:noFill/>
        </p:spPr>
        <p:txBody>
          <a:bodyPr wrap="square">
            <a:spAutoFit/>
          </a:bodyPr>
          <a:lstStyle/>
          <a:p>
            <a:pPr algn="l"/>
            <a:r>
              <a:rPr sz="1200" b="0" i="0">
                <a:solidFill>
                  <a:srgbClr val="1E2A28"/>
                </a:solidFill>
              </a:rPr>
              <a:t>[Your Roll Number]</a:t>
            </a:r>
          </a:p>
        </p:txBody>
      </p:sp>
      <p:sp>
        <p:nvSpPr>
          <p:cNvPr id="16" name="Rounded Rectangle 15"/>
          <p:cNvSpPr/>
          <p:nvPr/>
        </p:nvSpPr>
        <p:spPr>
          <a:xfrm>
            <a:off x="8275320" y="3703320"/>
            <a:ext cx="3566160" cy="132588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75320" y="3703320"/>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9912" y="3767328"/>
            <a:ext cx="3337560" cy="411480"/>
          </a:xfrm>
          <a:prstGeom prst="rect">
            <a:avLst/>
          </a:prstGeom>
          <a:noFill/>
        </p:spPr>
        <p:txBody>
          <a:bodyPr wrap="square">
            <a:spAutoFit/>
          </a:bodyPr>
          <a:lstStyle/>
          <a:p>
            <a:pPr algn="l"/>
            <a:r>
              <a:rPr sz="1200" b="1" i="0">
                <a:solidFill>
                  <a:srgbClr val="1B3B5F"/>
                </a:solidFill>
              </a:rPr>
              <a:t>Department</a:t>
            </a:r>
          </a:p>
        </p:txBody>
      </p:sp>
      <p:sp>
        <p:nvSpPr>
          <p:cNvPr id="19" name="TextBox 18"/>
          <p:cNvSpPr txBox="1"/>
          <p:nvPr/>
        </p:nvSpPr>
        <p:spPr>
          <a:xfrm>
            <a:off x="8439912" y="4251959"/>
            <a:ext cx="3337560" cy="731519"/>
          </a:xfrm>
          <a:prstGeom prst="rect">
            <a:avLst/>
          </a:prstGeom>
          <a:noFill/>
        </p:spPr>
        <p:txBody>
          <a:bodyPr wrap="square">
            <a:spAutoFit/>
          </a:bodyPr>
          <a:lstStyle/>
          <a:p>
            <a:pPr algn="l"/>
            <a:r>
              <a:rPr sz="1200" b="0" i="0">
                <a:solidFill>
                  <a:srgbClr val="1E2A28"/>
                </a:solidFill>
              </a:rPr>
              <a:t>Computer Science &amp; Engineering</a:t>
            </a:r>
          </a:p>
        </p:txBody>
      </p:sp>
      <p:sp>
        <p:nvSpPr>
          <p:cNvPr id="20" name="Rounded Rectangle 19"/>
          <p:cNvSpPr/>
          <p:nvPr/>
        </p:nvSpPr>
        <p:spPr>
          <a:xfrm>
            <a:off x="594360" y="5184648"/>
            <a:ext cx="3566160" cy="132588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4360" y="5184648"/>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5248656"/>
            <a:ext cx="3337560" cy="411480"/>
          </a:xfrm>
          <a:prstGeom prst="rect">
            <a:avLst/>
          </a:prstGeom>
          <a:noFill/>
        </p:spPr>
        <p:txBody>
          <a:bodyPr wrap="square">
            <a:spAutoFit/>
          </a:bodyPr>
          <a:lstStyle/>
          <a:p>
            <a:pPr algn="l"/>
            <a:r>
              <a:rPr sz="1200" b="1" i="0">
                <a:solidFill>
                  <a:srgbClr val="1B3B5F"/>
                </a:solidFill>
              </a:rPr>
              <a:t>Organization</a:t>
            </a:r>
          </a:p>
        </p:txBody>
      </p:sp>
      <p:sp>
        <p:nvSpPr>
          <p:cNvPr id="23" name="TextBox 22"/>
          <p:cNvSpPr txBox="1"/>
          <p:nvPr/>
        </p:nvSpPr>
        <p:spPr>
          <a:xfrm>
            <a:off x="758952" y="5733288"/>
            <a:ext cx="3337560" cy="731519"/>
          </a:xfrm>
          <a:prstGeom prst="rect">
            <a:avLst/>
          </a:prstGeom>
          <a:noFill/>
        </p:spPr>
        <p:txBody>
          <a:bodyPr wrap="square">
            <a:spAutoFit/>
          </a:bodyPr>
          <a:lstStyle/>
          <a:p>
            <a:pPr algn="l"/>
            <a:r>
              <a:rPr sz="1200" b="0" i="0">
                <a:solidFill>
                  <a:srgbClr val="1E2A28"/>
                </a:solidFill>
              </a:rPr>
              <a:t>AI Workflow Solutions / College Internship Project</a:t>
            </a:r>
          </a:p>
        </p:txBody>
      </p:sp>
      <p:sp>
        <p:nvSpPr>
          <p:cNvPr id="24" name="Rounded Rectangle 23"/>
          <p:cNvSpPr/>
          <p:nvPr/>
        </p:nvSpPr>
        <p:spPr>
          <a:xfrm>
            <a:off x="4434840" y="5184648"/>
            <a:ext cx="3566160" cy="132588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434840" y="5184648"/>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2" y="5248656"/>
            <a:ext cx="3337560" cy="411480"/>
          </a:xfrm>
          <a:prstGeom prst="rect">
            <a:avLst/>
          </a:prstGeom>
          <a:noFill/>
        </p:spPr>
        <p:txBody>
          <a:bodyPr wrap="square">
            <a:spAutoFit/>
          </a:bodyPr>
          <a:lstStyle/>
          <a:p>
            <a:pPr algn="l"/>
            <a:r>
              <a:rPr sz="1200" b="1" i="0">
                <a:solidFill>
                  <a:srgbClr val="1B3B5F"/>
                </a:solidFill>
              </a:rPr>
              <a:t>Internship Role</a:t>
            </a:r>
          </a:p>
        </p:txBody>
      </p:sp>
      <p:sp>
        <p:nvSpPr>
          <p:cNvPr id="27" name="TextBox 26"/>
          <p:cNvSpPr txBox="1"/>
          <p:nvPr/>
        </p:nvSpPr>
        <p:spPr>
          <a:xfrm>
            <a:off x="4599432" y="5733288"/>
            <a:ext cx="3337560" cy="731519"/>
          </a:xfrm>
          <a:prstGeom prst="rect">
            <a:avLst/>
          </a:prstGeom>
          <a:noFill/>
        </p:spPr>
        <p:txBody>
          <a:bodyPr wrap="square">
            <a:spAutoFit/>
          </a:bodyPr>
          <a:lstStyle/>
          <a:p>
            <a:pPr algn="l"/>
            <a:r>
              <a:rPr sz="1200" b="0" i="0">
                <a:solidFill>
                  <a:srgbClr val="1E2A28"/>
                </a:solidFill>
              </a:rPr>
              <a:t>AI Intern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Internship Overview</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A snapshot of the role and internship scope</a:t>
            </a:r>
          </a:p>
        </p:txBody>
      </p:sp>
      <p:sp>
        <p:nvSpPr>
          <p:cNvPr id="7" name="Rounded Rectangle 6"/>
          <p:cNvSpPr/>
          <p:nvPr/>
        </p:nvSpPr>
        <p:spPr>
          <a:xfrm>
            <a:off x="594360" y="1417320"/>
            <a:ext cx="3566160" cy="160020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417320"/>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481328"/>
            <a:ext cx="3337560" cy="411480"/>
          </a:xfrm>
          <a:prstGeom prst="rect">
            <a:avLst/>
          </a:prstGeom>
          <a:noFill/>
        </p:spPr>
        <p:txBody>
          <a:bodyPr wrap="square">
            <a:spAutoFit/>
          </a:bodyPr>
          <a:lstStyle/>
          <a:p>
            <a:pPr algn="l"/>
            <a:r>
              <a:rPr sz="1200" b="1" i="0">
                <a:solidFill>
                  <a:srgbClr val="1B3B5F"/>
                </a:solidFill>
              </a:rPr>
              <a:t>Role</a:t>
            </a:r>
          </a:p>
        </p:txBody>
      </p:sp>
      <p:sp>
        <p:nvSpPr>
          <p:cNvPr id="10" name="TextBox 9"/>
          <p:cNvSpPr txBox="1"/>
          <p:nvPr/>
        </p:nvSpPr>
        <p:spPr>
          <a:xfrm>
            <a:off x="758952" y="1965960"/>
            <a:ext cx="3337560" cy="1005840"/>
          </a:xfrm>
          <a:prstGeom prst="rect">
            <a:avLst/>
          </a:prstGeom>
          <a:noFill/>
        </p:spPr>
        <p:txBody>
          <a:bodyPr wrap="square">
            <a:spAutoFit/>
          </a:bodyPr>
          <a:lstStyle/>
          <a:p>
            <a:pPr algn="l"/>
            <a:r>
              <a:rPr sz="1200" b="0" i="0">
                <a:solidFill>
                  <a:srgbClr val="1E2A28"/>
                </a:solidFill>
              </a:rPr>
              <a:t>AI Intern</a:t>
            </a:r>
          </a:p>
        </p:txBody>
      </p:sp>
      <p:sp>
        <p:nvSpPr>
          <p:cNvPr id="11" name="Rounded Rectangle 10"/>
          <p:cNvSpPr/>
          <p:nvPr/>
        </p:nvSpPr>
        <p:spPr>
          <a:xfrm>
            <a:off x="4434840" y="1417320"/>
            <a:ext cx="3566160" cy="160020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34840" y="1417320"/>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1" y="1481328"/>
            <a:ext cx="3337560" cy="411480"/>
          </a:xfrm>
          <a:prstGeom prst="rect">
            <a:avLst/>
          </a:prstGeom>
          <a:noFill/>
        </p:spPr>
        <p:txBody>
          <a:bodyPr wrap="square">
            <a:spAutoFit/>
          </a:bodyPr>
          <a:lstStyle/>
          <a:p>
            <a:pPr algn="l"/>
            <a:r>
              <a:rPr sz="1200" b="1" i="0">
                <a:solidFill>
                  <a:srgbClr val="1B3B5F"/>
                </a:solidFill>
              </a:rPr>
              <a:t>Duration</a:t>
            </a:r>
          </a:p>
        </p:txBody>
      </p:sp>
      <p:sp>
        <p:nvSpPr>
          <p:cNvPr id="14" name="TextBox 13"/>
          <p:cNvSpPr txBox="1"/>
          <p:nvPr/>
        </p:nvSpPr>
        <p:spPr>
          <a:xfrm>
            <a:off x="4599431" y="1965960"/>
            <a:ext cx="3337560" cy="1005840"/>
          </a:xfrm>
          <a:prstGeom prst="rect">
            <a:avLst/>
          </a:prstGeom>
          <a:noFill/>
        </p:spPr>
        <p:txBody>
          <a:bodyPr wrap="square">
            <a:spAutoFit/>
          </a:bodyPr>
          <a:lstStyle/>
          <a:p>
            <a:pPr algn="l"/>
            <a:r>
              <a:rPr sz="1200" b="0" i="0">
                <a:solidFill>
                  <a:srgbClr val="1E2A28"/>
                </a:solidFill>
              </a:rPr>
              <a:t>10 Weeks (Summer 2026)</a:t>
            </a:r>
          </a:p>
        </p:txBody>
      </p:sp>
      <p:sp>
        <p:nvSpPr>
          <p:cNvPr id="15" name="Rounded Rectangle 14"/>
          <p:cNvSpPr/>
          <p:nvPr/>
        </p:nvSpPr>
        <p:spPr>
          <a:xfrm>
            <a:off x="8275320" y="1417320"/>
            <a:ext cx="3566160" cy="160020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75320" y="1417320"/>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9912" y="1481328"/>
            <a:ext cx="3337560" cy="411480"/>
          </a:xfrm>
          <a:prstGeom prst="rect">
            <a:avLst/>
          </a:prstGeom>
          <a:noFill/>
        </p:spPr>
        <p:txBody>
          <a:bodyPr wrap="square">
            <a:spAutoFit/>
          </a:bodyPr>
          <a:lstStyle/>
          <a:p>
            <a:pPr algn="l"/>
            <a:r>
              <a:rPr sz="1200" b="1" i="0">
                <a:solidFill>
                  <a:srgbClr val="1B3B5F"/>
                </a:solidFill>
              </a:rPr>
              <a:t>Organization</a:t>
            </a:r>
          </a:p>
        </p:txBody>
      </p:sp>
      <p:sp>
        <p:nvSpPr>
          <p:cNvPr id="18" name="TextBox 17"/>
          <p:cNvSpPr txBox="1"/>
          <p:nvPr/>
        </p:nvSpPr>
        <p:spPr>
          <a:xfrm>
            <a:off x="8439912" y="1965960"/>
            <a:ext cx="3337560" cy="1005840"/>
          </a:xfrm>
          <a:prstGeom prst="rect">
            <a:avLst/>
          </a:prstGeom>
          <a:noFill/>
        </p:spPr>
        <p:txBody>
          <a:bodyPr wrap="square">
            <a:spAutoFit/>
          </a:bodyPr>
          <a:lstStyle/>
          <a:p>
            <a:pPr algn="l"/>
            <a:r>
              <a:rPr sz="1200" b="0" i="0">
                <a:solidFill>
                  <a:srgbClr val="1E2A28"/>
                </a:solidFill>
              </a:rPr>
              <a:t>AI Workflow Solutions / Industry Partner</a:t>
            </a:r>
          </a:p>
        </p:txBody>
      </p:sp>
      <p:sp>
        <p:nvSpPr>
          <p:cNvPr id="19" name="Rounded Rectangle 18"/>
          <p:cNvSpPr/>
          <p:nvPr/>
        </p:nvSpPr>
        <p:spPr>
          <a:xfrm>
            <a:off x="594360" y="3246120"/>
            <a:ext cx="3566160" cy="160020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94360" y="3246120"/>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3310127"/>
            <a:ext cx="3337560" cy="411480"/>
          </a:xfrm>
          <a:prstGeom prst="rect">
            <a:avLst/>
          </a:prstGeom>
          <a:noFill/>
        </p:spPr>
        <p:txBody>
          <a:bodyPr wrap="square">
            <a:spAutoFit/>
          </a:bodyPr>
          <a:lstStyle/>
          <a:p>
            <a:pPr algn="l"/>
            <a:r>
              <a:rPr sz="1200" b="1" i="0">
                <a:solidFill>
                  <a:srgbClr val="1B3B5F"/>
                </a:solidFill>
              </a:rPr>
              <a:t>Domain</a:t>
            </a:r>
          </a:p>
        </p:txBody>
      </p:sp>
      <p:sp>
        <p:nvSpPr>
          <p:cNvPr id="22" name="TextBox 21"/>
          <p:cNvSpPr txBox="1"/>
          <p:nvPr/>
        </p:nvSpPr>
        <p:spPr>
          <a:xfrm>
            <a:off x="758952" y="3794759"/>
            <a:ext cx="3337560" cy="1005840"/>
          </a:xfrm>
          <a:prstGeom prst="rect">
            <a:avLst/>
          </a:prstGeom>
          <a:noFill/>
        </p:spPr>
        <p:txBody>
          <a:bodyPr wrap="square">
            <a:spAutoFit/>
          </a:bodyPr>
          <a:lstStyle/>
          <a:p>
            <a:pPr algn="l"/>
            <a:r>
              <a:rPr sz="1200" b="0" i="0">
                <a:solidFill>
                  <a:srgbClr val="1E2A28"/>
                </a:solidFill>
              </a:rPr>
              <a:t>Applied AI, NLP &amp; HR Automation</a:t>
            </a:r>
          </a:p>
        </p:txBody>
      </p:sp>
      <p:sp>
        <p:nvSpPr>
          <p:cNvPr id="23" name="Rounded Rectangle 22"/>
          <p:cNvSpPr/>
          <p:nvPr/>
        </p:nvSpPr>
        <p:spPr>
          <a:xfrm>
            <a:off x="4434840" y="3246120"/>
            <a:ext cx="3566160" cy="1600200"/>
          </a:xfrm>
          <a:prstGeom prst="roundRect">
            <a:avLst/>
          </a:prstGeom>
          <a:solidFill>
            <a:srgbClr val="FFFFFF"/>
          </a:solidFill>
          <a:ln w="1524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34840" y="3246120"/>
            <a:ext cx="3566160" cy="502920"/>
          </a:xfrm>
          <a:prstGeom prst="roundRect">
            <a:avLst/>
          </a:prstGeom>
          <a:solidFill>
            <a:srgbClr val="F4F8F6"/>
          </a:solidFill>
          <a:ln w="6350">
            <a:solidFill>
              <a:srgbClr val="DC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99431" y="3310127"/>
            <a:ext cx="3337560" cy="411480"/>
          </a:xfrm>
          <a:prstGeom prst="rect">
            <a:avLst/>
          </a:prstGeom>
          <a:noFill/>
        </p:spPr>
        <p:txBody>
          <a:bodyPr wrap="square">
            <a:spAutoFit/>
          </a:bodyPr>
          <a:lstStyle/>
          <a:p>
            <a:pPr algn="l"/>
            <a:r>
              <a:rPr sz="1200" b="1" i="0">
                <a:solidFill>
                  <a:srgbClr val="1B3B5F"/>
                </a:solidFill>
              </a:rPr>
              <a:t>Main Work</a:t>
            </a:r>
          </a:p>
        </p:txBody>
      </p:sp>
      <p:sp>
        <p:nvSpPr>
          <p:cNvPr id="26" name="TextBox 25"/>
          <p:cNvSpPr txBox="1"/>
          <p:nvPr/>
        </p:nvSpPr>
        <p:spPr>
          <a:xfrm>
            <a:off x="4599431" y="3794759"/>
            <a:ext cx="3337560" cy="1005840"/>
          </a:xfrm>
          <a:prstGeom prst="rect">
            <a:avLst/>
          </a:prstGeom>
          <a:noFill/>
        </p:spPr>
        <p:txBody>
          <a:bodyPr wrap="square">
            <a:spAutoFit/>
          </a:bodyPr>
          <a:lstStyle/>
          <a:p>
            <a:pPr algn="l"/>
            <a:r>
              <a:rPr sz="1200" b="0" i="0">
                <a:solidFill>
                  <a:srgbClr val="1E2A28"/>
                </a:solidFill>
              </a:rPr>
              <a:t>Built TalentStream AI: an autonomous HR recruitment and outreach agent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About the Organization</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Industry context and workplace environment</a:t>
            </a:r>
          </a:p>
        </p:txBody>
      </p:sp>
      <p:sp>
        <p:nvSpPr>
          <p:cNvPr id="7" name="Rounded Rectangle 6"/>
          <p:cNvSpPr/>
          <p:nvPr/>
        </p:nvSpPr>
        <p:spPr>
          <a:xfrm>
            <a:off x="594360" y="1417320"/>
            <a:ext cx="10789920" cy="48463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17320"/>
            <a:ext cx="109728" cy="484632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508760"/>
            <a:ext cx="10469880" cy="365760"/>
          </a:xfrm>
          <a:prstGeom prst="rect">
            <a:avLst/>
          </a:prstGeom>
          <a:noFill/>
        </p:spPr>
        <p:txBody>
          <a:bodyPr wrap="square">
            <a:spAutoFit/>
          </a:bodyPr>
          <a:lstStyle/>
          <a:p>
            <a:pPr algn="l"/>
            <a:r>
              <a:rPr sz="1300" b="1" i="0">
                <a:solidFill>
                  <a:srgbClr val="1B3B5F"/>
                </a:solidFill>
              </a:rPr>
              <a:t>Organization Profile &amp; Business Environment</a:t>
            </a:r>
          </a:p>
        </p:txBody>
      </p:sp>
      <p:sp>
        <p:nvSpPr>
          <p:cNvPr id="10" name="TextBox 9"/>
          <p:cNvSpPr txBox="1"/>
          <p:nvPr/>
        </p:nvSpPr>
        <p:spPr>
          <a:xfrm>
            <a:off x="795528" y="1892808"/>
            <a:ext cx="10469880" cy="4251959"/>
          </a:xfrm>
          <a:prstGeom prst="rect">
            <a:avLst/>
          </a:prstGeom>
          <a:noFill/>
        </p:spPr>
        <p:txBody>
          <a:bodyPr wrap="square">
            <a:spAutoFit/>
          </a:bodyPr>
          <a:lstStyle/>
          <a:p>
            <a:pPr>
              <a:spcAft>
                <a:spcPts val="800"/>
              </a:spcAft>
              <a:defRPr sz="1200">
                <a:solidFill>
                  <a:srgbClr val="1E2A28"/>
                </a:solidFill>
              </a:defRPr>
            </a:pPr>
            <a:r>
              <a:t>•  Enterprise Software &amp; Applied AI Engineering Division focused on automating practical HR workflows.</a:t>
            </a:r>
          </a:p>
          <a:p>
            <a:pPr>
              <a:spcAft>
                <a:spcPts val="800"/>
              </a:spcAft>
              <a:defRPr sz="1200">
                <a:solidFill>
                  <a:srgbClr val="1E2A28"/>
                </a:solidFill>
              </a:defRPr>
            </a:pPr>
            <a:r>
              <a:t>•  Mission: Eliminate high-friction manual processes using autonomous agents and natural language interfaces.</a:t>
            </a:r>
          </a:p>
          <a:p>
            <a:pPr>
              <a:spcAft>
                <a:spcPts val="800"/>
              </a:spcAft>
              <a:defRPr sz="1200">
                <a:solidFill>
                  <a:srgbClr val="1E2A28"/>
                </a:solidFill>
              </a:defRPr>
            </a:pPr>
            <a:r>
              <a:t>•  Engineering Philosophy: Tools must be explainable, secure, and simple enough for non-technical HR staff.</a:t>
            </a:r>
          </a:p>
          <a:p>
            <a:pPr>
              <a:spcAft>
                <a:spcPts val="800"/>
              </a:spcAft>
              <a:defRPr sz="1200">
                <a:solidFill>
                  <a:srgbClr val="1E2A28"/>
                </a:solidFill>
              </a:defRPr>
            </a:pPr>
            <a:r>
              <a:t>•  Operational Scale: Designed to handle concurrent enterprise-scale hiring pipelines across multiple departments.</a:t>
            </a:r>
          </a:p>
          <a:p>
            <a:pPr>
              <a:spcAft>
                <a:spcPts val="800"/>
              </a:spcAft>
              <a:defRPr sz="1200">
                <a:solidFill>
                  <a:srgbClr val="1E2A28"/>
                </a:solidFill>
              </a:defRPr>
            </a:pPr>
            <a:r>
              <a:t>•  Compliance Standards: Adheres to SOC-2 and GDPR data privacy requirements with full auditability.</a:t>
            </a:r>
          </a:p>
          <a:p>
            <a:pPr>
              <a:spcAft>
                <a:spcPts val="800"/>
              </a:spcAft>
              <a:defRPr sz="1200">
                <a:solidFill>
                  <a:srgbClr val="1E2A28"/>
                </a:solidFill>
              </a:defRPr>
            </a:pPr>
            <a:r>
              <a:t>•  The organization placed a strong emphasis on data ethics: candidates must be evaluated on merit, not personal contact details.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Internship Objectives</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Five goals I set out to achieve</a:t>
            </a:r>
          </a:p>
        </p:txBody>
      </p:sp>
      <p:sp>
        <p:nvSpPr>
          <p:cNvPr id="7" name="Rounded Rectangle 6"/>
          <p:cNvSpPr/>
          <p:nvPr/>
        </p:nvSpPr>
        <p:spPr>
          <a:xfrm>
            <a:off x="594360" y="1389888"/>
            <a:ext cx="10789920" cy="86868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89888"/>
            <a:ext cx="109728" cy="86868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481328"/>
            <a:ext cx="10469880" cy="365760"/>
          </a:xfrm>
          <a:prstGeom prst="rect">
            <a:avLst/>
          </a:prstGeom>
          <a:noFill/>
        </p:spPr>
        <p:txBody>
          <a:bodyPr wrap="square">
            <a:spAutoFit/>
          </a:bodyPr>
          <a:lstStyle/>
          <a:p>
            <a:pPr algn="l"/>
            <a:r>
              <a:rPr sz="1300" b="1" i="0">
                <a:solidFill>
                  <a:srgbClr val="1B3B5F"/>
                </a:solidFill>
              </a:rPr>
              <a:t>1. Cut Screening Time from 15 Mins to Under 2 Mins</a:t>
            </a:r>
          </a:p>
        </p:txBody>
      </p:sp>
      <p:sp>
        <p:nvSpPr>
          <p:cNvPr id="10" name="TextBox 9"/>
          <p:cNvSpPr txBox="1"/>
          <p:nvPr/>
        </p:nvSpPr>
        <p:spPr>
          <a:xfrm>
            <a:off x="795528" y="1865376"/>
            <a:ext cx="10469880" cy="274319"/>
          </a:xfrm>
          <a:prstGeom prst="rect">
            <a:avLst/>
          </a:prstGeom>
          <a:noFill/>
        </p:spPr>
        <p:txBody>
          <a:bodyPr wrap="square">
            <a:spAutoFit/>
          </a:bodyPr>
          <a:lstStyle/>
          <a:p>
            <a:pPr>
              <a:spcAft>
                <a:spcPts val="800"/>
              </a:spcAft>
              <a:defRPr sz="1200">
                <a:solidFill>
                  <a:srgbClr val="1E2A28"/>
                </a:solidFill>
              </a:defRPr>
            </a:pPr>
            <a:r>
              <a:t>•  Build an intelligent parser that extracts skills from raw CVs and computes a transparent 0–100% match score against job requirements.</a:t>
            </a:r>
          </a:p>
        </p:txBody>
      </p:sp>
      <p:sp>
        <p:nvSpPr>
          <p:cNvPr id="11" name="Rounded Rectangle 10"/>
          <p:cNvSpPr/>
          <p:nvPr/>
        </p:nvSpPr>
        <p:spPr>
          <a:xfrm>
            <a:off x="594360" y="2350008"/>
            <a:ext cx="10789920" cy="86868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2350008"/>
            <a:ext cx="109728" cy="86868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441448"/>
            <a:ext cx="10469880" cy="365760"/>
          </a:xfrm>
          <a:prstGeom prst="rect">
            <a:avLst/>
          </a:prstGeom>
          <a:noFill/>
        </p:spPr>
        <p:txBody>
          <a:bodyPr wrap="square">
            <a:spAutoFit/>
          </a:bodyPr>
          <a:lstStyle/>
          <a:p>
            <a:pPr algn="l"/>
            <a:r>
              <a:rPr sz="1300" b="1" i="0">
                <a:solidFill>
                  <a:srgbClr val="1B3B5F"/>
                </a:solidFill>
              </a:rPr>
              <a:t>2. Enable Natural Language Commands in Plain English</a:t>
            </a:r>
          </a:p>
        </p:txBody>
      </p:sp>
      <p:sp>
        <p:nvSpPr>
          <p:cNvPr id="14" name="TextBox 13"/>
          <p:cNvSpPr txBox="1"/>
          <p:nvPr/>
        </p:nvSpPr>
        <p:spPr>
          <a:xfrm>
            <a:off x="795528" y="2825496"/>
            <a:ext cx="10469880" cy="274319"/>
          </a:xfrm>
          <a:prstGeom prst="rect">
            <a:avLst/>
          </a:prstGeom>
          <a:noFill/>
        </p:spPr>
        <p:txBody>
          <a:bodyPr wrap="square">
            <a:spAutoFit/>
          </a:bodyPr>
          <a:lstStyle/>
          <a:p>
            <a:pPr>
              <a:spcAft>
                <a:spcPts val="800"/>
              </a:spcAft>
              <a:defRPr sz="1200">
                <a:solidFill>
                  <a:srgbClr val="1E2A28"/>
                </a:solidFill>
              </a:defRPr>
            </a:pPr>
            <a:r>
              <a:t>•  Create a conversational terminal where HR staff can type 'Find candidates with Python &gt;85%' instead of clicking complex filter menus.</a:t>
            </a:r>
          </a:p>
        </p:txBody>
      </p:sp>
      <p:sp>
        <p:nvSpPr>
          <p:cNvPr id="15" name="Rounded Rectangle 14"/>
          <p:cNvSpPr/>
          <p:nvPr/>
        </p:nvSpPr>
        <p:spPr>
          <a:xfrm>
            <a:off x="594360" y="3310128"/>
            <a:ext cx="10789920" cy="86868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310128"/>
            <a:ext cx="109728" cy="868680"/>
          </a:xfrm>
          <a:prstGeom prst="rect">
            <a:avLst/>
          </a:prstGeom>
          <a:solidFill>
            <a:srgbClr val="1B3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401568"/>
            <a:ext cx="10469880" cy="365760"/>
          </a:xfrm>
          <a:prstGeom prst="rect">
            <a:avLst/>
          </a:prstGeom>
          <a:noFill/>
        </p:spPr>
        <p:txBody>
          <a:bodyPr wrap="square">
            <a:spAutoFit/>
          </a:bodyPr>
          <a:lstStyle/>
          <a:p>
            <a:pPr algn="l"/>
            <a:r>
              <a:rPr sz="1300" b="1" i="0">
                <a:solidFill>
                  <a:srgbClr val="1B3B5F"/>
                </a:solidFill>
              </a:rPr>
              <a:t>3. Automate Personalized Outreach Email Drafting</a:t>
            </a:r>
          </a:p>
        </p:txBody>
      </p:sp>
      <p:sp>
        <p:nvSpPr>
          <p:cNvPr id="18" name="TextBox 17"/>
          <p:cNvSpPr txBox="1"/>
          <p:nvPr/>
        </p:nvSpPr>
        <p:spPr>
          <a:xfrm>
            <a:off x="795528" y="3785616"/>
            <a:ext cx="10469880" cy="274319"/>
          </a:xfrm>
          <a:prstGeom prst="rect">
            <a:avLst/>
          </a:prstGeom>
          <a:noFill/>
        </p:spPr>
        <p:txBody>
          <a:bodyPr wrap="square">
            <a:spAutoFit/>
          </a:bodyPr>
          <a:lstStyle/>
          <a:p>
            <a:pPr>
              <a:spcAft>
                <a:spcPts val="800"/>
              </a:spcAft>
              <a:defRPr sz="1200">
                <a:solidFill>
                  <a:srgbClr val="1E2A28"/>
                </a:solidFill>
              </a:defRPr>
            </a:pPr>
            <a:r>
              <a:t>•  Generate tailored invitation emails using LLM reasoning, referencing each candidate's verified skillset for immediate one-click review.</a:t>
            </a:r>
          </a:p>
        </p:txBody>
      </p:sp>
      <p:sp>
        <p:nvSpPr>
          <p:cNvPr id="19" name="Rounded Rectangle 18"/>
          <p:cNvSpPr/>
          <p:nvPr/>
        </p:nvSpPr>
        <p:spPr>
          <a:xfrm>
            <a:off x="594360" y="4270248"/>
            <a:ext cx="10789920" cy="86868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 y="4270248"/>
            <a:ext cx="109728" cy="86868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4361688"/>
            <a:ext cx="10469880" cy="365760"/>
          </a:xfrm>
          <a:prstGeom prst="rect">
            <a:avLst/>
          </a:prstGeom>
          <a:noFill/>
        </p:spPr>
        <p:txBody>
          <a:bodyPr wrap="square">
            <a:spAutoFit/>
          </a:bodyPr>
          <a:lstStyle/>
          <a:p>
            <a:pPr algn="l"/>
            <a:r>
              <a:rPr sz="1300" b="1" i="0">
                <a:solidFill>
                  <a:srgbClr val="1B3B5F"/>
                </a:solidFill>
              </a:rPr>
              <a:t>4. Protect Candidate Privacy with Role-Based Access Control</a:t>
            </a:r>
          </a:p>
        </p:txBody>
      </p:sp>
      <p:sp>
        <p:nvSpPr>
          <p:cNvPr id="22" name="TextBox 21"/>
          <p:cNvSpPr txBox="1"/>
          <p:nvPr/>
        </p:nvSpPr>
        <p:spPr>
          <a:xfrm>
            <a:off x="795528" y="4745736"/>
            <a:ext cx="10469880" cy="274319"/>
          </a:xfrm>
          <a:prstGeom prst="rect">
            <a:avLst/>
          </a:prstGeom>
          <a:noFill/>
        </p:spPr>
        <p:txBody>
          <a:bodyPr wrap="square">
            <a:spAutoFit/>
          </a:bodyPr>
          <a:lstStyle/>
          <a:p>
            <a:pPr>
              <a:spcAft>
                <a:spcPts val="800"/>
              </a:spcAft>
              <a:defRPr sz="1200">
                <a:solidFill>
                  <a:srgbClr val="1E2A28"/>
                </a:solidFill>
              </a:defRPr>
            </a:pPr>
            <a:r>
              <a:t>•  Automatically mask phone numbers and emails for hiring managers so they evaluate candidates on technical merit, not personal data.</a:t>
            </a:r>
          </a:p>
        </p:txBody>
      </p:sp>
      <p:sp>
        <p:nvSpPr>
          <p:cNvPr id="23" name="Rounded Rectangle 22"/>
          <p:cNvSpPr/>
          <p:nvPr/>
        </p:nvSpPr>
        <p:spPr>
          <a:xfrm>
            <a:off x="594360" y="5230368"/>
            <a:ext cx="10789920" cy="86868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5230368"/>
            <a:ext cx="109728" cy="86868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5321808"/>
            <a:ext cx="10469880" cy="365760"/>
          </a:xfrm>
          <a:prstGeom prst="rect">
            <a:avLst/>
          </a:prstGeom>
          <a:noFill/>
        </p:spPr>
        <p:txBody>
          <a:bodyPr wrap="square">
            <a:spAutoFit/>
          </a:bodyPr>
          <a:lstStyle/>
          <a:p>
            <a:pPr algn="l"/>
            <a:r>
              <a:rPr sz="1300" b="1" i="0">
                <a:solidFill>
                  <a:srgbClr val="1B3B5F"/>
                </a:solidFill>
              </a:rPr>
              <a:t>5. Maintain a Tamper-Proof SOC-2 Audit Trail</a:t>
            </a:r>
          </a:p>
        </p:txBody>
      </p:sp>
      <p:sp>
        <p:nvSpPr>
          <p:cNvPr id="26" name="TextBox 25"/>
          <p:cNvSpPr txBox="1"/>
          <p:nvPr/>
        </p:nvSpPr>
        <p:spPr>
          <a:xfrm>
            <a:off x="795528" y="5705856"/>
            <a:ext cx="10469880" cy="274319"/>
          </a:xfrm>
          <a:prstGeom prst="rect">
            <a:avLst/>
          </a:prstGeom>
          <a:noFill/>
        </p:spPr>
        <p:txBody>
          <a:bodyPr wrap="square">
            <a:spAutoFit/>
          </a:bodyPr>
          <a:lstStyle/>
          <a:p>
            <a:pPr>
              <a:spcAft>
                <a:spcPts val="800"/>
              </a:spcAft>
              <a:defRPr sz="1200">
                <a:solidFill>
                  <a:srgbClr val="1E2A28"/>
                </a:solidFill>
              </a:defRPr>
            </a:pPr>
            <a:r>
              <a:t>•  Record every AI tool call, user action, and role switch with timestamps and verification badges for enterprise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System Architecture</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How TalentStream AI works — step by step</a:t>
            </a:r>
          </a:p>
        </p:txBody>
      </p:sp>
      <p:sp>
        <p:nvSpPr>
          <p:cNvPr id="7" name="Rounded Rectangle 6"/>
          <p:cNvSpPr/>
          <p:nvPr/>
        </p:nvSpPr>
        <p:spPr>
          <a:xfrm>
            <a:off x="594360" y="1417320"/>
            <a:ext cx="2103120" cy="21031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1828800" cy="411480"/>
          </a:xfrm>
          <a:prstGeom prst="rect">
            <a:avLst/>
          </a:prstGeom>
          <a:noFill/>
        </p:spPr>
        <p:txBody>
          <a:bodyPr wrap="square">
            <a:spAutoFit/>
          </a:bodyPr>
          <a:lstStyle/>
          <a:p>
            <a:pPr algn="ctr"/>
            <a:r>
              <a:rPr sz="1100" b="1" i="0">
                <a:solidFill>
                  <a:srgbClr val="FFFFFF"/>
                </a:solidFill>
              </a:rPr>
              <a:t>Step 1
Input</a:t>
            </a:r>
          </a:p>
        </p:txBody>
      </p:sp>
      <p:sp>
        <p:nvSpPr>
          <p:cNvPr id="10" name="TextBox 9"/>
          <p:cNvSpPr txBox="1"/>
          <p:nvPr/>
        </p:nvSpPr>
        <p:spPr>
          <a:xfrm>
            <a:off x="731520" y="1993392"/>
            <a:ext cx="1828800" cy="1371600"/>
          </a:xfrm>
          <a:prstGeom prst="rect">
            <a:avLst/>
          </a:prstGeom>
          <a:noFill/>
        </p:spPr>
        <p:txBody>
          <a:bodyPr wrap="square">
            <a:spAutoFit/>
          </a:bodyPr>
          <a:lstStyle/>
          <a:p>
            <a:pPr algn="l"/>
            <a:r>
              <a:rPr sz="1100" b="0" i="0">
                <a:solidFill>
                  <a:srgbClr val="1E2A28"/>
                </a:solidFill>
              </a:rPr>
              <a:t>CV text pasted or uploaded into the screening panel</a:t>
            </a:r>
          </a:p>
        </p:txBody>
      </p:sp>
      <p:sp>
        <p:nvSpPr>
          <p:cNvPr id="11" name="Rounded Rectangle 10"/>
          <p:cNvSpPr/>
          <p:nvPr/>
        </p:nvSpPr>
        <p:spPr>
          <a:xfrm>
            <a:off x="2862072" y="1417320"/>
            <a:ext cx="2103120" cy="21031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62072"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9232" y="1463040"/>
            <a:ext cx="1828800" cy="411480"/>
          </a:xfrm>
          <a:prstGeom prst="rect">
            <a:avLst/>
          </a:prstGeom>
          <a:noFill/>
        </p:spPr>
        <p:txBody>
          <a:bodyPr wrap="square">
            <a:spAutoFit/>
          </a:bodyPr>
          <a:lstStyle/>
          <a:p>
            <a:pPr algn="ctr"/>
            <a:r>
              <a:rPr sz="1100" b="1" i="0">
                <a:solidFill>
                  <a:srgbClr val="FFFFFF"/>
                </a:solidFill>
              </a:rPr>
              <a:t>Step 2
Parsing</a:t>
            </a:r>
          </a:p>
        </p:txBody>
      </p:sp>
      <p:sp>
        <p:nvSpPr>
          <p:cNvPr id="14" name="TextBox 13"/>
          <p:cNvSpPr txBox="1"/>
          <p:nvPr/>
        </p:nvSpPr>
        <p:spPr>
          <a:xfrm>
            <a:off x="2999232" y="1993392"/>
            <a:ext cx="1828800" cy="1371600"/>
          </a:xfrm>
          <a:prstGeom prst="rect">
            <a:avLst/>
          </a:prstGeom>
          <a:noFill/>
        </p:spPr>
        <p:txBody>
          <a:bodyPr wrap="square">
            <a:spAutoFit/>
          </a:bodyPr>
          <a:lstStyle/>
          <a:p>
            <a:pPr algn="l"/>
            <a:r>
              <a:rPr sz="1100" b="0" i="0">
                <a:solidFill>
                  <a:srgbClr val="1E2A28"/>
                </a:solidFill>
              </a:rPr>
              <a:t>Agent extracts skills, experience &amp; role keywords</a:t>
            </a:r>
          </a:p>
        </p:txBody>
      </p:sp>
      <p:sp>
        <p:nvSpPr>
          <p:cNvPr id="15" name="Rounded Rectangle 14"/>
          <p:cNvSpPr/>
          <p:nvPr/>
        </p:nvSpPr>
        <p:spPr>
          <a:xfrm>
            <a:off x="5129784" y="1417320"/>
            <a:ext cx="2103120" cy="21031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29784"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66944" y="1463040"/>
            <a:ext cx="1828800" cy="411480"/>
          </a:xfrm>
          <a:prstGeom prst="rect">
            <a:avLst/>
          </a:prstGeom>
          <a:noFill/>
        </p:spPr>
        <p:txBody>
          <a:bodyPr wrap="square">
            <a:spAutoFit/>
          </a:bodyPr>
          <a:lstStyle/>
          <a:p>
            <a:pPr algn="ctr"/>
            <a:r>
              <a:rPr sz="1100" b="1" i="0">
                <a:solidFill>
                  <a:srgbClr val="FFFFFF"/>
                </a:solidFill>
              </a:rPr>
              <a:t>Step 3
Scoring</a:t>
            </a:r>
          </a:p>
        </p:txBody>
      </p:sp>
      <p:sp>
        <p:nvSpPr>
          <p:cNvPr id="18" name="TextBox 17"/>
          <p:cNvSpPr txBox="1"/>
          <p:nvPr/>
        </p:nvSpPr>
        <p:spPr>
          <a:xfrm>
            <a:off x="5266944" y="1993392"/>
            <a:ext cx="1828800" cy="1371600"/>
          </a:xfrm>
          <a:prstGeom prst="rect">
            <a:avLst/>
          </a:prstGeom>
          <a:noFill/>
        </p:spPr>
        <p:txBody>
          <a:bodyPr wrap="square">
            <a:spAutoFit/>
          </a:bodyPr>
          <a:lstStyle/>
          <a:p>
            <a:pPr algn="l"/>
            <a:r>
              <a:rPr sz="1100" b="0" i="0">
                <a:solidFill>
                  <a:srgbClr val="1E2A28"/>
                </a:solidFill>
              </a:rPr>
              <a:t>Calculates 0–100% match vs. job description</a:t>
            </a:r>
          </a:p>
        </p:txBody>
      </p:sp>
      <p:sp>
        <p:nvSpPr>
          <p:cNvPr id="19" name="Rounded Rectangle 18"/>
          <p:cNvSpPr/>
          <p:nvPr/>
        </p:nvSpPr>
        <p:spPr>
          <a:xfrm>
            <a:off x="7397496" y="1417320"/>
            <a:ext cx="2103120" cy="21031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97496"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1463040"/>
            <a:ext cx="1828800" cy="411480"/>
          </a:xfrm>
          <a:prstGeom prst="rect">
            <a:avLst/>
          </a:prstGeom>
          <a:noFill/>
        </p:spPr>
        <p:txBody>
          <a:bodyPr wrap="square">
            <a:spAutoFit/>
          </a:bodyPr>
          <a:lstStyle/>
          <a:p>
            <a:pPr algn="ctr"/>
            <a:r>
              <a:rPr sz="1100" b="1" i="0">
                <a:solidFill>
                  <a:srgbClr val="FFFFFF"/>
                </a:solidFill>
              </a:rPr>
              <a:t>Step 4
Outreach</a:t>
            </a:r>
          </a:p>
        </p:txBody>
      </p:sp>
      <p:sp>
        <p:nvSpPr>
          <p:cNvPr id="22" name="TextBox 21"/>
          <p:cNvSpPr txBox="1"/>
          <p:nvPr/>
        </p:nvSpPr>
        <p:spPr>
          <a:xfrm>
            <a:off x="7534656" y="1993392"/>
            <a:ext cx="1828800" cy="1371600"/>
          </a:xfrm>
          <a:prstGeom prst="rect">
            <a:avLst/>
          </a:prstGeom>
          <a:noFill/>
        </p:spPr>
        <p:txBody>
          <a:bodyPr wrap="square">
            <a:spAutoFit/>
          </a:bodyPr>
          <a:lstStyle/>
          <a:p>
            <a:pPr algn="l"/>
            <a:r>
              <a:rPr sz="1100" b="0" i="0">
                <a:solidFill>
                  <a:srgbClr val="1E2A28"/>
                </a:solidFill>
              </a:rPr>
              <a:t>LLM drafts tailored follow-up email for review</a:t>
            </a:r>
          </a:p>
        </p:txBody>
      </p:sp>
      <p:sp>
        <p:nvSpPr>
          <p:cNvPr id="23" name="Rounded Rectangle 22"/>
          <p:cNvSpPr/>
          <p:nvPr/>
        </p:nvSpPr>
        <p:spPr>
          <a:xfrm>
            <a:off x="9665208" y="1417320"/>
            <a:ext cx="2103120" cy="21031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65208"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02368" y="1463040"/>
            <a:ext cx="1828800" cy="411480"/>
          </a:xfrm>
          <a:prstGeom prst="rect">
            <a:avLst/>
          </a:prstGeom>
          <a:noFill/>
        </p:spPr>
        <p:txBody>
          <a:bodyPr wrap="square">
            <a:spAutoFit/>
          </a:bodyPr>
          <a:lstStyle/>
          <a:p>
            <a:pPr algn="ctr"/>
            <a:r>
              <a:rPr sz="1100" b="1" i="0">
                <a:solidFill>
                  <a:srgbClr val="FFFFFF"/>
                </a:solidFill>
              </a:rPr>
              <a:t>Step 5
Audit</a:t>
            </a:r>
          </a:p>
        </p:txBody>
      </p:sp>
      <p:sp>
        <p:nvSpPr>
          <p:cNvPr id="26" name="TextBox 25"/>
          <p:cNvSpPr txBox="1"/>
          <p:nvPr/>
        </p:nvSpPr>
        <p:spPr>
          <a:xfrm>
            <a:off x="9802368" y="1993392"/>
            <a:ext cx="1828800" cy="1371600"/>
          </a:xfrm>
          <a:prstGeom prst="rect">
            <a:avLst/>
          </a:prstGeom>
          <a:noFill/>
        </p:spPr>
        <p:txBody>
          <a:bodyPr wrap="square">
            <a:spAutoFit/>
          </a:bodyPr>
          <a:lstStyle/>
          <a:p>
            <a:pPr algn="l"/>
            <a:r>
              <a:rPr sz="1100" b="0" i="0">
                <a:solidFill>
                  <a:srgbClr val="1E2A28"/>
                </a:solidFill>
              </a:rPr>
              <a:t>Record saved to DB, action logged to audit trail</a:t>
            </a:r>
          </a:p>
        </p:txBody>
      </p:sp>
      <p:sp>
        <p:nvSpPr>
          <p:cNvPr id="27" name="Rounded Rectangle 26"/>
          <p:cNvSpPr/>
          <p:nvPr/>
        </p:nvSpPr>
        <p:spPr>
          <a:xfrm>
            <a:off x="594360" y="3749039"/>
            <a:ext cx="10789920" cy="25146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4360" y="3749039"/>
            <a:ext cx="109728" cy="25146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3840479"/>
            <a:ext cx="10469880" cy="365760"/>
          </a:xfrm>
          <a:prstGeom prst="rect">
            <a:avLst/>
          </a:prstGeom>
          <a:noFill/>
        </p:spPr>
        <p:txBody>
          <a:bodyPr wrap="square">
            <a:spAutoFit/>
          </a:bodyPr>
          <a:lstStyle/>
          <a:p>
            <a:pPr algn="l"/>
            <a:r>
              <a:rPr sz="1300" b="1" i="0">
                <a:solidFill>
                  <a:srgbClr val="1B3B5F"/>
                </a:solidFill>
              </a:rPr>
              <a:t>Architectural Highlights</a:t>
            </a:r>
          </a:p>
        </p:txBody>
      </p:sp>
      <p:sp>
        <p:nvSpPr>
          <p:cNvPr id="30" name="TextBox 29"/>
          <p:cNvSpPr txBox="1"/>
          <p:nvPr/>
        </p:nvSpPr>
        <p:spPr>
          <a:xfrm>
            <a:off x="795528" y="4224527"/>
            <a:ext cx="10469880" cy="1920240"/>
          </a:xfrm>
          <a:prstGeom prst="rect">
            <a:avLst/>
          </a:prstGeom>
          <a:noFill/>
        </p:spPr>
        <p:txBody>
          <a:bodyPr wrap="square">
            <a:spAutoFit/>
          </a:bodyPr>
          <a:lstStyle/>
          <a:p>
            <a:pPr>
              <a:spcAft>
                <a:spcPts val="800"/>
              </a:spcAft>
              <a:defRPr sz="1200">
                <a:solidFill>
                  <a:srgbClr val="1E2A28"/>
                </a:solidFill>
              </a:defRPr>
            </a:pPr>
            <a:r>
              <a:t>•  Live Thinking Console: Every agent step (parsing, scoring, drafting) streams in real-time to the UI terminal.</a:t>
            </a:r>
          </a:p>
          <a:p>
            <a:pPr>
              <a:spcAft>
                <a:spcPts val="800"/>
              </a:spcAft>
              <a:defRPr sz="1200">
                <a:solidFill>
                  <a:srgbClr val="1E2A28"/>
                </a:solidFill>
              </a:defRPr>
            </a:pPr>
            <a:r>
              <a:t>•  PII Redacted at Data Layer: Contact masking happens before data renders—impossible to bypass via browser tools.</a:t>
            </a:r>
          </a:p>
          <a:p>
            <a:pPr>
              <a:spcAft>
                <a:spcPts val="800"/>
              </a:spcAft>
              <a:defRPr sz="1200">
                <a:solidFill>
                  <a:srgbClr val="1E2A28"/>
                </a:solidFill>
              </a:defRPr>
            </a:pPr>
            <a:r>
              <a:t>•  Deterministic Tool Calls: Natural language commands trigger exact DB queries, not free-form AI hallucination.</a:t>
            </a:r>
          </a:p>
          <a:p>
            <a:pPr>
              <a:spcAft>
                <a:spcPts val="800"/>
              </a:spcAft>
              <a:defRPr sz="1200">
                <a:solidFill>
                  <a:srgbClr val="1E2A28"/>
                </a:solidFill>
              </a:defRPr>
            </a:pPr>
            <a:r>
              <a:t>•  Zero External Libraries: Built with pure HTML5/CSS3/ES6+—loads instantly in any modern web browser.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Technology Stack</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Tools and platforms used across the system</a:t>
            </a:r>
          </a:p>
        </p:txBody>
      </p:sp>
      <p:sp>
        <p:nvSpPr>
          <p:cNvPr id="7" name="Rounded Rectangle 6"/>
          <p:cNvSpPr/>
          <p:nvPr/>
        </p:nvSpPr>
        <p:spPr>
          <a:xfrm>
            <a:off x="594360" y="1417320"/>
            <a:ext cx="2103120" cy="41148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463040"/>
            <a:ext cx="1874519" cy="411480"/>
          </a:xfrm>
          <a:prstGeom prst="rect">
            <a:avLst/>
          </a:prstGeom>
          <a:noFill/>
        </p:spPr>
        <p:txBody>
          <a:bodyPr wrap="square">
            <a:spAutoFit/>
          </a:bodyPr>
          <a:lstStyle/>
          <a:p>
            <a:pPr algn="ctr"/>
            <a:r>
              <a:rPr sz="1300" b="1" i="0">
                <a:solidFill>
                  <a:srgbClr val="FFFFFF"/>
                </a:solidFill>
              </a:rPr>
              <a:t>Frontend</a:t>
            </a:r>
          </a:p>
        </p:txBody>
      </p:sp>
      <p:sp>
        <p:nvSpPr>
          <p:cNvPr id="10" name="TextBox 9"/>
          <p:cNvSpPr txBox="1"/>
          <p:nvPr/>
        </p:nvSpPr>
        <p:spPr>
          <a:xfrm>
            <a:off x="731520" y="2011680"/>
            <a:ext cx="1828800" cy="3383280"/>
          </a:xfrm>
          <a:prstGeom prst="rect">
            <a:avLst/>
          </a:prstGeom>
          <a:noFill/>
        </p:spPr>
        <p:txBody>
          <a:bodyPr wrap="square">
            <a:spAutoFit/>
          </a:bodyPr>
          <a:lstStyle/>
          <a:p>
            <a:pPr>
              <a:spcAft>
                <a:spcPts val="1000"/>
              </a:spcAft>
              <a:defRPr sz="1200">
                <a:solidFill>
                  <a:srgbClr val="1E2A28"/>
                </a:solidFill>
              </a:defRPr>
            </a:pPr>
            <a:r>
              <a:t>•  HTML5</a:t>
            </a:r>
          </a:p>
          <a:p>
            <a:pPr>
              <a:spcAft>
                <a:spcPts val="1000"/>
              </a:spcAft>
              <a:defRPr sz="1200">
                <a:solidFill>
                  <a:srgbClr val="1E2A28"/>
                </a:solidFill>
              </a:defRPr>
            </a:pPr>
            <a:r>
              <a:t>•  CSS3 (Glassmorphism)</a:t>
            </a:r>
          </a:p>
          <a:p>
            <a:pPr>
              <a:spcAft>
                <a:spcPts val="1000"/>
              </a:spcAft>
              <a:defRPr sz="1200">
                <a:solidFill>
                  <a:srgbClr val="1E2A28"/>
                </a:solidFill>
              </a:defRPr>
            </a:pPr>
            <a:r>
              <a:t>•  Google Fonts</a:t>
            </a:r>
          </a:p>
          <a:p>
            <a:pPr>
              <a:spcAft>
                <a:spcPts val="1000"/>
              </a:spcAft>
              <a:defRPr sz="1200">
                <a:solidFill>
                  <a:srgbClr val="1E2A28"/>
                </a:solidFill>
              </a:defRPr>
            </a:pPr>
            <a:r>
              <a:t>•  Inline SVG Charts</a:t>
            </a:r>
          </a:p>
        </p:txBody>
      </p:sp>
      <p:sp>
        <p:nvSpPr>
          <p:cNvPr id="11" name="Rounded Rectangle 10"/>
          <p:cNvSpPr/>
          <p:nvPr/>
        </p:nvSpPr>
        <p:spPr>
          <a:xfrm>
            <a:off x="2862072" y="1417320"/>
            <a:ext cx="2103120" cy="41148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62072"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71800" y="1463040"/>
            <a:ext cx="1874519" cy="411480"/>
          </a:xfrm>
          <a:prstGeom prst="rect">
            <a:avLst/>
          </a:prstGeom>
          <a:noFill/>
        </p:spPr>
        <p:txBody>
          <a:bodyPr wrap="square">
            <a:spAutoFit/>
          </a:bodyPr>
          <a:lstStyle/>
          <a:p>
            <a:pPr algn="ctr"/>
            <a:r>
              <a:rPr sz="1300" b="1" i="0">
                <a:solidFill>
                  <a:srgbClr val="FFFFFF"/>
                </a:solidFill>
              </a:rPr>
              <a:t>AI Engine</a:t>
            </a:r>
          </a:p>
        </p:txBody>
      </p:sp>
      <p:sp>
        <p:nvSpPr>
          <p:cNvPr id="14" name="TextBox 13"/>
          <p:cNvSpPr txBox="1"/>
          <p:nvPr/>
        </p:nvSpPr>
        <p:spPr>
          <a:xfrm>
            <a:off x="2999232" y="2011680"/>
            <a:ext cx="1828800" cy="3383280"/>
          </a:xfrm>
          <a:prstGeom prst="rect">
            <a:avLst/>
          </a:prstGeom>
          <a:noFill/>
        </p:spPr>
        <p:txBody>
          <a:bodyPr wrap="square">
            <a:spAutoFit/>
          </a:bodyPr>
          <a:lstStyle/>
          <a:p>
            <a:pPr>
              <a:spcAft>
                <a:spcPts val="1000"/>
              </a:spcAft>
              <a:defRPr sz="1200">
                <a:solidFill>
                  <a:srgbClr val="1E2A28"/>
                </a:solidFill>
              </a:defRPr>
            </a:pPr>
            <a:r>
              <a:t>•  Gemini 3.5 Flash</a:t>
            </a:r>
          </a:p>
          <a:p>
            <a:pPr>
              <a:spcAft>
                <a:spcPts val="1000"/>
              </a:spcAft>
              <a:defRPr sz="1200">
                <a:solidFill>
                  <a:srgbClr val="1E2A28"/>
                </a:solidFill>
              </a:defRPr>
            </a:pPr>
            <a:r>
              <a:t>•  NLP Command Parser</a:t>
            </a:r>
          </a:p>
          <a:p>
            <a:pPr>
              <a:spcAft>
                <a:spcPts val="1000"/>
              </a:spcAft>
              <a:defRPr sz="1200">
                <a:solidFill>
                  <a:srgbClr val="1E2A28"/>
                </a:solidFill>
              </a:defRPr>
            </a:pPr>
            <a:r>
              <a:t>•  Prompt Engineering</a:t>
            </a:r>
          </a:p>
          <a:p>
            <a:pPr>
              <a:spcAft>
                <a:spcPts val="1000"/>
              </a:spcAft>
              <a:defRPr sz="1200">
                <a:solidFill>
                  <a:srgbClr val="1E2A28"/>
                </a:solidFill>
              </a:defRPr>
            </a:pPr>
            <a:r>
              <a:t>•  Async JS (ES6+)</a:t>
            </a:r>
          </a:p>
        </p:txBody>
      </p:sp>
      <p:sp>
        <p:nvSpPr>
          <p:cNvPr id="15" name="Rounded Rectangle 14"/>
          <p:cNvSpPr/>
          <p:nvPr/>
        </p:nvSpPr>
        <p:spPr>
          <a:xfrm>
            <a:off x="5129784" y="1417320"/>
            <a:ext cx="2103120" cy="41148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29784"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39512" y="1463040"/>
            <a:ext cx="1874519" cy="411480"/>
          </a:xfrm>
          <a:prstGeom prst="rect">
            <a:avLst/>
          </a:prstGeom>
          <a:noFill/>
        </p:spPr>
        <p:txBody>
          <a:bodyPr wrap="square">
            <a:spAutoFit/>
          </a:bodyPr>
          <a:lstStyle/>
          <a:p>
            <a:pPr algn="ctr"/>
            <a:r>
              <a:rPr sz="1300" b="1" i="0">
                <a:solidFill>
                  <a:srgbClr val="FFFFFF"/>
                </a:solidFill>
              </a:rPr>
              <a:t>Security</a:t>
            </a:r>
          </a:p>
        </p:txBody>
      </p:sp>
      <p:sp>
        <p:nvSpPr>
          <p:cNvPr id="18" name="TextBox 17"/>
          <p:cNvSpPr txBox="1"/>
          <p:nvPr/>
        </p:nvSpPr>
        <p:spPr>
          <a:xfrm>
            <a:off x="5266944" y="2011680"/>
            <a:ext cx="1828800" cy="3383280"/>
          </a:xfrm>
          <a:prstGeom prst="rect">
            <a:avLst/>
          </a:prstGeom>
          <a:noFill/>
        </p:spPr>
        <p:txBody>
          <a:bodyPr wrap="square">
            <a:spAutoFit/>
          </a:bodyPr>
          <a:lstStyle/>
          <a:p>
            <a:pPr>
              <a:spcAft>
                <a:spcPts val="1000"/>
              </a:spcAft>
              <a:defRPr sz="1200">
                <a:solidFill>
                  <a:srgbClr val="1E2A28"/>
                </a:solidFill>
              </a:defRPr>
            </a:pPr>
            <a:r>
              <a:t>•  RBAC (3 Roles)</a:t>
            </a:r>
          </a:p>
          <a:p>
            <a:pPr>
              <a:spcAft>
                <a:spcPts val="1000"/>
              </a:spcAft>
              <a:defRPr sz="1200">
                <a:solidFill>
                  <a:srgbClr val="1E2A28"/>
                </a:solidFill>
              </a:defRPr>
            </a:pPr>
            <a:r>
              <a:t>•  Regex PII Masking</a:t>
            </a:r>
          </a:p>
          <a:p>
            <a:pPr>
              <a:spcAft>
                <a:spcPts val="1000"/>
              </a:spcAft>
              <a:defRPr sz="1200">
                <a:solidFill>
                  <a:srgbClr val="1E2A28"/>
                </a:solidFill>
              </a:defRPr>
            </a:pPr>
            <a:r>
              <a:t>•  SOC-2 Audit Log</a:t>
            </a:r>
          </a:p>
          <a:p>
            <a:pPr>
              <a:spcAft>
                <a:spcPts val="1000"/>
              </a:spcAft>
              <a:defRPr sz="1200">
                <a:solidFill>
                  <a:srgbClr val="1E2A28"/>
                </a:solidFill>
              </a:defRPr>
            </a:pPr>
            <a:r>
              <a:t>•  JSON Log Export</a:t>
            </a:r>
          </a:p>
        </p:txBody>
      </p:sp>
      <p:sp>
        <p:nvSpPr>
          <p:cNvPr id="19" name="Rounded Rectangle 18"/>
          <p:cNvSpPr/>
          <p:nvPr/>
        </p:nvSpPr>
        <p:spPr>
          <a:xfrm>
            <a:off x="7397496" y="1417320"/>
            <a:ext cx="2103120" cy="41148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97496"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07223" y="1463040"/>
            <a:ext cx="1874519" cy="411480"/>
          </a:xfrm>
          <a:prstGeom prst="rect">
            <a:avLst/>
          </a:prstGeom>
          <a:noFill/>
        </p:spPr>
        <p:txBody>
          <a:bodyPr wrap="square">
            <a:spAutoFit/>
          </a:bodyPr>
          <a:lstStyle/>
          <a:p>
            <a:pPr algn="ctr"/>
            <a:r>
              <a:rPr sz="1300" b="1" i="0">
                <a:solidFill>
                  <a:srgbClr val="FFFFFF"/>
                </a:solidFill>
              </a:rPr>
              <a:t>Backend / DB</a:t>
            </a:r>
          </a:p>
        </p:txBody>
      </p:sp>
      <p:sp>
        <p:nvSpPr>
          <p:cNvPr id="22" name="TextBox 21"/>
          <p:cNvSpPr txBox="1"/>
          <p:nvPr/>
        </p:nvSpPr>
        <p:spPr>
          <a:xfrm>
            <a:off x="7534656" y="2011680"/>
            <a:ext cx="1828800" cy="3383280"/>
          </a:xfrm>
          <a:prstGeom prst="rect">
            <a:avLst/>
          </a:prstGeom>
          <a:noFill/>
        </p:spPr>
        <p:txBody>
          <a:bodyPr wrap="square">
            <a:spAutoFit/>
          </a:bodyPr>
          <a:lstStyle/>
          <a:p>
            <a:pPr>
              <a:spcAft>
                <a:spcPts val="1000"/>
              </a:spcAft>
              <a:defRPr sz="1200">
                <a:solidFill>
                  <a:srgbClr val="1E2A28"/>
                </a:solidFill>
              </a:defRPr>
            </a:pPr>
            <a:r>
              <a:t>•  LocalStorage DB</a:t>
            </a:r>
          </a:p>
          <a:p>
            <a:pPr>
              <a:spcAft>
                <a:spcPts val="1000"/>
              </a:spcAft>
              <a:defRPr sz="1200">
                <a:solidFill>
                  <a:srgbClr val="1E2A28"/>
                </a:solidFill>
              </a:defRPr>
            </a:pPr>
            <a:r>
              <a:t>•  Encrypted State</a:t>
            </a:r>
          </a:p>
          <a:p>
            <a:pPr>
              <a:spcAft>
                <a:spcPts val="1000"/>
              </a:spcAft>
              <a:defRPr sz="1200">
                <a:solidFill>
                  <a:srgbClr val="1E2A28"/>
                </a:solidFill>
              </a:defRPr>
            </a:pPr>
            <a:r>
              <a:t>•  Event Schema</a:t>
            </a:r>
          </a:p>
          <a:p>
            <a:pPr>
              <a:spcAft>
                <a:spcPts val="1000"/>
              </a:spcAft>
              <a:defRPr sz="1200">
                <a:solidFill>
                  <a:srgbClr val="1E2A28"/>
                </a:solidFill>
              </a:defRPr>
            </a:pPr>
            <a:r>
              <a:t>•  Candidate Index</a:t>
            </a:r>
          </a:p>
        </p:txBody>
      </p:sp>
      <p:sp>
        <p:nvSpPr>
          <p:cNvPr id="23" name="Rounded Rectangle 22"/>
          <p:cNvSpPr/>
          <p:nvPr/>
        </p:nvSpPr>
        <p:spPr>
          <a:xfrm>
            <a:off x="9665208" y="1417320"/>
            <a:ext cx="2103120" cy="41148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65208" y="1417320"/>
            <a:ext cx="2103120" cy="502920"/>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74936" y="1463040"/>
            <a:ext cx="1874519" cy="411480"/>
          </a:xfrm>
          <a:prstGeom prst="rect">
            <a:avLst/>
          </a:prstGeom>
          <a:noFill/>
        </p:spPr>
        <p:txBody>
          <a:bodyPr wrap="square">
            <a:spAutoFit/>
          </a:bodyPr>
          <a:lstStyle/>
          <a:p>
            <a:pPr algn="ctr"/>
            <a:r>
              <a:rPr sz="1300" b="1" i="0">
                <a:solidFill>
                  <a:srgbClr val="FFFFFF"/>
                </a:solidFill>
              </a:rPr>
              <a:t>DevOps</a:t>
            </a:r>
          </a:p>
        </p:txBody>
      </p:sp>
      <p:sp>
        <p:nvSpPr>
          <p:cNvPr id="26" name="TextBox 25"/>
          <p:cNvSpPr txBox="1"/>
          <p:nvPr/>
        </p:nvSpPr>
        <p:spPr>
          <a:xfrm>
            <a:off x="9802368" y="2011680"/>
            <a:ext cx="1828800" cy="3383280"/>
          </a:xfrm>
          <a:prstGeom prst="rect">
            <a:avLst/>
          </a:prstGeom>
          <a:noFill/>
        </p:spPr>
        <p:txBody>
          <a:bodyPr wrap="square">
            <a:spAutoFit/>
          </a:bodyPr>
          <a:lstStyle/>
          <a:p>
            <a:pPr>
              <a:spcAft>
                <a:spcPts val="1000"/>
              </a:spcAft>
              <a:defRPr sz="1200">
                <a:solidFill>
                  <a:srgbClr val="1E2A28"/>
                </a:solidFill>
              </a:defRPr>
            </a:pPr>
            <a:r>
              <a:t>•  Git + GitHub</a:t>
            </a:r>
          </a:p>
          <a:p>
            <a:pPr>
              <a:spcAft>
                <a:spcPts val="1000"/>
              </a:spcAft>
              <a:defRPr sz="1200">
                <a:solidFill>
                  <a:srgbClr val="1E2A28"/>
                </a:solidFill>
              </a:defRPr>
            </a:pPr>
            <a:r>
              <a:t>•  Vite Dev Server</a:t>
            </a:r>
          </a:p>
          <a:p>
            <a:pPr>
              <a:spcAft>
                <a:spcPts val="1000"/>
              </a:spcAft>
              <a:defRPr sz="1200">
                <a:solidFill>
                  <a:srgbClr val="1E2A28"/>
                </a:solidFill>
              </a:defRPr>
            </a:pPr>
            <a:r>
              <a:t>•  GitHub Actions</a:t>
            </a:r>
          </a:p>
          <a:p>
            <a:pPr>
              <a:spcAft>
                <a:spcPts val="1000"/>
              </a:spcAft>
              <a:defRPr sz="1200">
                <a:solidFill>
                  <a:srgbClr val="1E2A28"/>
                </a:solidFill>
              </a:defRPr>
            </a:pPr>
            <a:r>
              <a:t>•  GitHub Pages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Core Modules</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Five modules built during the internship</a:t>
            </a:r>
          </a:p>
        </p:txBody>
      </p:sp>
      <p:sp>
        <p:nvSpPr>
          <p:cNvPr id="7" name="Rounded Rectangle 6"/>
          <p:cNvSpPr/>
          <p:nvPr/>
        </p:nvSpPr>
        <p:spPr>
          <a:xfrm>
            <a:off x="594360" y="1417320"/>
            <a:ext cx="2103120" cy="45720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417320"/>
            <a:ext cx="2103120" cy="658368"/>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444752"/>
            <a:ext cx="1874519" cy="594360"/>
          </a:xfrm>
          <a:prstGeom prst="rect">
            <a:avLst/>
          </a:prstGeom>
          <a:noFill/>
        </p:spPr>
        <p:txBody>
          <a:bodyPr wrap="square">
            <a:spAutoFit/>
          </a:bodyPr>
          <a:lstStyle/>
          <a:p>
            <a:pPr algn="ctr"/>
            <a:r>
              <a:rPr sz="1100" b="1" i="0">
                <a:solidFill>
                  <a:srgbClr val="FFFFFF"/>
                </a:solidFill>
              </a:rPr>
              <a:t>Autonomous Resume
Screening Engine</a:t>
            </a:r>
          </a:p>
        </p:txBody>
      </p:sp>
      <p:sp>
        <p:nvSpPr>
          <p:cNvPr id="10" name="TextBox 9"/>
          <p:cNvSpPr txBox="1"/>
          <p:nvPr/>
        </p:nvSpPr>
        <p:spPr>
          <a:xfrm>
            <a:off x="731520" y="2148840"/>
            <a:ext cx="1828800" cy="3657600"/>
          </a:xfrm>
          <a:prstGeom prst="rect">
            <a:avLst/>
          </a:prstGeom>
          <a:noFill/>
        </p:spPr>
        <p:txBody>
          <a:bodyPr wrap="square">
            <a:spAutoFit/>
          </a:bodyPr>
          <a:lstStyle/>
          <a:p>
            <a:pPr>
              <a:spcAft>
                <a:spcPts val="1000"/>
              </a:spcAft>
              <a:defRPr sz="1100">
                <a:solidFill>
                  <a:srgbClr val="1E2A28"/>
                </a:solidFill>
              </a:defRPr>
            </a:pPr>
            <a:r>
              <a:t>•  Parses raw CV text</a:t>
            </a:r>
          </a:p>
          <a:p>
            <a:pPr>
              <a:spcAft>
                <a:spcPts val="1000"/>
              </a:spcAft>
              <a:defRPr sz="1100">
                <a:solidFill>
                  <a:srgbClr val="1E2A28"/>
                </a:solidFill>
              </a:defRPr>
            </a:pPr>
            <a:r>
              <a:t>•  Extracts technical skills</a:t>
            </a:r>
          </a:p>
          <a:p>
            <a:pPr>
              <a:spcAft>
                <a:spcPts val="1000"/>
              </a:spcAft>
              <a:defRPr sz="1100">
                <a:solidFill>
                  <a:srgbClr val="1E2A28"/>
                </a:solidFill>
              </a:defRPr>
            </a:pPr>
            <a:r>
              <a:t>•  Computes 0–100% match score</a:t>
            </a:r>
          </a:p>
          <a:p>
            <a:pPr>
              <a:spcAft>
                <a:spcPts val="1000"/>
              </a:spcAft>
              <a:defRPr sz="1100">
                <a:solidFill>
                  <a:srgbClr val="1E2A28"/>
                </a:solidFill>
              </a:defRPr>
            </a:pPr>
            <a:r>
              <a:t>•  Flags experience gaps</a:t>
            </a:r>
          </a:p>
        </p:txBody>
      </p:sp>
      <p:sp>
        <p:nvSpPr>
          <p:cNvPr id="11" name="Rounded Rectangle 10"/>
          <p:cNvSpPr/>
          <p:nvPr/>
        </p:nvSpPr>
        <p:spPr>
          <a:xfrm>
            <a:off x="2862072" y="1417320"/>
            <a:ext cx="2103120" cy="45720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62072" y="1417320"/>
            <a:ext cx="2103120" cy="658368"/>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71800" y="1444752"/>
            <a:ext cx="1874519" cy="594360"/>
          </a:xfrm>
          <a:prstGeom prst="rect">
            <a:avLst/>
          </a:prstGeom>
          <a:noFill/>
        </p:spPr>
        <p:txBody>
          <a:bodyPr wrap="square">
            <a:spAutoFit/>
          </a:bodyPr>
          <a:lstStyle/>
          <a:p>
            <a:pPr algn="ctr"/>
            <a:r>
              <a:rPr sz="1100" b="1" i="0">
                <a:solidFill>
                  <a:srgbClr val="FFFFFF"/>
                </a:solidFill>
              </a:rPr>
              <a:t>Natural Language
Command Console</a:t>
            </a:r>
          </a:p>
        </p:txBody>
      </p:sp>
      <p:sp>
        <p:nvSpPr>
          <p:cNvPr id="14" name="TextBox 13"/>
          <p:cNvSpPr txBox="1"/>
          <p:nvPr/>
        </p:nvSpPr>
        <p:spPr>
          <a:xfrm>
            <a:off x="2999232" y="2148840"/>
            <a:ext cx="1828800" cy="3657600"/>
          </a:xfrm>
          <a:prstGeom prst="rect">
            <a:avLst/>
          </a:prstGeom>
          <a:noFill/>
        </p:spPr>
        <p:txBody>
          <a:bodyPr wrap="square">
            <a:spAutoFit/>
          </a:bodyPr>
          <a:lstStyle/>
          <a:p>
            <a:pPr>
              <a:spcAft>
                <a:spcPts val="1000"/>
              </a:spcAft>
              <a:defRPr sz="1100">
                <a:solidFill>
                  <a:srgbClr val="1E2A28"/>
                </a:solidFill>
              </a:defRPr>
            </a:pPr>
            <a:r>
              <a:t>•  Plain English commands</a:t>
            </a:r>
          </a:p>
          <a:p>
            <a:pPr>
              <a:spcAft>
                <a:spcPts val="1000"/>
              </a:spcAft>
              <a:defRPr sz="1100">
                <a:solidFill>
                  <a:srgbClr val="1E2A28"/>
                </a:solidFill>
              </a:defRPr>
            </a:pPr>
            <a:r>
              <a:t>•  DB query execution</a:t>
            </a:r>
          </a:p>
          <a:p>
            <a:pPr>
              <a:spcAft>
                <a:spcPts val="1000"/>
              </a:spcAft>
              <a:defRPr sz="1100">
                <a:solidFill>
                  <a:srgbClr val="1E2A28"/>
                </a:solidFill>
              </a:defRPr>
            </a:pPr>
            <a:r>
              <a:t>•  Filter and rank candidates</a:t>
            </a:r>
          </a:p>
          <a:p>
            <a:pPr>
              <a:spcAft>
                <a:spcPts val="1000"/>
              </a:spcAft>
              <a:defRPr sz="1100">
                <a:solidFill>
                  <a:srgbClr val="1E2A28"/>
                </a:solidFill>
              </a:defRPr>
            </a:pPr>
            <a:r>
              <a:t>•  Real-time responses</a:t>
            </a:r>
          </a:p>
        </p:txBody>
      </p:sp>
      <p:sp>
        <p:nvSpPr>
          <p:cNvPr id="15" name="Rounded Rectangle 14"/>
          <p:cNvSpPr/>
          <p:nvPr/>
        </p:nvSpPr>
        <p:spPr>
          <a:xfrm>
            <a:off x="5129784" y="1417320"/>
            <a:ext cx="2103120" cy="45720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29784" y="1417320"/>
            <a:ext cx="2103120" cy="658368"/>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39512" y="1444752"/>
            <a:ext cx="1874519" cy="594360"/>
          </a:xfrm>
          <a:prstGeom prst="rect">
            <a:avLst/>
          </a:prstGeom>
          <a:noFill/>
        </p:spPr>
        <p:txBody>
          <a:bodyPr wrap="square">
            <a:spAutoFit/>
          </a:bodyPr>
          <a:lstStyle/>
          <a:p>
            <a:pPr algn="ctr"/>
            <a:r>
              <a:rPr sz="1100" b="1" i="0">
                <a:solidFill>
                  <a:srgbClr val="FFFFFF"/>
                </a:solidFill>
              </a:rPr>
              <a:t>Candidate Scorecard
&amp; Auto-Outreach</a:t>
            </a:r>
          </a:p>
        </p:txBody>
      </p:sp>
      <p:sp>
        <p:nvSpPr>
          <p:cNvPr id="18" name="TextBox 17"/>
          <p:cNvSpPr txBox="1"/>
          <p:nvPr/>
        </p:nvSpPr>
        <p:spPr>
          <a:xfrm>
            <a:off x="5266944" y="2148840"/>
            <a:ext cx="1828800" cy="3657600"/>
          </a:xfrm>
          <a:prstGeom prst="rect">
            <a:avLst/>
          </a:prstGeom>
          <a:noFill/>
        </p:spPr>
        <p:txBody>
          <a:bodyPr wrap="square">
            <a:spAutoFit/>
          </a:bodyPr>
          <a:lstStyle/>
          <a:p>
            <a:pPr>
              <a:spcAft>
                <a:spcPts val="1000"/>
              </a:spcAft>
              <a:defRPr sz="1100">
                <a:solidFill>
                  <a:srgbClr val="1E2A28"/>
                </a:solidFill>
              </a:defRPr>
            </a:pPr>
            <a:r>
              <a:t>•  Verified skill badges</a:t>
            </a:r>
          </a:p>
          <a:p>
            <a:pPr>
              <a:spcAft>
                <a:spcPts val="1000"/>
              </a:spcAft>
              <a:defRPr sz="1100">
                <a:solidFill>
                  <a:srgbClr val="1E2A28"/>
                </a:solidFill>
              </a:defRPr>
            </a:pPr>
            <a:r>
              <a:t>•  Strength/gap analysis</a:t>
            </a:r>
          </a:p>
          <a:p>
            <a:pPr>
              <a:spcAft>
                <a:spcPts val="1000"/>
              </a:spcAft>
              <a:defRPr sz="1100">
                <a:solidFill>
                  <a:srgbClr val="1E2A28"/>
                </a:solidFill>
              </a:defRPr>
            </a:pPr>
            <a:r>
              <a:t>•  LLM email drafting</a:t>
            </a:r>
          </a:p>
          <a:p>
            <a:pPr>
              <a:spcAft>
                <a:spcPts val="1000"/>
              </a:spcAft>
              <a:defRPr sz="1100">
                <a:solidFill>
                  <a:srgbClr val="1E2A28"/>
                </a:solidFill>
              </a:defRPr>
            </a:pPr>
            <a:r>
              <a:t>•  One-click send</a:t>
            </a:r>
          </a:p>
        </p:txBody>
      </p:sp>
      <p:sp>
        <p:nvSpPr>
          <p:cNvPr id="19" name="Rounded Rectangle 18"/>
          <p:cNvSpPr/>
          <p:nvPr/>
        </p:nvSpPr>
        <p:spPr>
          <a:xfrm>
            <a:off x="7397496" y="1417320"/>
            <a:ext cx="2103120" cy="45720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97496" y="1417320"/>
            <a:ext cx="2103120" cy="658368"/>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07223" y="1444752"/>
            <a:ext cx="1874519" cy="594360"/>
          </a:xfrm>
          <a:prstGeom prst="rect">
            <a:avLst/>
          </a:prstGeom>
          <a:noFill/>
        </p:spPr>
        <p:txBody>
          <a:bodyPr wrap="square">
            <a:spAutoFit/>
          </a:bodyPr>
          <a:lstStyle/>
          <a:p>
            <a:pPr algn="ctr"/>
            <a:r>
              <a:rPr sz="1100" b="1" i="0">
                <a:solidFill>
                  <a:srgbClr val="FFFFFF"/>
                </a:solidFill>
              </a:rPr>
              <a:t>Analytics
Dashboard</a:t>
            </a:r>
          </a:p>
        </p:txBody>
      </p:sp>
      <p:sp>
        <p:nvSpPr>
          <p:cNvPr id="22" name="TextBox 21"/>
          <p:cNvSpPr txBox="1"/>
          <p:nvPr/>
        </p:nvSpPr>
        <p:spPr>
          <a:xfrm>
            <a:off x="7534656" y="2148840"/>
            <a:ext cx="1828800" cy="3657600"/>
          </a:xfrm>
          <a:prstGeom prst="rect">
            <a:avLst/>
          </a:prstGeom>
          <a:noFill/>
        </p:spPr>
        <p:txBody>
          <a:bodyPr wrap="square">
            <a:spAutoFit/>
          </a:bodyPr>
          <a:lstStyle/>
          <a:p>
            <a:pPr>
              <a:spcAft>
                <a:spcPts val="1000"/>
              </a:spcAft>
              <a:defRPr sz="1100">
                <a:solidFill>
                  <a:srgbClr val="1E2A28"/>
                </a:solidFill>
              </a:defRPr>
            </a:pPr>
            <a:r>
              <a:t>•  KPI metric cards</a:t>
            </a:r>
          </a:p>
          <a:p>
            <a:pPr>
              <a:spcAft>
                <a:spcPts val="1000"/>
              </a:spcAft>
              <a:defRPr sz="1100">
                <a:solidFill>
                  <a:srgbClr val="1E2A28"/>
                </a:solidFill>
              </a:defRPr>
            </a:pPr>
            <a:r>
              <a:t>•  Score distribution chart</a:t>
            </a:r>
          </a:p>
          <a:p>
            <a:pPr>
              <a:spcAft>
                <a:spcPts val="1000"/>
              </a:spcAft>
              <a:defRPr sz="1100">
                <a:solidFill>
                  <a:srgbClr val="1E2A28"/>
                </a:solidFill>
              </a:defRPr>
            </a:pPr>
            <a:r>
              <a:t>•  Live agent thought logs</a:t>
            </a:r>
          </a:p>
          <a:p>
            <a:pPr>
              <a:spcAft>
                <a:spcPts val="1000"/>
              </a:spcAft>
              <a:defRPr sz="1100">
                <a:solidFill>
                  <a:srgbClr val="1E2A28"/>
                </a:solidFill>
              </a:defRPr>
            </a:pPr>
            <a:r>
              <a:t>•  Role-based job filters</a:t>
            </a:r>
          </a:p>
        </p:txBody>
      </p:sp>
      <p:sp>
        <p:nvSpPr>
          <p:cNvPr id="23" name="Rounded Rectangle 22"/>
          <p:cNvSpPr/>
          <p:nvPr/>
        </p:nvSpPr>
        <p:spPr>
          <a:xfrm>
            <a:off x="9665208" y="1417320"/>
            <a:ext cx="2103120" cy="45720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65208" y="1417320"/>
            <a:ext cx="2103120" cy="658368"/>
          </a:xfrm>
          <a:prstGeom prst="round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74936" y="1444752"/>
            <a:ext cx="1874519" cy="594360"/>
          </a:xfrm>
          <a:prstGeom prst="rect">
            <a:avLst/>
          </a:prstGeom>
          <a:noFill/>
        </p:spPr>
        <p:txBody>
          <a:bodyPr wrap="square">
            <a:spAutoFit/>
          </a:bodyPr>
          <a:lstStyle/>
          <a:p>
            <a:pPr algn="ctr"/>
            <a:r>
              <a:rPr sz="1100" b="1" i="0">
                <a:solidFill>
                  <a:srgbClr val="FFFFFF"/>
                </a:solidFill>
              </a:rPr>
              <a:t>Security &amp; RBAC
Audit Hub</a:t>
            </a:r>
          </a:p>
        </p:txBody>
      </p:sp>
      <p:sp>
        <p:nvSpPr>
          <p:cNvPr id="26" name="TextBox 25"/>
          <p:cNvSpPr txBox="1"/>
          <p:nvPr/>
        </p:nvSpPr>
        <p:spPr>
          <a:xfrm>
            <a:off x="9802368" y="2148840"/>
            <a:ext cx="1828800" cy="3657600"/>
          </a:xfrm>
          <a:prstGeom prst="rect">
            <a:avLst/>
          </a:prstGeom>
          <a:noFill/>
        </p:spPr>
        <p:txBody>
          <a:bodyPr wrap="square">
            <a:spAutoFit/>
          </a:bodyPr>
          <a:lstStyle/>
          <a:p>
            <a:pPr>
              <a:spcAft>
                <a:spcPts val="1000"/>
              </a:spcAft>
              <a:defRPr sz="1100">
                <a:solidFill>
                  <a:srgbClr val="1E2A28"/>
                </a:solidFill>
              </a:defRPr>
            </a:pPr>
            <a:r>
              <a:t>•  3 access roles</a:t>
            </a:r>
          </a:p>
          <a:p>
            <a:pPr>
              <a:spcAft>
                <a:spcPts val="1000"/>
              </a:spcAft>
              <a:defRPr sz="1100">
                <a:solidFill>
                  <a:srgbClr val="1E2A28"/>
                </a:solidFill>
              </a:defRPr>
            </a:pPr>
            <a:r>
              <a:t>•  PII auto-masking</a:t>
            </a:r>
          </a:p>
          <a:p>
            <a:pPr>
              <a:spcAft>
                <a:spcPts val="1000"/>
              </a:spcAft>
              <a:defRPr sz="1100">
                <a:solidFill>
                  <a:srgbClr val="1E2A28"/>
                </a:solidFill>
              </a:defRPr>
            </a:pPr>
            <a:r>
              <a:t>•  Tamper-proof log</a:t>
            </a:r>
          </a:p>
          <a:p>
            <a:pPr>
              <a:spcAft>
                <a:spcPts val="1000"/>
              </a:spcAft>
              <a:defRPr sz="1100">
                <a:solidFill>
                  <a:srgbClr val="1E2A28"/>
                </a:solidFill>
              </a:defRPr>
            </a:pPr>
            <a:r>
              <a:t>•  JSON export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Recruitment Analytics Dashboard</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Live Output 1: Main operational screen</a:t>
            </a:r>
          </a:p>
        </p:txBody>
      </p:sp>
      <p:pic>
        <p:nvPicPr>
          <p:cNvPr id="7" name="Picture 6" descr="Slide8_Dashboard_Overview.jpg"/>
          <p:cNvPicPr>
            <a:picLocks noChangeAspect="1"/>
          </p:cNvPicPr>
          <p:nvPr/>
        </p:nvPicPr>
        <p:blipFill>
          <a:blip r:embed="rId2"/>
          <a:stretch>
            <a:fillRect/>
          </a:stretch>
        </p:blipFill>
        <p:spPr>
          <a:xfrm>
            <a:off x="594360" y="1417320"/>
            <a:ext cx="6400800" cy="4800600"/>
          </a:xfrm>
          <a:prstGeom prst="rect">
            <a:avLst/>
          </a:prstGeom>
        </p:spPr>
      </p:pic>
      <p:sp>
        <p:nvSpPr>
          <p:cNvPr id="8" name="Rounded Rectangle 7"/>
          <p:cNvSpPr/>
          <p:nvPr/>
        </p:nvSpPr>
        <p:spPr>
          <a:xfrm>
            <a:off x="7315200" y="1417320"/>
            <a:ext cx="4572000" cy="48006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0" y="1417320"/>
            <a:ext cx="109728" cy="48006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16368" y="1508760"/>
            <a:ext cx="4251960" cy="365760"/>
          </a:xfrm>
          <a:prstGeom prst="rect">
            <a:avLst/>
          </a:prstGeom>
          <a:noFill/>
        </p:spPr>
        <p:txBody>
          <a:bodyPr wrap="square">
            <a:spAutoFit/>
          </a:bodyPr>
          <a:lstStyle/>
          <a:p>
            <a:pPr algn="l"/>
            <a:r>
              <a:rPr sz="1300" b="1" i="0">
                <a:solidFill>
                  <a:srgbClr val="1B3B5F"/>
                </a:solidFill>
              </a:rPr>
              <a:t>What Recruiters See</a:t>
            </a:r>
          </a:p>
        </p:txBody>
      </p:sp>
      <p:sp>
        <p:nvSpPr>
          <p:cNvPr id="11" name="TextBox 10"/>
          <p:cNvSpPr txBox="1"/>
          <p:nvPr/>
        </p:nvSpPr>
        <p:spPr>
          <a:xfrm>
            <a:off x="7516368" y="1892808"/>
            <a:ext cx="4251960" cy="4206240"/>
          </a:xfrm>
          <a:prstGeom prst="rect">
            <a:avLst/>
          </a:prstGeom>
          <a:noFill/>
        </p:spPr>
        <p:txBody>
          <a:bodyPr wrap="square">
            <a:spAutoFit/>
          </a:bodyPr>
          <a:lstStyle/>
          <a:p>
            <a:pPr>
              <a:spcAft>
                <a:spcPts val="800"/>
              </a:spcAft>
              <a:defRPr sz="1200">
                <a:solidFill>
                  <a:srgbClr val="1E2A28"/>
                </a:solidFill>
              </a:defRPr>
            </a:pPr>
            <a:r>
              <a:t>•  KPI Cards: 7,845 resumes screened, 1,230 top fits, 56 interviews scheduled.</a:t>
            </a:r>
          </a:p>
          <a:p>
            <a:pPr>
              <a:spcAft>
                <a:spcPts val="800"/>
              </a:spcAft>
              <a:defRPr sz="1200">
                <a:solidFill>
                  <a:srgbClr val="1E2A28"/>
                </a:solidFill>
              </a:defRPr>
            </a:pPr>
            <a:r>
              <a:t>•  Score Distribution: Bar chart showing candidate match brackets (0–100%).</a:t>
            </a:r>
          </a:p>
          <a:p>
            <a:pPr>
              <a:spcAft>
                <a:spcPts val="800"/>
              </a:spcAft>
              <a:defRPr sz="1200">
                <a:solidFill>
                  <a:srgbClr val="1E2A28"/>
                </a:solidFill>
              </a:defRPr>
            </a:pPr>
            <a:r>
              <a:t>•  Live Agent Console: Streams real-time thinking steps as the agent works.</a:t>
            </a:r>
          </a:p>
          <a:p>
            <a:pPr>
              <a:spcAft>
                <a:spcPts val="800"/>
              </a:spcAft>
              <a:defRPr sz="1200">
                <a:solidFill>
                  <a:srgbClr val="1E2A28"/>
                </a:solidFill>
              </a:defRPr>
            </a:pPr>
            <a:r>
              <a:t>•  Job Filter Nav: One-click switch between Backend, Frontend, PM, DevOps roles.</a:t>
            </a:r>
          </a:p>
          <a:p>
            <a:pPr>
              <a:spcAft>
                <a:spcPts val="800"/>
              </a:spcAft>
              <a:defRPr sz="1200">
                <a:solidFill>
                  <a:srgbClr val="1E2A28"/>
                </a:solidFill>
              </a:defRPr>
            </a:pPr>
            <a:r>
              <a:t>•  Match Accuracy: 94.8% decision alignment with senior recruiter benchmarks.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Candidate Scorecard &amp; AI Outreach</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Live Output 2: Deep-dive candidate evaluation</a:t>
            </a:r>
          </a:p>
        </p:txBody>
      </p:sp>
      <p:pic>
        <p:nvPicPr>
          <p:cNvPr id="7" name="Picture 6" descr="Slide9_Candidate_Scorecard.jpg"/>
          <p:cNvPicPr>
            <a:picLocks noChangeAspect="1"/>
          </p:cNvPicPr>
          <p:nvPr/>
        </p:nvPicPr>
        <p:blipFill>
          <a:blip r:embed="rId2"/>
          <a:stretch>
            <a:fillRect/>
          </a:stretch>
        </p:blipFill>
        <p:spPr>
          <a:xfrm>
            <a:off x="594360" y="1417320"/>
            <a:ext cx="6400800" cy="4800600"/>
          </a:xfrm>
          <a:prstGeom prst="rect">
            <a:avLst/>
          </a:prstGeom>
        </p:spPr>
      </p:pic>
      <p:sp>
        <p:nvSpPr>
          <p:cNvPr id="8" name="Rounded Rectangle 7"/>
          <p:cNvSpPr/>
          <p:nvPr/>
        </p:nvSpPr>
        <p:spPr>
          <a:xfrm>
            <a:off x="7315200" y="1417320"/>
            <a:ext cx="4572000" cy="48006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0" y="1417320"/>
            <a:ext cx="109728" cy="4800600"/>
          </a:xfrm>
          <a:prstGeom prst="rect">
            <a:avLst/>
          </a:prstGeom>
          <a:solidFill>
            <a:srgbClr val="1B3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16368" y="1508760"/>
            <a:ext cx="4251960" cy="365760"/>
          </a:xfrm>
          <a:prstGeom prst="rect">
            <a:avLst/>
          </a:prstGeom>
          <a:noFill/>
        </p:spPr>
        <p:txBody>
          <a:bodyPr wrap="square">
            <a:spAutoFit/>
          </a:bodyPr>
          <a:lstStyle/>
          <a:p>
            <a:pPr algn="l"/>
            <a:r>
              <a:rPr sz="1300" b="1" i="0">
                <a:solidFill>
                  <a:srgbClr val="1B3B5F"/>
                </a:solidFill>
              </a:rPr>
              <a:t>Recruiter Time Savings</a:t>
            </a:r>
          </a:p>
        </p:txBody>
      </p:sp>
      <p:sp>
        <p:nvSpPr>
          <p:cNvPr id="11" name="TextBox 10"/>
          <p:cNvSpPr txBox="1"/>
          <p:nvPr/>
        </p:nvSpPr>
        <p:spPr>
          <a:xfrm>
            <a:off x="7516368" y="1892808"/>
            <a:ext cx="4251960" cy="4206240"/>
          </a:xfrm>
          <a:prstGeom prst="rect">
            <a:avLst/>
          </a:prstGeom>
          <a:noFill/>
        </p:spPr>
        <p:txBody>
          <a:bodyPr wrap="square">
            <a:spAutoFit/>
          </a:bodyPr>
          <a:lstStyle/>
          <a:p>
            <a:pPr>
              <a:spcAft>
                <a:spcPts val="800"/>
              </a:spcAft>
              <a:defRPr sz="1200">
                <a:solidFill>
                  <a:srgbClr val="1E2A28"/>
                </a:solidFill>
              </a:defRPr>
            </a:pPr>
            <a:r>
              <a:t>•  Score-Sorted Roster: Strongest candidates automatically rise to the top.</a:t>
            </a:r>
          </a:p>
          <a:p>
            <a:pPr>
              <a:spcAft>
                <a:spcPts val="800"/>
              </a:spcAft>
              <a:defRPr sz="1200">
                <a:solidFill>
                  <a:srgbClr val="1E2A28"/>
                </a:solidFill>
              </a:defRPr>
            </a:pPr>
            <a:r>
              <a:t>•  92% Match Badge: Elena Rostova's verified compatibility rating shown instantly.</a:t>
            </a:r>
          </a:p>
          <a:p>
            <a:pPr>
              <a:spcAft>
                <a:spcPts val="800"/>
              </a:spcAft>
              <a:defRPr sz="1200">
                <a:solidFill>
                  <a:srgbClr val="1E2A28"/>
                </a:solidFill>
              </a:defRPr>
            </a:pPr>
            <a:r>
              <a:t>•  Green Skill Tags: Verified matches (Python, AWS, PostgreSQL) clearly highlighted.</a:t>
            </a:r>
          </a:p>
          <a:p>
            <a:pPr>
              <a:spcAft>
                <a:spcPts val="800"/>
              </a:spcAft>
              <a:defRPr sz="1200">
                <a:solidFill>
                  <a:srgbClr val="1E2A28"/>
                </a:solidFill>
              </a:defRPr>
            </a:pPr>
            <a:r>
              <a:t>•  Gap Analysis: Missing skills identified so recruiters ask targeted questions.</a:t>
            </a:r>
          </a:p>
          <a:p>
            <a:pPr>
              <a:spcAft>
                <a:spcPts val="800"/>
              </a:spcAft>
              <a:defRPr sz="1200">
                <a:solidFill>
                  <a:srgbClr val="1E2A28"/>
                </a:solidFill>
              </a:defRPr>
            </a:pPr>
            <a:r>
              <a:t>•  AI Email Draft: Personalized outreach citing candidate's own background—ready to review and send.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Natural Language Console &amp; Audit Log</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Live Output 3: Command interface &amp; security trail</a:t>
            </a:r>
          </a:p>
        </p:txBody>
      </p:sp>
      <p:pic>
        <p:nvPicPr>
          <p:cNvPr id="7" name="Picture 6" descr="Slide10_Agent_Console_Audit.jpg"/>
          <p:cNvPicPr>
            <a:picLocks noChangeAspect="1"/>
          </p:cNvPicPr>
          <p:nvPr/>
        </p:nvPicPr>
        <p:blipFill>
          <a:blip r:embed="rId2"/>
          <a:stretch>
            <a:fillRect/>
          </a:stretch>
        </p:blipFill>
        <p:spPr>
          <a:xfrm>
            <a:off x="594360" y="1417320"/>
            <a:ext cx="6400800" cy="4800600"/>
          </a:xfrm>
          <a:prstGeom prst="rect">
            <a:avLst/>
          </a:prstGeom>
        </p:spPr>
      </p:pic>
      <p:sp>
        <p:nvSpPr>
          <p:cNvPr id="8" name="Rounded Rectangle 7"/>
          <p:cNvSpPr/>
          <p:nvPr/>
        </p:nvSpPr>
        <p:spPr>
          <a:xfrm>
            <a:off x="7315200" y="1417320"/>
            <a:ext cx="4572000" cy="48006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0" y="1417320"/>
            <a:ext cx="109728" cy="48006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16368" y="1508760"/>
            <a:ext cx="4251960" cy="365760"/>
          </a:xfrm>
          <a:prstGeom prst="rect">
            <a:avLst/>
          </a:prstGeom>
          <a:noFill/>
        </p:spPr>
        <p:txBody>
          <a:bodyPr wrap="square">
            <a:spAutoFit/>
          </a:bodyPr>
          <a:lstStyle/>
          <a:p>
            <a:pPr algn="l"/>
            <a:r>
              <a:rPr sz="1300" b="1" i="0">
                <a:solidFill>
                  <a:srgbClr val="1B3B5F"/>
                </a:solidFill>
              </a:rPr>
              <a:t>Command Terminal &amp; Compliance</a:t>
            </a:r>
          </a:p>
        </p:txBody>
      </p:sp>
      <p:sp>
        <p:nvSpPr>
          <p:cNvPr id="11" name="TextBox 10"/>
          <p:cNvSpPr txBox="1"/>
          <p:nvPr/>
        </p:nvSpPr>
        <p:spPr>
          <a:xfrm>
            <a:off x="7516368" y="1892808"/>
            <a:ext cx="4251960" cy="4206240"/>
          </a:xfrm>
          <a:prstGeom prst="rect">
            <a:avLst/>
          </a:prstGeom>
          <a:noFill/>
        </p:spPr>
        <p:txBody>
          <a:bodyPr wrap="square">
            <a:spAutoFit/>
          </a:bodyPr>
          <a:lstStyle/>
          <a:p>
            <a:pPr>
              <a:spcAft>
                <a:spcPts val="800"/>
              </a:spcAft>
              <a:defRPr sz="1200">
                <a:solidFill>
                  <a:srgbClr val="1E2A28"/>
                </a:solidFill>
              </a:defRPr>
            </a:pPr>
            <a:r>
              <a:t>•  Plain English Commands: Type 'Find candidates with Python &gt;85%'—no dropdowns needed.</a:t>
            </a:r>
          </a:p>
          <a:p>
            <a:pPr>
              <a:spcAft>
                <a:spcPts val="800"/>
              </a:spcAft>
              <a:defRPr sz="1200">
                <a:solidFill>
                  <a:srgbClr val="1E2A28"/>
                </a:solidFill>
              </a:defRPr>
            </a:pPr>
            <a:r>
              <a:t>•  Tool Transparency: Agent shows every internal call (Fetching Profile, Sending Email).</a:t>
            </a:r>
          </a:p>
          <a:p>
            <a:pPr>
              <a:spcAft>
                <a:spcPts val="800"/>
              </a:spcAft>
              <a:defRPr sz="1200">
                <a:solidFill>
                  <a:srgbClr val="1E2A28"/>
                </a:solidFill>
              </a:defRPr>
            </a:pPr>
            <a:r>
              <a:t>•  SOC-2 Audit Trail: Timestamped event log with operator role and action type.</a:t>
            </a:r>
          </a:p>
          <a:p>
            <a:pPr>
              <a:spcAft>
                <a:spcPts val="800"/>
              </a:spcAft>
              <a:defRPr sz="1200">
                <a:solidFill>
                  <a:srgbClr val="1E2A28"/>
                </a:solidFill>
              </a:defRPr>
            </a:pPr>
            <a:r>
              <a:t>•  Verified Badges: Each log entry shows VERIFIED / AUDITED compliance status.</a:t>
            </a:r>
          </a:p>
          <a:p>
            <a:pPr>
              <a:spcAft>
                <a:spcPts val="800"/>
              </a:spcAft>
              <a:defRPr sz="1200">
                <a:solidFill>
                  <a:srgbClr val="1E2A28"/>
                </a:solidFill>
              </a:defRPr>
            </a:pPr>
            <a:r>
              <a:t>•  JSON Export: Full audit log downloadable for external compliance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Internship Timeline</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10 weeks, four development stages</a:t>
            </a:r>
          </a:p>
        </p:txBody>
      </p:sp>
      <p:sp>
        <p:nvSpPr>
          <p:cNvPr id="7" name="Rounded Rectangle 6"/>
          <p:cNvSpPr/>
          <p:nvPr/>
        </p:nvSpPr>
        <p:spPr>
          <a:xfrm>
            <a:off x="594360" y="1417320"/>
            <a:ext cx="2606040" cy="48463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54480" y="1417320"/>
            <a:ext cx="685800" cy="685800"/>
          </a:xfrm>
          <a:prstGeom prst="ellipse">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19" y="1463040"/>
            <a:ext cx="502920" cy="594360"/>
          </a:xfrm>
          <a:prstGeom prst="rect">
            <a:avLst/>
          </a:prstGeom>
          <a:noFill/>
        </p:spPr>
        <p:txBody>
          <a:bodyPr wrap="square">
            <a:spAutoFit/>
          </a:bodyPr>
          <a:lstStyle/>
          <a:p>
            <a:pPr algn="ctr"/>
            <a:r>
              <a:rPr sz="1600" b="1" i="0">
                <a:solidFill>
                  <a:srgbClr val="FFFFFF"/>
                </a:solidFill>
              </a:rPr>
              <a:t>1</a:t>
            </a:r>
          </a:p>
        </p:txBody>
      </p:sp>
      <p:sp>
        <p:nvSpPr>
          <p:cNvPr id="10" name="TextBox 9"/>
          <p:cNvSpPr txBox="1"/>
          <p:nvPr/>
        </p:nvSpPr>
        <p:spPr>
          <a:xfrm>
            <a:off x="758952" y="2148840"/>
            <a:ext cx="2286000" cy="365760"/>
          </a:xfrm>
          <a:prstGeom prst="rect">
            <a:avLst/>
          </a:prstGeom>
          <a:noFill/>
        </p:spPr>
        <p:txBody>
          <a:bodyPr wrap="square">
            <a:spAutoFit/>
          </a:bodyPr>
          <a:lstStyle/>
          <a:p>
            <a:pPr algn="l"/>
            <a:r>
              <a:rPr sz="1100" b="1" i="0">
                <a:solidFill>
                  <a:srgbClr val="E8A33D"/>
                </a:solidFill>
              </a:rPr>
              <a:t>Weeks 1–2</a:t>
            </a:r>
          </a:p>
        </p:txBody>
      </p:sp>
      <p:sp>
        <p:nvSpPr>
          <p:cNvPr id="11" name="TextBox 10"/>
          <p:cNvSpPr txBox="1"/>
          <p:nvPr/>
        </p:nvSpPr>
        <p:spPr>
          <a:xfrm>
            <a:off x="758952" y="2487168"/>
            <a:ext cx="2286000" cy="411480"/>
          </a:xfrm>
          <a:prstGeom prst="rect">
            <a:avLst/>
          </a:prstGeom>
          <a:noFill/>
        </p:spPr>
        <p:txBody>
          <a:bodyPr wrap="square">
            <a:spAutoFit/>
          </a:bodyPr>
          <a:lstStyle/>
          <a:p>
            <a:pPr algn="l"/>
            <a:r>
              <a:rPr sz="1300" b="1" i="0">
                <a:solidFill>
                  <a:srgbClr val="1B3B5F"/>
                </a:solidFill>
              </a:rPr>
              <a:t>Planning &amp; Research</a:t>
            </a:r>
          </a:p>
        </p:txBody>
      </p:sp>
      <p:sp>
        <p:nvSpPr>
          <p:cNvPr id="12" name="TextBox 11"/>
          <p:cNvSpPr txBox="1"/>
          <p:nvPr/>
        </p:nvSpPr>
        <p:spPr>
          <a:xfrm>
            <a:off x="758952" y="2944368"/>
            <a:ext cx="2286000" cy="3017520"/>
          </a:xfrm>
          <a:prstGeom prst="rect">
            <a:avLst/>
          </a:prstGeom>
          <a:noFill/>
        </p:spPr>
        <p:txBody>
          <a:bodyPr wrap="square">
            <a:spAutoFit/>
          </a:bodyPr>
          <a:lstStyle/>
          <a:p>
            <a:pPr>
              <a:spcAft>
                <a:spcPts val="1000"/>
              </a:spcAft>
              <a:defRPr sz="1200">
                <a:solidFill>
                  <a:srgbClr val="1E2A28"/>
                </a:solidFill>
              </a:defRPr>
            </a:pPr>
            <a:r>
              <a:t>•  HR workflow analysis</a:t>
            </a:r>
          </a:p>
          <a:p>
            <a:pPr>
              <a:spcAft>
                <a:spcPts val="1000"/>
              </a:spcAft>
              <a:defRPr sz="1200">
                <a:solidFill>
                  <a:srgbClr val="1E2A28"/>
                </a:solidFill>
              </a:defRPr>
            </a:pPr>
            <a:r>
              <a:t>•  UI wireframing</a:t>
            </a:r>
          </a:p>
          <a:p>
            <a:pPr>
              <a:spcAft>
                <a:spcPts val="1000"/>
              </a:spcAft>
              <a:defRPr sz="1200">
                <a:solidFill>
                  <a:srgbClr val="1E2A28"/>
                </a:solidFill>
              </a:defRPr>
            </a:pPr>
            <a:r>
              <a:t>•  Architecture design</a:t>
            </a:r>
          </a:p>
        </p:txBody>
      </p:sp>
      <p:sp>
        <p:nvSpPr>
          <p:cNvPr id="13" name="Rounded Rectangle 12"/>
          <p:cNvSpPr/>
          <p:nvPr/>
        </p:nvSpPr>
        <p:spPr>
          <a:xfrm>
            <a:off x="3383279" y="1417320"/>
            <a:ext cx="2606040" cy="48463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343400" y="1417320"/>
            <a:ext cx="685800" cy="685800"/>
          </a:xfrm>
          <a:prstGeom prst="ellipse">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463040"/>
            <a:ext cx="502920" cy="594360"/>
          </a:xfrm>
          <a:prstGeom prst="rect">
            <a:avLst/>
          </a:prstGeom>
          <a:noFill/>
        </p:spPr>
        <p:txBody>
          <a:bodyPr wrap="square">
            <a:spAutoFit/>
          </a:bodyPr>
          <a:lstStyle/>
          <a:p>
            <a:pPr algn="ctr"/>
            <a:r>
              <a:rPr sz="1600" b="1" i="0">
                <a:solidFill>
                  <a:srgbClr val="FFFFFF"/>
                </a:solidFill>
              </a:rPr>
              <a:t>2</a:t>
            </a:r>
          </a:p>
        </p:txBody>
      </p:sp>
      <p:sp>
        <p:nvSpPr>
          <p:cNvPr id="16" name="TextBox 15"/>
          <p:cNvSpPr txBox="1"/>
          <p:nvPr/>
        </p:nvSpPr>
        <p:spPr>
          <a:xfrm>
            <a:off x="3547872" y="2148840"/>
            <a:ext cx="2286000" cy="365760"/>
          </a:xfrm>
          <a:prstGeom prst="rect">
            <a:avLst/>
          </a:prstGeom>
          <a:noFill/>
        </p:spPr>
        <p:txBody>
          <a:bodyPr wrap="square">
            <a:spAutoFit/>
          </a:bodyPr>
          <a:lstStyle/>
          <a:p>
            <a:pPr algn="l"/>
            <a:r>
              <a:rPr sz="1100" b="1" i="0">
                <a:solidFill>
                  <a:srgbClr val="E8A33D"/>
                </a:solidFill>
              </a:rPr>
              <a:t>Weeks 3–5</a:t>
            </a:r>
          </a:p>
        </p:txBody>
      </p:sp>
      <p:sp>
        <p:nvSpPr>
          <p:cNvPr id="17" name="TextBox 16"/>
          <p:cNvSpPr txBox="1"/>
          <p:nvPr/>
        </p:nvSpPr>
        <p:spPr>
          <a:xfrm>
            <a:off x="3547872" y="2487168"/>
            <a:ext cx="2286000" cy="411480"/>
          </a:xfrm>
          <a:prstGeom prst="rect">
            <a:avLst/>
          </a:prstGeom>
          <a:noFill/>
        </p:spPr>
        <p:txBody>
          <a:bodyPr wrap="square">
            <a:spAutoFit/>
          </a:bodyPr>
          <a:lstStyle/>
          <a:p>
            <a:pPr algn="l"/>
            <a:r>
              <a:rPr sz="1300" b="1" i="0">
                <a:solidFill>
                  <a:srgbClr val="1B3B5F"/>
                </a:solidFill>
              </a:rPr>
              <a:t>AI Engine Build</a:t>
            </a:r>
          </a:p>
        </p:txBody>
      </p:sp>
      <p:sp>
        <p:nvSpPr>
          <p:cNvPr id="18" name="TextBox 17"/>
          <p:cNvSpPr txBox="1"/>
          <p:nvPr/>
        </p:nvSpPr>
        <p:spPr>
          <a:xfrm>
            <a:off x="3547872" y="2944368"/>
            <a:ext cx="2286000" cy="3017520"/>
          </a:xfrm>
          <a:prstGeom prst="rect">
            <a:avLst/>
          </a:prstGeom>
          <a:noFill/>
        </p:spPr>
        <p:txBody>
          <a:bodyPr wrap="square">
            <a:spAutoFit/>
          </a:bodyPr>
          <a:lstStyle/>
          <a:p>
            <a:pPr>
              <a:spcAft>
                <a:spcPts val="1000"/>
              </a:spcAft>
              <a:defRPr sz="1200">
                <a:solidFill>
                  <a:srgbClr val="1E2A28"/>
                </a:solidFill>
              </a:defRPr>
            </a:pPr>
            <a:r>
              <a:t>•  Resume parsing logic</a:t>
            </a:r>
          </a:p>
          <a:p>
            <a:pPr>
              <a:spcAft>
                <a:spcPts val="1000"/>
              </a:spcAft>
              <a:defRPr sz="1200">
                <a:solidFill>
                  <a:srgbClr val="1E2A28"/>
                </a:solidFill>
              </a:defRPr>
            </a:pPr>
            <a:r>
              <a:t>•  Skill matching (0–100%)</a:t>
            </a:r>
          </a:p>
          <a:p>
            <a:pPr>
              <a:spcAft>
                <a:spcPts val="1000"/>
              </a:spcAft>
              <a:defRPr sz="1200">
                <a:solidFill>
                  <a:srgbClr val="1E2A28"/>
                </a:solidFill>
              </a:defRPr>
            </a:pPr>
            <a:r>
              <a:t>•  Outreach prompt pipeline</a:t>
            </a:r>
          </a:p>
        </p:txBody>
      </p:sp>
      <p:sp>
        <p:nvSpPr>
          <p:cNvPr id="19" name="Rounded Rectangle 18"/>
          <p:cNvSpPr/>
          <p:nvPr/>
        </p:nvSpPr>
        <p:spPr>
          <a:xfrm>
            <a:off x="6172200" y="1417320"/>
            <a:ext cx="2606040" cy="48463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32320" y="1417320"/>
            <a:ext cx="685800" cy="685800"/>
          </a:xfrm>
          <a:prstGeom prst="ellipse">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1463040"/>
            <a:ext cx="502920" cy="594360"/>
          </a:xfrm>
          <a:prstGeom prst="rect">
            <a:avLst/>
          </a:prstGeom>
          <a:noFill/>
        </p:spPr>
        <p:txBody>
          <a:bodyPr wrap="square">
            <a:spAutoFit/>
          </a:bodyPr>
          <a:lstStyle/>
          <a:p>
            <a:pPr algn="ctr"/>
            <a:r>
              <a:rPr sz="1600" b="1" i="0">
                <a:solidFill>
                  <a:srgbClr val="FFFFFF"/>
                </a:solidFill>
              </a:rPr>
              <a:t>3</a:t>
            </a:r>
          </a:p>
        </p:txBody>
      </p:sp>
      <p:sp>
        <p:nvSpPr>
          <p:cNvPr id="22" name="TextBox 21"/>
          <p:cNvSpPr txBox="1"/>
          <p:nvPr/>
        </p:nvSpPr>
        <p:spPr>
          <a:xfrm>
            <a:off x="6336792" y="2148840"/>
            <a:ext cx="2286000" cy="365760"/>
          </a:xfrm>
          <a:prstGeom prst="rect">
            <a:avLst/>
          </a:prstGeom>
          <a:noFill/>
        </p:spPr>
        <p:txBody>
          <a:bodyPr wrap="square">
            <a:spAutoFit/>
          </a:bodyPr>
          <a:lstStyle/>
          <a:p>
            <a:pPr algn="l"/>
            <a:r>
              <a:rPr sz="1100" b="1" i="0">
                <a:solidFill>
                  <a:srgbClr val="E8A33D"/>
                </a:solidFill>
              </a:rPr>
              <a:t>Weeks 6–7</a:t>
            </a:r>
          </a:p>
        </p:txBody>
      </p:sp>
      <p:sp>
        <p:nvSpPr>
          <p:cNvPr id="23" name="TextBox 22"/>
          <p:cNvSpPr txBox="1"/>
          <p:nvPr/>
        </p:nvSpPr>
        <p:spPr>
          <a:xfrm>
            <a:off x="6336792" y="2487168"/>
            <a:ext cx="2286000" cy="411480"/>
          </a:xfrm>
          <a:prstGeom prst="rect">
            <a:avLst/>
          </a:prstGeom>
          <a:noFill/>
        </p:spPr>
        <p:txBody>
          <a:bodyPr wrap="square">
            <a:spAutoFit/>
          </a:bodyPr>
          <a:lstStyle/>
          <a:p>
            <a:pPr algn="l"/>
            <a:r>
              <a:rPr sz="1300" b="1" i="0">
                <a:solidFill>
                  <a:srgbClr val="1B3B5F"/>
                </a:solidFill>
              </a:rPr>
              <a:t>UI &amp; Dashboards</a:t>
            </a:r>
          </a:p>
        </p:txBody>
      </p:sp>
      <p:sp>
        <p:nvSpPr>
          <p:cNvPr id="24" name="TextBox 23"/>
          <p:cNvSpPr txBox="1"/>
          <p:nvPr/>
        </p:nvSpPr>
        <p:spPr>
          <a:xfrm>
            <a:off x="6336792" y="2944368"/>
            <a:ext cx="2286000" cy="3017520"/>
          </a:xfrm>
          <a:prstGeom prst="rect">
            <a:avLst/>
          </a:prstGeom>
          <a:noFill/>
        </p:spPr>
        <p:txBody>
          <a:bodyPr wrap="square">
            <a:spAutoFit/>
          </a:bodyPr>
          <a:lstStyle/>
          <a:p>
            <a:pPr>
              <a:spcAft>
                <a:spcPts val="1000"/>
              </a:spcAft>
              <a:defRPr sz="1200">
                <a:solidFill>
                  <a:srgbClr val="1E2A28"/>
                </a:solidFill>
              </a:defRPr>
            </a:pPr>
            <a:r>
              <a:t>•  CSS3 responsive layout</a:t>
            </a:r>
          </a:p>
          <a:p>
            <a:pPr>
              <a:spcAft>
                <a:spcPts val="1000"/>
              </a:spcAft>
              <a:defRPr sz="1200">
                <a:solidFill>
                  <a:srgbClr val="1E2A28"/>
                </a:solidFill>
              </a:defRPr>
            </a:pPr>
            <a:r>
              <a:t>•  SVG score charts</a:t>
            </a:r>
          </a:p>
          <a:p>
            <a:pPr>
              <a:spcAft>
                <a:spcPts val="1000"/>
              </a:spcAft>
              <a:defRPr sz="1200">
                <a:solidFill>
                  <a:srgbClr val="1E2A28"/>
                </a:solidFill>
              </a:defRPr>
            </a:pPr>
            <a:r>
              <a:t>•  Live agent console</a:t>
            </a:r>
          </a:p>
        </p:txBody>
      </p:sp>
      <p:sp>
        <p:nvSpPr>
          <p:cNvPr id="25" name="Rounded Rectangle 24"/>
          <p:cNvSpPr/>
          <p:nvPr/>
        </p:nvSpPr>
        <p:spPr>
          <a:xfrm>
            <a:off x="8961119" y="1417320"/>
            <a:ext cx="2606040" cy="484632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921240" y="1417320"/>
            <a:ext cx="685800" cy="685800"/>
          </a:xfrm>
          <a:prstGeom prst="ellipse">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12680" y="1463040"/>
            <a:ext cx="502920" cy="594360"/>
          </a:xfrm>
          <a:prstGeom prst="rect">
            <a:avLst/>
          </a:prstGeom>
          <a:noFill/>
        </p:spPr>
        <p:txBody>
          <a:bodyPr wrap="square">
            <a:spAutoFit/>
          </a:bodyPr>
          <a:lstStyle/>
          <a:p>
            <a:pPr algn="ctr"/>
            <a:r>
              <a:rPr sz="1600" b="1" i="0">
                <a:solidFill>
                  <a:srgbClr val="FFFFFF"/>
                </a:solidFill>
              </a:rPr>
              <a:t>4</a:t>
            </a:r>
          </a:p>
        </p:txBody>
      </p:sp>
      <p:sp>
        <p:nvSpPr>
          <p:cNvPr id="28" name="TextBox 27"/>
          <p:cNvSpPr txBox="1"/>
          <p:nvPr/>
        </p:nvSpPr>
        <p:spPr>
          <a:xfrm>
            <a:off x="9125711" y="2148840"/>
            <a:ext cx="2286000" cy="365760"/>
          </a:xfrm>
          <a:prstGeom prst="rect">
            <a:avLst/>
          </a:prstGeom>
          <a:noFill/>
        </p:spPr>
        <p:txBody>
          <a:bodyPr wrap="square">
            <a:spAutoFit/>
          </a:bodyPr>
          <a:lstStyle/>
          <a:p>
            <a:pPr algn="l"/>
            <a:r>
              <a:rPr sz="1100" b="1" i="0">
                <a:solidFill>
                  <a:srgbClr val="E8A33D"/>
                </a:solidFill>
              </a:rPr>
              <a:t>Weeks 8–10</a:t>
            </a:r>
          </a:p>
        </p:txBody>
      </p:sp>
      <p:sp>
        <p:nvSpPr>
          <p:cNvPr id="29" name="TextBox 28"/>
          <p:cNvSpPr txBox="1"/>
          <p:nvPr/>
        </p:nvSpPr>
        <p:spPr>
          <a:xfrm>
            <a:off x="9125711" y="2487168"/>
            <a:ext cx="2286000" cy="411480"/>
          </a:xfrm>
          <a:prstGeom prst="rect">
            <a:avLst/>
          </a:prstGeom>
          <a:noFill/>
        </p:spPr>
        <p:txBody>
          <a:bodyPr wrap="square">
            <a:spAutoFit/>
          </a:bodyPr>
          <a:lstStyle/>
          <a:p>
            <a:pPr algn="l"/>
            <a:r>
              <a:rPr sz="1300" b="1" i="0">
                <a:solidFill>
                  <a:srgbClr val="1B3B5F"/>
                </a:solidFill>
              </a:rPr>
              <a:t>Security &amp; Deploy</a:t>
            </a:r>
          </a:p>
        </p:txBody>
      </p:sp>
      <p:sp>
        <p:nvSpPr>
          <p:cNvPr id="30" name="TextBox 29"/>
          <p:cNvSpPr txBox="1"/>
          <p:nvPr/>
        </p:nvSpPr>
        <p:spPr>
          <a:xfrm>
            <a:off x="9125711" y="2944368"/>
            <a:ext cx="2286000" cy="3017520"/>
          </a:xfrm>
          <a:prstGeom prst="rect">
            <a:avLst/>
          </a:prstGeom>
          <a:noFill/>
        </p:spPr>
        <p:txBody>
          <a:bodyPr wrap="square">
            <a:spAutoFit/>
          </a:bodyPr>
          <a:lstStyle/>
          <a:p>
            <a:pPr>
              <a:spcAft>
                <a:spcPts val="1000"/>
              </a:spcAft>
              <a:defRPr sz="1200">
                <a:solidFill>
                  <a:srgbClr val="1E2A28"/>
                </a:solidFill>
              </a:defRPr>
            </a:pPr>
            <a:r>
              <a:t>•  RBAC + PII masking</a:t>
            </a:r>
          </a:p>
          <a:p>
            <a:pPr>
              <a:spcAft>
                <a:spcPts val="1000"/>
              </a:spcAft>
              <a:defRPr sz="1200">
                <a:solidFill>
                  <a:srgbClr val="1E2A28"/>
                </a:solidFill>
              </a:defRPr>
            </a:pPr>
            <a:r>
              <a:t>•  SOC-2 audit logger</a:t>
            </a:r>
          </a:p>
          <a:p>
            <a:pPr>
              <a:spcAft>
                <a:spcPts val="1000"/>
              </a:spcAft>
              <a:defRPr sz="1200">
                <a:solidFill>
                  <a:srgbClr val="1E2A28"/>
                </a:solidFill>
              </a:defRPr>
            </a:pPr>
            <a:r>
              <a:t>•  GitHub Pages deployment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Results &amp; Outcomes</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What the internship delivered</a:t>
            </a:r>
          </a:p>
        </p:txBody>
      </p:sp>
      <p:sp>
        <p:nvSpPr>
          <p:cNvPr id="7" name="Rounded Rectangle 6"/>
          <p:cNvSpPr/>
          <p:nvPr/>
        </p:nvSpPr>
        <p:spPr>
          <a:xfrm>
            <a:off x="594360" y="1417320"/>
            <a:ext cx="5394960" cy="16002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17320"/>
            <a:ext cx="109728" cy="16002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527048"/>
            <a:ext cx="5029200" cy="411480"/>
          </a:xfrm>
          <a:prstGeom prst="rect">
            <a:avLst/>
          </a:prstGeom>
          <a:noFill/>
        </p:spPr>
        <p:txBody>
          <a:bodyPr wrap="square">
            <a:spAutoFit/>
          </a:bodyPr>
          <a:lstStyle/>
          <a:p>
            <a:pPr algn="l"/>
            <a:r>
              <a:rPr sz="1300" b="1" i="0">
                <a:solidFill>
                  <a:srgbClr val="1B3B5F"/>
                </a:solidFill>
              </a:rPr>
              <a:t>85% Time Saved</a:t>
            </a:r>
          </a:p>
        </p:txBody>
      </p:sp>
      <p:sp>
        <p:nvSpPr>
          <p:cNvPr id="10" name="TextBox 9"/>
          <p:cNvSpPr txBox="1"/>
          <p:nvPr/>
        </p:nvSpPr>
        <p:spPr>
          <a:xfrm>
            <a:off x="795528" y="1920240"/>
            <a:ext cx="5029200" cy="960120"/>
          </a:xfrm>
          <a:prstGeom prst="rect">
            <a:avLst/>
          </a:prstGeom>
          <a:noFill/>
        </p:spPr>
        <p:txBody>
          <a:bodyPr wrap="square">
            <a:spAutoFit/>
          </a:bodyPr>
          <a:lstStyle/>
          <a:p>
            <a:pPr algn="l"/>
            <a:r>
              <a:rPr sz="1200" b="0" i="0">
                <a:solidFill>
                  <a:srgbClr val="1E2A28"/>
                </a:solidFill>
              </a:rPr>
              <a:t>Average screening time reduced from ~15 mins to under 2 mins per candidate.</a:t>
            </a:r>
          </a:p>
        </p:txBody>
      </p:sp>
      <p:sp>
        <p:nvSpPr>
          <p:cNvPr id="11" name="Rounded Rectangle 10"/>
          <p:cNvSpPr/>
          <p:nvPr/>
        </p:nvSpPr>
        <p:spPr>
          <a:xfrm>
            <a:off x="6400800" y="1417320"/>
            <a:ext cx="5394960" cy="16002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417320"/>
            <a:ext cx="109728" cy="16002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1527048"/>
            <a:ext cx="5029200" cy="411480"/>
          </a:xfrm>
          <a:prstGeom prst="rect">
            <a:avLst/>
          </a:prstGeom>
          <a:noFill/>
        </p:spPr>
        <p:txBody>
          <a:bodyPr wrap="square">
            <a:spAutoFit/>
          </a:bodyPr>
          <a:lstStyle/>
          <a:p>
            <a:pPr algn="l"/>
            <a:r>
              <a:rPr sz="1300" b="1" i="0">
                <a:solidFill>
                  <a:srgbClr val="1B3B5F"/>
                </a:solidFill>
              </a:rPr>
              <a:t>94.8% Accuracy</a:t>
            </a:r>
          </a:p>
        </p:txBody>
      </p:sp>
      <p:sp>
        <p:nvSpPr>
          <p:cNvPr id="14" name="TextBox 13"/>
          <p:cNvSpPr txBox="1"/>
          <p:nvPr/>
        </p:nvSpPr>
        <p:spPr>
          <a:xfrm>
            <a:off x="6601968" y="1920240"/>
            <a:ext cx="5029200" cy="960120"/>
          </a:xfrm>
          <a:prstGeom prst="rect">
            <a:avLst/>
          </a:prstGeom>
          <a:noFill/>
        </p:spPr>
        <p:txBody>
          <a:bodyPr wrap="square">
            <a:spAutoFit/>
          </a:bodyPr>
          <a:lstStyle/>
          <a:p>
            <a:pPr algn="l"/>
            <a:r>
              <a:rPr sz="1200" b="0" i="0">
                <a:solidFill>
                  <a:srgbClr val="1E2A28"/>
                </a:solidFill>
              </a:rPr>
              <a:t>Candidate match scores closely aligned with senior recruiter evaluations.</a:t>
            </a:r>
          </a:p>
        </p:txBody>
      </p:sp>
      <p:sp>
        <p:nvSpPr>
          <p:cNvPr id="15" name="Rounded Rectangle 14"/>
          <p:cNvSpPr/>
          <p:nvPr/>
        </p:nvSpPr>
        <p:spPr>
          <a:xfrm>
            <a:off x="594360" y="3200400"/>
            <a:ext cx="5394960" cy="16002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200400"/>
            <a:ext cx="109728" cy="16002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310128"/>
            <a:ext cx="5029200" cy="411480"/>
          </a:xfrm>
          <a:prstGeom prst="rect">
            <a:avLst/>
          </a:prstGeom>
          <a:noFill/>
        </p:spPr>
        <p:txBody>
          <a:bodyPr wrap="square">
            <a:spAutoFit/>
          </a:bodyPr>
          <a:lstStyle/>
          <a:p>
            <a:pPr algn="l"/>
            <a:r>
              <a:rPr sz="1300" b="1" i="0">
                <a:solidFill>
                  <a:srgbClr val="1B3B5F"/>
                </a:solidFill>
              </a:rPr>
              <a:t>1-Click Outreach</a:t>
            </a:r>
          </a:p>
        </p:txBody>
      </p:sp>
      <p:sp>
        <p:nvSpPr>
          <p:cNvPr id="18" name="TextBox 17"/>
          <p:cNvSpPr txBox="1"/>
          <p:nvPr/>
        </p:nvSpPr>
        <p:spPr>
          <a:xfrm>
            <a:off x="795528" y="3703320"/>
            <a:ext cx="5029200" cy="960120"/>
          </a:xfrm>
          <a:prstGeom prst="rect">
            <a:avLst/>
          </a:prstGeom>
          <a:noFill/>
        </p:spPr>
        <p:txBody>
          <a:bodyPr wrap="square">
            <a:spAutoFit/>
          </a:bodyPr>
          <a:lstStyle/>
          <a:p>
            <a:pPr algn="l"/>
            <a:r>
              <a:rPr sz="1200" b="0" i="0">
                <a:solidFill>
                  <a:srgbClr val="1E2A28"/>
                </a:solidFill>
              </a:rPr>
              <a:t>Personalized emails drafted instantly—no manual writing required.</a:t>
            </a:r>
          </a:p>
        </p:txBody>
      </p:sp>
      <p:sp>
        <p:nvSpPr>
          <p:cNvPr id="19" name="Rounded Rectangle 18"/>
          <p:cNvSpPr/>
          <p:nvPr/>
        </p:nvSpPr>
        <p:spPr>
          <a:xfrm>
            <a:off x="6400800" y="3200400"/>
            <a:ext cx="5394960" cy="16002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3200400"/>
            <a:ext cx="109728" cy="16002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1968" y="3310128"/>
            <a:ext cx="5029200" cy="411480"/>
          </a:xfrm>
          <a:prstGeom prst="rect">
            <a:avLst/>
          </a:prstGeom>
          <a:noFill/>
        </p:spPr>
        <p:txBody>
          <a:bodyPr wrap="square">
            <a:spAutoFit/>
          </a:bodyPr>
          <a:lstStyle/>
          <a:p>
            <a:pPr algn="l"/>
            <a:r>
              <a:rPr sz="1300" b="1" i="0">
                <a:solidFill>
                  <a:srgbClr val="1B3B5F"/>
                </a:solidFill>
              </a:rPr>
              <a:t>100% Auditability</a:t>
            </a:r>
          </a:p>
        </p:txBody>
      </p:sp>
      <p:sp>
        <p:nvSpPr>
          <p:cNvPr id="22" name="TextBox 21"/>
          <p:cNvSpPr txBox="1"/>
          <p:nvPr/>
        </p:nvSpPr>
        <p:spPr>
          <a:xfrm>
            <a:off x="6601968" y="3703320"/>
            <a:ext cx="5029200" cy="960120"/>
          </a:xfrm>
          <a:prstGeom prst="rect">
            <a:avLst/>
          </a:prstGeom>
          <a:noFill/>
        </p:spPr>
        <p:txBody>
          <a:bodyPr wrap="square">
            <a:spAutoFit/>
          </a:bodyPr>
          <a:lstStyle/>
          <a:p>
            <a:pPr algn="l"/>
            <a:r>
              <a:rPr sz="1200" b="0" i="0">
                <a:solidFill>
                  <a:srgbClr val="1E2A28"/>
                </a:solidFill>
              </a:rPr>
              <a:t>Every AI action and user query permanently logged with timestamps.</a:t>
            </a:r>
          </a:p>
        </p:txBody>
      </p:sp>
      <p:sp>
        <p:nvSpPr>
          <p:cNvPr id="23" name="Rounded Rectangle 22"/>
          <p:cNvSpPr/>
          <p:nvPr/>
        </p:nvSpPr>
        <p:spPr>
          <a:xfrm>
            <a:off x="594360" y="4983480"/>
            <a:ext cx="5394960" cy="16002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4983480"/>
            <a:ext cx="109728" cy="16002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5093208"/>
            <a:ext cx="5029200" cy="411480"/>
          </a:xfrm>
          <a:prstGeom prst="rect">
            <a:avLst/>
          </a:prstGeom>
          <a:noFill/>
        </p:spPr>
        <p:txBody>
          <a:bodyPr wrap="square">
            <a:spAutoFit/>
          </a:bodyPr>
          <a:lstStyle/>
          <a:p>
            <a:pPr algn="l"/>
            <a:r>
              <a:rPr sz="1300" b="1" i="0">
                <a:solidFill>
                  <a:srgbClr val="1B3B5F"/>
                </a:solidFill>
              </a:rPr>
              <a:t>Deployed Live</a:t>
            </a:r>
          </a:p>
        </p:txBody>
      </p:sp>
      <p:sp>
        <p:nvSpPr>
          <p:cNvPr id="26" name="TextBox 25"/>
          <p:cNvSpPr txBox="1"/>
          <p:nvPr/>
        </p:nvSpPr>
        <p:spPr>
          <a:xfrm>
            <a:off x="795528" y="5486400"/>
            <a:ext cx="5029200" cy="960120"/>
          </a:xfrm>
          <a:prstGeom prst="rect">
            <a:avLst/>
          </a:prstGeom>
          <a:noFill/>
        </p:spPr>
        <p:txBody>
          <a:bodyPr wrap="square">
            <a:spAutoFit/>
          </a:bodyPr>
          <a:lstStyle/>
          <a:p>
            <a:pPr algn="l"/>
            <a:r>
              <a:rPr sz="1200" b="0" i="0">
                <a:solidFill>
                  <a:srgbClr val="1E2A28"/>
                </a:solidFill>
              </a:rPr>
              <a:t>Application is publicly accessible on GitHub Pages—demo-ready for evaluators.</a:t>
            </a:r>
          </a:p>
        </p:txBody>
      </p:sp>
      <p:sp>
        <p:nvSpPr>
          <p:cNvPr id="27" name="Rounded Rectangle 26"/>
          <p:cNvSpPr/>
          <p:nvPr/>
        </p:nvSpPr>
        <p:spPr>
          <a:xfrm>
            <a:off x="6400800" y="4983480"/>
            <a:ext cx="5394960" cy="16002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4983480"/>
            <a:ext cx="109728" cy="16002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1968" y="5093208"/>
            <a:ext cx="5029200" cy="411480"/>
          </a:xfrm>
          <a:prstGeom prst="rect">
            <a:avLst/>
          </a:prstGeom>
          <a:noFill/>
        </p:spPr>
        <p:txBody>
          <a:bodyPr wrap="square">
            <a:spAutoFit/>
          </a:bodyPr>
          <a:lstStyle/>
          <a:p>
            <a:pPr algn="l"/>
            <a:r>
              <a:rPr sz="1300" b="1" i="0">
                <a:solidFill>
                  <a:srgbClr val="1B3B5F"/>
                </a:solidFill>
              </a:rPr>
              <a:t>Open Source Code</a:t>
            </a:r>
          </a:p>
        </p:txBody>
      </p:sp>
      <p:sp>
        <p:nvSpPr>
          <p:cNvPr id="30" name="TextBox 29"/>
          <p:cNvSpPr txBox="1"/>
          <p:nvPr/>
        </p:nvSpPr>
        <p:spPr>
          <a:xfrm>
            <a:off x="6601968" y="5486400"/>
            <a:ext cx="5029200" cy="960120"/>
          </a:xfrm>
          <a:prstGeom prst="rect">
            <a:avLst/>
          </a:prstGeom>
          <a:noFill/>
        </p:spPr>
        <p:txBody>
          <a:bodyPr wrap="square">
            <a:spAutoFit/>
          </a:bodyPr>
          <a:lstStyle/>
          <a:p>
            <a:pPr algn="l"/>
            <a:r>
              <a:rPr sz="1200" b="0" i="0">
                <a:solidFill>
                  <a:srgbClr val="1E2A28"/>
                </a:solidFill>
              </a:rPr>
              <a:t>Full production-grade codebase at github.com/narayanalikhitha/talentstream-ai.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01168"/>
            <a:ext cx="10972800" cy="594360"/>
          </a:xfrm>
          <a:prstGeom prst="rect">
            <a:avLst/>
          </a:prstGeom>
          <a:noFill/>
        </p:spPr>
        <p:txBody>
          <a:bodyPr wrap="square">
            <a:spAutoFit/>
          </a:bodyPr>
          <a:lstStyle/>
          <a:p>
            <a:pPr algn="l"/>
            <a:r>
              <a:rPr sz="2800" b="1" i="0">
                <a:solidFill>
                  <a:srgbClr val="1B3B5F"/>
                </a:solidFill>
              </a:rPr>
              <a:t>Conclusion &amp; Learning</a:t>
            </a:r>
          </a:p>
        </p:txBody>
      </p:sp>
      <p:sp>
        <p:nvSpPr>
          <p:cNvPr id="5" name="Rectangle 4"/>
          <p:cNvSpPr/>
          <p:nvPr/>
        </p:nvSpPr>
        <p:spPr>
          <a:xfrm>
            <a:off x="594360" y="777240"/>
            <a:ext cx="2286000" cy="4572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10972800" cy="365760"/>
          </a:xfrm>
          <a:prstGeom prst="rect">
            <a:avLst/>
          </a:prstGeom>
          <a:noFill/>
        </p:spPr>
        <p:txBody>
          <a:bodyPr wrap="square">
            <a:spAutoFit/>
          </a:bodyPr>
          <a:lstStyle/>
          <a:p>
            <a:pPr algn="l"/>
            <a:r>
              <a:rPr sz="1300" b="0" i="0">
                <a:solidFill>
                  <a:srgbClr val="5C6B68"/>
                </a:solidFill>
              </a:rPr>
              <a:t>A summary of what I built and what I gained</a:t>
            </a:r>
          </a:p>
        </p:txBody>
      </p:sp>
      <p:sp>
        <p:nvSpPr>
          <p:cNvPr id="7" name="Rounded Rectangle 6"/>
          <p:cNvSpPr/>
          <p:nvPr/>
        </p:nvSpPr>
        <p:spPr>
          <a:xfrm>
            <a:off x="594360" y="1389888"/>
            <a:ext cx="10789920" cy="13716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89888"/>
            <a:ext cx="109728" cy="13716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481328"/>
            <a:ext cx="10469880" cy="365760"/>
          </a:xfrm>
          <a:prstGeom prst="rect">
            <a:avLst/>
          </a:prstGeom>
          <a:noFill/>
        </p:spPr>
        <p:txBody>
          <a:bodyPr wrap="square">
            <a:spAutoFit/>
          </a:bodyPr>
          <a:lstStyle/>
          <a:p>
            <a:pPr algn="l"/>
            <a:r>
              <a:rPr sz="1300" b="1" i="0">
                <a:solidFill>
                  <a:srgbClr val="1B3B5F"/>
                </a:solidFill>
              </a:rPr>
              <a:t>Project Summary</a:t>
            </a:r>
          </a:p>
        </p:txBody>
      </p:sp>
      <p:sp>
        <p:nvSpPr>
          <p:cNvPr id="10" name="TextBox 9"/>
          <p:cNvSpPr txBox="1"/>
          <p:nvPr/>
        </p:nvSpPr>
        <p:spPr>
          <a:xfrm>
            <a:off x="795528" y="1865376"/>
            <a:ext cx="10469880" cy="777240"/>
          </a:xfrm>
          <a:prstGeom prst="rect">
            <a:avLst/>
          </a:prstGeom>
          <a:noFill/>
        </p:spPr>
        <p:txBody>
          <a:bodyPr wrap="square">
            <a:spAutoFit/>
          </a:bodyPr>
          <a:lstStyle/>
          <a:p>
            <a:pPr>
              <a:spcAft>
                <a:spcPts val="800"/>
              </a:spcAft>
              <a:defRPr sz="1200">
                <a:solidFill>
                  <a:srgbClr val="1E2A28"/>
                </a:solidFill>
              </a:defRPr>
            </a:pPr>
            <a:r>
              <a:t>•  Successfully built TalentStream AI—a fully autonomous HR recruitment assistant that screens resumes, commands in plain English, drafts outreach emails, enforces data privacy, and maintains a complete audit trail. The application is deployed live and available for immediate demonstration.</a:t>
            </a:r>
          </a:p>
        </p:txBody>
      </p:sp>
      <p:sp>
        <p:nvSpPr>
          <p:cNvPr id="11" name="Rounded Rectangle 10"/>
          <p:cNvSpPr/>
          <p:nvPr/>
        </p:nvSpPr>
        <p:spPr>
          <a:xfrm>
            <a:off x="594360" y="2880360"/>
            <a:ext cx="5212080" cy="32004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2880360"/>
            <a:ext cx="109728" cy="32004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971800"/>
            <a:ext cx="4892040" cy="365760"/>
          </a:xfrm>
          <a:prstGeom prst="rect">
            <a:avLst/>
          </a:prstGeom>
          <a:noFill/>
        </p:spPr>
        <p:txBody>
          <a:bodyPr wrap="square">
            <a:spAutoFit/>
          </a:bodyPr>
          <a:lstStyle/>
          <a:p>
            <a:pPr algn="l"/>
            <a:r>
              <a:rPr sz="1300" b="1" i="0">
                <a:solidFill>
                  <a:srgbClr val="1B3B5F"/>
                </a:solidFill>
              </a:rPr>
              <a:t>Key Learnings</a:t>
            </a:r>
          </a:p>
        </p:txBody>
      </p:sp>
      <p:sp>
        <p:nvSpPr>
          <p:cNvPr id="14" name="TextBox 13"/>
          <p:cNvSpPr txBox="1"/>
          <p:nvPr/>
        </p:nvSpPr>
        <p:spPr>
          <a:xfrm>
            <a:off x="795528" y="3355848"/>
            <a:ext cx="4892040" cy="2606040"/>
          </a:xfrm>
          <a:prstGeom prst="rect">
            <a:avLst/>
          </a:prstGeom>
          <a:noFill/>
        </p:spPr>
        <p:txBody>
          <a:bodyPr wrap="square">
            <a:spAutoFit/>
          </a:bodyPr>
          <a:lstStyle/>
          <a:p>
            <a:pPr>
              <a:spcAft>
                <a:spcPts val="800"/>
              </a:spcAft>
              <a:defRPr sz="1200">
                <a:solidFill>
                  <a:srgbClr val="1E2A28"/>
                </a:solidFill>
              </a:defRPr>
            </a:pPr>
            <a:r>
              <a:t>•  Building real autonomous agents with deterministic tool calling</a:t>
            </a:r>
          </a:p>
          <a:p>
            <a:pPr>
              <a:spcAft>
                <a:spcPts val="800"/>
              </a:spcAft>
              <a:defRPr sz="1200">
                <a:solidFill>
                  <a:srgbClr val="1E2A28"/>
                </a:solidFill>
              </a:defRPr>
            </a:pPr>
            <a:r>
              <a:t>•  Parsing unstructured resume text reliably and efficiently</a:t>
            </a:r>
          </a:p>
          <a:p>
            <a:pPr>
              <a:spcAft>
                <a:spcPts val="800"/>
              </a:spcAft>
              <a:defRPr sz="1200">
                <a:solidFill>
                  <a:srgbClr val="1E2A28"/>
                </a:solidFill>
              </a:defRPr>
            </a:pPr>
            <a:r>
              <a:t>•  Implementing RBAC and regex-based PII masking in the browser</a:t>
            </a:r>
          </a:p>
          <a:p>
            <a:pPr>
              <a:spcAft>
                <a:spcPts val="800"/>
              </a:spcAft>
              <a:defRPr sz="1200">
                <a:solidFill>
                  <a:srgbClr val="1E2A28"/>
                </a:solidFill>
              </a:defRPr>
            </a:pPr>
            <a:r>
              <a:t>•  Prompt engineering for LLM-based email drafting</a:t>
            </a:r>
          </a:p>
          <a:p>
            <a:pPr>
              <a:spcAft>
                <a:spcPts val="800"/>
              </a:spcAft>
              <a:defRPr sz="1200">
                <a:solidFill>
                  <a:srgbClr val="1E2A28"/>
                </a:solidFill>
              </a:defRPr>
            </a:pPr>
            <a:r>
              <a:t>•  Git workflows, GitHub Actions CI/CD, and static deployment</a:t>
            </a:r>
          </a:p>
        </p:txBody>
      </p:sp>
      <p:sp>
        <p:nvSpPr>
          <p:cNvPr id="15" name="Rounded Rectangle 14"/>
          <p:cNvSpPr/>
          <p:nvPr/>
        </p:nvSpPr>
        <p:spPr>
          <a:xfrm>
            <a:off x="6172200" y="2880360"/>
            <a:ext cx="5212080" cy="3200400"/>
          </a:xfrm>
          <a:prstGeom prst="roundRect">
            <a:avLst/>
          </a:prstGeom>
          <a:solidFill>
            <a:srgbClr val="F4F8F6"/>
          </a:solidFill>
          <a:ln w="15240">
            <a:solidFill>
              <a:srgbClr val="D2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880360"/>
            <a:ext cx="109728" cy="32004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2971800"/>
            <a:ext cx="4892040" cy="365760"/>
          </a:xfrm>
          <a:prstGeom prst="rect">
            <a:avLst/>
          </a:prstGeom>
          <a:noFill/>
        </p:spPr>
        <p:txBody>
          <a:bodyPr wrap="square">
            <a:spAutoFit/>
          </a:bodyPr>
          <a:lstStyle/>
          <a:p>
            <a:pPr algn="l"/>
            <a:r>
              <a:rPr sz="1300" b="1" i="0">
                <a:solidFill>
                  <a:srgbClr val="1B3B5F"/>
                </a:solidFill>
              </a:rPr>
              <a:t>Future Scope</a:t>
            </a:r>
          </a:p>
        </p:txBody>
      </p:sp>
      <p:sp>
        <p:nvSpPr>
          <p:cNvPr id="18" name="TextBox 17"/>
          <p:cNvSpPr txBox="1"/>
          <p:nvPr/>
        </p:nvSpPr>
        <p:spPr>
          <a:xfrm>
            <a:off x="6373368" y="3355848"/>
            <a:ext cx="4892040" cy="2606040"/>
          </a:xfrm>
          <a:prstGeom prst="rect">
            <a:avLst/>
          </a:prstGeom>
          <a:noFill/>
        </p:spPr>
        <p:txBody>
          <a:bodyPr wrap="square">
            <a:spAutoFit/>
          </a:bodyPr>
          <a:lstStyle/>
          <a:p>
            <a:pPr>
              <a:spcAft>
                <a:spcPts val="800"/>
              </a:spcAft>
              <a:defRPr sz="1200">
                <a:solidFill>
                  <a:srgbClr val="1E2A28"/>
                </a:solidFill>
              </a:defRPr>
            </a:pPr>
            <a:r>
              <a:t>•  Multi-language CV translation and screening support</a:t>
            </a:r>
          </a:p>
          <a:p>
            <a:pPr>
              <a:spcAft>
                <a:spcPts val="800"/>
              </a:spcAft>
              <a:defRPr sz="1200">
                <a:solidFill>
                  <a:srgbClr val="1E2A28"/>
                </a:solidFill>
              </a:defRPr>
            </a:pPr>
            <a:r>
              <a:t>•  Direct integration with Workday, Greenhouse, Taleo ATS</a:t>
            </a:r>
          </a:p>
          <a:p>
            <a:pPr>
              <a:spcAft>
                <a:spcPts val="800"/>
              </a:spcAft>
              <a:defRPr sz="1200">
                <a:solidFill>
                  <a:srgbClr val="1E2A28"/>
                </a:solidFill>
              </a:defRPr>
            </a:pPr>
            <a:r>
              <a:t>•  Voice-driven command input for hands-free recruiting</a:t>
            </a:r>
          </a:p>
          <a:p>
            <a:pPr>
              <a:spcAft>
                <a:spcPts val="800"/>
              </a:spcAft>
              <a:defRPr sz="1200">
                <a:solidFill>
                  <a:srgbClr val="1E2A28"/>
                </a:solidFill>
              </a:defRPr>
            </a:pPr>
            <a:r>
              <a:t>•  Real-time calendar integration for automated interview scheduling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F6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645920"/>
          </a:xfrm>
          <a:prstGeom prst="rect">
            <a:avLst/>
          </a:prstGeom>
          <a:noFill/>
        </p:spPr>
        <p:txBody>
          <a:bodyPr wrap="square">
            <a:spAutoFit/>
          </a:bodyPr>
          <a:lstStyle/>
          <a:p>
            <a:pPr algn="ctr"/>
            <a:r>
              <a:rPr sz="6000" b="1" i="0">
                <a:solidFill>
                  <a:srgbClr val="FFFFFF"/>
                </a:solidFill>
              </a:rPr>
              <a:t>THANK YOU</a:t>
            </a:r>
          </a:p>
        </p:txBody>
      </p:sp>
      <p:sp>
        <p:nvSpPr>
          <p:cNvPr id="5" name="TextBox 4"/>
          <p:cNvSpPr txBox="1"/>
          <p:nvPr/>
        </p:nvSpPr>
        <p:spPr>
          <a:xfrm>
            <a:off x="914400" y="3200400"/>
            <a:ext cx="10332720" cy="640080"/>
          </a:xfrm>
          <a:prstGeom prst="rect">
            <a:avLst/>
          </a:prstGeom>
          <a:noFill/>
        </p:spPr>
        <p:txBody>
          <a:bodyPr wrap="square">
            <a:spAutoFit/>
          </a:bodyPr>
          <a:lstStyle/>
          <a:p>
            <a:pPr algn="ctr"/>
            <a:r>
              <a:rPr sz="2800" b="0" i="0">
                <a:solidFill>
                  <a:srgbClr val="E8A33D"/>
                </a:solidFill>
              </a:rPr>
              <a:t>Any Questions?</a:t>
            </a:r>
          </a:p>
        </p:txBody>
      </p:sp>
      <p:sp>
        <p:nvSpPr>
          <p:cNvPr id="6" name="TextBox 5"/>
          <p:cNvSpPr txBox="1"/>
          <p:nvPr/>
        </p:nvSpPr>
        <p:spPr>
          <a:xfrm>
            <a:off x="914400" y="4023360"/>
            <a:ext cx="10332720" cy="457200"/>
          </a:xfrm>
          <a:prstGeom prst="rect">
            <a:avLst/>
          </a:prstGeom>
          <a:noFill/>
        </p:spPr>
        <p:txBody>
          <a:bodyPr wrap="square">
            <a:spAutoFit/>
          </a:bodyPr>
          <a:lstStyle/>
          <a:p>
            <a:pPr algn="ctr"/>
            <a:r>
              <a:rPr sz="1400" b="0" i="0">
                <a:solidFill>
                  <a:srgbClr val="B4D7C3"/>
                </a:solidFill>
              </a:rPr>
              <a:t>Narayana Likhitha  |  AI Intern  |  github.com/narayanalikhitha/talentstream-ai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