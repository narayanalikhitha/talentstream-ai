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faculty members. Welcome to my Summer Internship presentation on 'TalentStream AI - Autonomous HR Recruitment &amp; Outreach Agent'. During this internship, I developed an enterprise-ready intelligent agent that automates candidate screening, natural language commands, outreach generation, and Role-Based Access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I establish the context of my internship. HR departments face a severe bottleneck where recruiters spend hours reviewing resumes manually. My project, TalentStream AI, solves this by combining LLM reasoning with automated tool execution to complete screening in under 2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 detail the organization's background and specific industry pain points. Beyond speed, enterprise software demands compliance. Unmasked candidate data and untracked hiring decisions pose major legal liabilities, making our project's built-in RBAC and audit logging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had five concrete technical objectives covering the full spectrum of modern AI engineering: unstructured data extraction, natural language reasoning, generative copywriting, security masking, and audit logging.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the architectural blueprint of TalentStream AI. Notice how the agent acts as an autonomous middleware: inputs are parsed, routed to specialized tools, and sanitized through our RBAC filter before being displayed. Every single transition is logged into our SOC-2 compliant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comprehensive technology stack. I deliberately chose a lean, ultra-responsive Vanilla HTML5/CSS3/ES6+ foundation with Vite to achieve exceptional performance and zero bundle bloat, while integrating modern AI agent paradigms and enterprise security.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comprises five interdependent modules. Each module fulfills a key requirement of the modern enterprise recruiting workflow, ensuring that recruitment is fast, transparent,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screenshot displays Output 1: The Executive Dashboard. HR leaders can monitor recruitment health at a glance. The candidate fit chart dynamically updates as new resumes are screened, while the live thinking log terminal at the bottom provides full visibility into the agent's operations.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2 is our Candidate Screening Hub. Selecting any candidate renders a detailed evaluation scorecard: verified technical skills, strengths, areas for growth, and an AI-drafted outreach email ready for review.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3 demonstrates our Command Console and Security Audit Log. Recruiters can query candidates using natural language prompts, while the compliance audit trail maintains an immutable log of every action taken.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security is one of the most critical aspects of this project. Through our dynamic RBAC engine, changing roles immediately redacts PII elements. This ensures compliance with global privacy regulations such as GDPR and SOC-2.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timeline summarizes my 10-week development progression, structured in four two-to-three week phases: from initial research and engine development, through UI design, and ending with security hardening and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results demonstrate compelling quantitative impact. Candidate screening time dropped by over 85%, while maintaining a 94.8% decision accuracy score. Complete auditability guarantees that enterprise compliance is never compromised.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internship provided an invaluable learning experience bridging advanced artificial intelligence with real-world enterprise software engineering. I gained deep technical competencies in agent architecture, security compliance, and full-stack development. Thank you for your time, and I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914400"/>
            <a:ext cx="4114800" cy="411480"/>
          </a:xfrm>
          <a:prstGeom prst="roundRect">
            <a:avLst/>
          </a:prstGeom>
          <a:solidFill>
            <a:srgbClr val="6366F1"/>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4114800" cy="411480"/>
          </a:xfrm>
          <a:prstGeom prst="rect">
            <a:avLst/>
          </a:prstGeom>
          <a:noFill/>
        </p:spPr>
        <p:txBody>
          <a:bodyPr wrap="none">
            <a:spAutoFit/>
          </a:bodyPr>
          <a:lstStyle/>
          <a:p>
            <a:pPr algn="ctr">
              <a:defRPr sz="1100" b="1">
                <a:solidFill>
                  <a:srgbClr val="F8FAFC"/>
                </a:solidFill>
              </a:defRPr>
            </a:pPr>
            <a:r>
              <a:t>SUMMER INTERNSHIP FINAL PROJECT</a:t>
            </a:r>
          </a:p>
        </p:txBody>
      </p:sp>
      <p:sp>
        <p:nvSpPr>
          <p:cNvPr id="5" name="TextBox 4"/>
          <p:cNvSpPr txBox="1"/>
          <p:nvPr/>
        </p:nvSpPr>
        <p:spPr>
          <a:xfrm>
            <a:off x="731520" y="1463040"/>
            <a:ext cx="10698480" cy="1645920"/>
          </a:xfrm>
          <a:prstGeom prst="rect">
            <a:avLst/>
          </a:prstGeom>
          <a:noFill/>
        </p:spPr>
        <p:txBody>
          <a:bodyPr wrap="square">
            <a:spAutoFit/>
          </a:bodyPr>
          <a:lstStyle/>
          <a:p>
            <a:pPr>
              <a:defRPr sz="4400" b="1">
                <a:solidFill>
                  <a:srgbClr val="38BDF8"/>
                </a:solidFill>
              </a:defRPr>
            </a:pPr>
            <a:r>
              <a:t>TalentStream AI</a:t>
            </a:r>
          </a:p>
          <a:p>
            <a:pPr>
              <a:spcBef>
                <a:spcPts val="800"/>
              </a:spcBef>
              <a:defRPr sz="2000" b="1">
                <a:solidFill>
                  <a:srgbClr val="F8FAFC"/>
                </a:solidFill>
              </a:defRPr>
            </a:pPr>
            <a:r>
              <a:t>Autonomous HR Recruitment &amp; Outreach Agent with Enterprise RBAC</a:t>
            </a:r>
          </a:p>
        </p:txBody>
      </p:sp>
      <p:sp>
        <p:nvSpPr>
          <p:cNvPr id="6" name="Rounded Rectangle 5"/>
          <p:cNvSpPr/>
          <p:nvPr/>
        </p:nvSpPr>
        <p:spPr>
          <a:xfrm>
            <a:off x="731520" y="3383280"/>
            <a:ext cx="5120640" cy="27432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566160"/>
            <a:ext cx="4572000" cy="2377440"/>
          </a:xfrm>
          <a:prstGeom prst="rect">
            <a:avLst/>
          </a:prstGeom>
          <a:noFill/>
        </p:spPr>
        <p:txBody>
          <a:bodyPr wrap="square">
            <a:spAutoFit/>
          </a:bodyPr>
          <a:lstStyle/>
          <a:p>
            <a:pPr>
              <a:spcAft>
                <a:spcPts val="800"/>
              </a:spcAft>
              <a:defRPr sz="1300" b="1">
                <a:solidFill>
                  <a:srgbClr val="F8FAFC"/>
                </a:solidFill>
              </a:defRPr>
            </a:pPr>
            <a:r>
              <a:t>•  Candidate: Likhitha Narayana</a:t>
            </a:r>
          </a:p>
          <a:p>
            <a:pPr>
              <a:spcAft>
                <a:spcPts val="800"/>
              </a:spcAft>
              <a:defRPr sz="1300">
                <a:solidFill>
                  <a:srgbClr val="F8FAFC"/>
                </a:solidFill>
              </a:defRPr>
            </a:pPr>
            <a:r>
              <a:t>•  Role: Full-Stack AI Engineer Intern</a:t>
            </a:r>
          </a:p>
          <a:p>
            <a:pPr>
              <a:spcAft>
                <a:spcPts val="800"/>
              </a:spcAft>
              <a:defRPr sz="1300">
                <a:solidFill>
                  <a:srgbClr val="F8FAFC"/>
                </a:solidFill>
              </a:defRPr>
            </a:pPr>
            <a:r>
              <a:t>•  Department: Computer Science &amp; Engineering</a:t>
            </a:r>
          </a:p>
          <a:p>
            <a:pPr>
              <a:spcAft>
                <a:spcPts val="800"/>
              </a:spcAft>
              <a:defRPr sz="1300">
                <a:solidFill>
                  <a:srgbClr val="F8FAFC"/>
                </a:solidFill>
              </a:defRPr>
            </a:pPr>
            <a:r>
              <a:t>•  Domain: Applied AI &amp; Enterprise HR Systems</a:t>
            </a:r>
          </a:p>
          <a:p>
            <a:pPr>
              <a:spcAft>
                <a:spcPts val="800"/>
              </a:spcAft>
              <a:defRPr sz="1300">
                <a:solidFill>
                  <a:srgbClr val="F8FAFC"/>
                </a:solidFill>
              </a:defRPr>
            </a:pPr>
            <a:r>
              <a:t>•  Duration: Summer 2026 (10-Week Intensive)</a:t>
            </a:r>
          </a:p>
        </p:txBody>
      </p:sp>
      <p:sp>
        <p:nvSpPr>
          <p:cNvPr id="8" name="Rounded Rectangle 7"/>
          <p:cNvSpPr/>
          <p:nvPr/>
        </p:nvSpPr>
        <p:spPr>
          <a:xfrm>
            <a:off x="6217920" y="3383280"/>
            <a:ext cx="5212080" cy="27432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3566160"/>
            <a:ext cx="4663440" cy="2377440"/>
          </a:xfrm>
          <a:prstGeom prst="rect">
            <a:avLst/>
          </a:prstGeom>
          <a:noFill/>
        </p:spPr>
        <p:txBody>
          <a:bodyPr wrap="square">
            <a:spAutoFit/>
          </a:bodyPr>
          <a:lstStyle/>
          <a:p>
            <a:pPr>
              <a:spcAft>
                <a:spcPts val="800"/>
              </a:spcAft>
              <a:defRPr sz="1300" b="1">
                <a:solidFill>
                  <a:srgbClr val="F8FAFC"/>
                </a:solidFill>
              </a:defRPr>
            </a:pPr>
            <a:r>
              <a:t>•  Host Org: Enterprise AI &amp; HR Solutions Division</a:t>
            </a:r>
          </a:p>
          <a:p>
            <a:pPr>
              <a:spcAft>
                <a:spcPts val="800"/>
              </a:spcAft>
              <a:defRPr sz="1300">
                <a:solidFill>
                  <a:srgbClr val="F8FAFC"/>
                </a:solidFill>
              </a:defRPr>
            </a:pPr>
            <a:r>
              <a:t>•  Live Deployment: GitHub Pages Active SPA</a:t>
            </a:r>
          </a:p>
          <a:p>
            <a:pPr>
              <a:spcAft>
                <a:spcPts val="800"/>
              </a:spcAft>
              <a:defRPr sz="1300">
                <a:solidFill>
                  <a:srgbClr val="F8FAFC"/>
                </a:solidFill>
              </a:defRPr>
            </a:pPr>
            <a:r>
              <a:t>•  Repository: github.com/narayanalikhitha/talentstream-ai</a:t>
            </a:r>
          </a:p>
          <a:p>
            <a:pPr>
              <a:spcAft>
                <a:spcPts val="800"/>
              </a:spcAft>
              <a:defRPr sz="1300">
                <a:solidFill>
                  <a:srgbClr val="F8FAFC"/>
                </a:solidFill>
              </a:defRPr>
            </a:pPr>
            <a:r>
              <a:t>•  Faculty / Mentor: Evaluator Board Committee</a:t>
            </a:r>
          </a:p>
          <a:p>
            <a:pPr>
              <a:spcAft>
                <a:spcPts val="800"/>
              </a:spcAft>
              <a:defRPr sz="1300">
                <a:solidFill>
                  <a:srgbClr val="F8FAFC"/>
                </a:solidFill>
              </a:defRPr>
            </a:pPr>
            <a:r>
              <a:t>•  Key Deliverable: Fully autonomous working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TALENTSTREAM AI | SUMMER INTERNSHIP PRESENTATION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Introduction to the Internship</a:t>
            </a:r>
          </a:p>
        </p:txBody>
      </p:sp>
      <p:sp>
        <p:nvSpPr>
          <p:cNvPr id="5" name="Rounded Rectangle 4"/>
          <p:cNvSpPr/>
          <p:nvPr/>
        </p:nvSpPr>
        <p:spPr>
          <a:xfrm>
            <a:off x="731520" y="1645920"/>
            <a:ext cx="3383280"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17520" cy="4114800"/>
          </a:xfrm>
          <a:prstGeom prst="rect">
            <a:avLst/>
          </a:prstGeom>
          <a:noFill/>
        </p:spPr>
        <p:txBody>
          <a:bodyPr wrap="square">
            <a:spAutoFit/>
          </a:bodyPr>
          <a:lstStyle/>
          <a:p>
            <a:pPr>
              <a:spcAft>
                <a:spcPts val="1400"/>
              </a:spcAft>
              <a:defRPr b="1" sz="1300">
                <a:solidFill>
                  <a:srgbClr val="F8FAFC"/>
                </a:solidFill>
              </a:defRPr>
            </a:pPr>
            <a:r>
              <a:t>•  Role: Full-Stack AI Engineer Intern</a:t>
            </a:r>
          </a:p>
          <a:p>
            <a:pPr>
              <a:spcAft>
                <a:spcPts val="1400"/>
              </a:spcAft>
              <a:defRPr sz="1300">
                <a:solidFill>
                  <a:srgbClr val="F8FAFC"/>
                </a:solidFill>
              </a:defRPr>
            </a:pPr>
            <a:r>
              <a:t>•  Focus: Autonomous Agent Architecture</a:t>
            </a:r>
          </a:p>
          <a:p>
            <a:pPr>
              <a:spcAft>
                <a:spcPts val="1400"/>
              </a:spcAft>
              <a:defRPr sz="1300">
                <a:solidFill>
                  <a:srgbClr val="F8FAFC"/>
                </a:solidFill>
              </a:defRPr>
            </a:pPr>
            <a:r>
              <a:t>•  Integration: Large Language Models (LLMs) with enterprise web systems</a:t>
            </a:r>
          </a:p>
          <a:p>
            <a:pPr>
              <a:spcAft>
                <a:spcPts val="1400"/>
              </a:spcAft>
              <a:defRPr sz="1300">
                <a:solidFill>
                  <a:srgbClr val="F8FAFC"/>
                </a:solidFill>
              </a:defRPr>
            </a:pPr>
            <a:r>
              <a:t>•  Scope: End-to-end development from backend reasoning to glassmorphic UI</a:t>
            </a:r>
          </a:p>
        </p:txBody>
      </p:sp>
      <p:sp>
        <p:nvSpPr>
          <p:cNvPr id="7" name="Rounded Rectangle 6"/>
          <p:cNvSpPr/>
          <p:nvPr/>
        </p:nvSpPr>
        <p:spPr>
          <a:xfrm>
            <a:off x="4389120" y="1645920"/>
            <a:ext cx="3383280"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3017520" cy="4114800"/>
          </a:xfrm>
          <a:prstGeom prst="rect">
            <a:avLst/>
          </a:prstGeom>
          <a:noFill/>
        </p:spPr>
        <p:txBody>
          <a:bodyPr wrap="square">
            <a:spAutoFit/>
          </a:bodyPr>
          <a:lstStyle/>
          <a:p>
            <a:pPr>
              <a:spcAft>
                <a:spcPts val="1400"/>
              </a:spcAft>
              <a:defRPr b="1" sz="1300">
                <a:solidFill>
                  <a:srgbClr val="F8FAFC"/>
                </a:solidFill>
              </a:defRPr>
            </a:pPr>
            <a:r>
              <a:t>•  HR teams receive hundreds of resumes per job requisition</a:t>
            </a:r>
          </a:p>
          <a:p>
            <a:pPr>
              <a:spcAft>
                <a:spcPts val="1400"/>
              </a:spcAft>
              <a:defRPr sz="1300">
                <a:solidFill>
                  <a:srgbClr val="F8FAFC"/>
                </a:solidFill>
              </a:defRPr>
            </a:pPr>
            <a:r>
              <a:t>•  Manual screening takes 15–20 mins per applicant</a:t>
            </a:r>
          </a:p>
          <a:p>
            <a:pPr>
              <a:spcAft>
                <a:spcPts val="1400"/>
              </a:spcAft>
              <a:defRPr sz="1300">
                <a:solidFill>
                  <a:srgbClr val="F8FAFC"/>
                </a:solidFill>
              </a:defRPr>
            </a:pPr>
            <a:r>
              <a:t>•  Recruiter fatigue causes high drop-off and bias</a:t>
            </a:r>
          </a:p>
          <a:p>
            <a:pPr>
              <a:spcAft>
                <a:spcPts val="1400"/>
              </a:spcAft>
              <a:defRPr sz="1300">
                <a:solidFill>
                  <a:srgbClr val="F8FAFC"/>
                </a:solidFill>
              </a:defRPr>
            </a:pPr>
            <a:r>
              <a:t>•  Urgent need for automated, unbiased initial screening</a:t>
            </a:r>
          </a:p>
        </p:txBody>
      </p:sp>
      <p:sp>
        <p:nvSpPr>
          <p:cNvPr id="9" name="Rounded Rectangle 8"/>
          <p:cNvSpPr/>
          <p:nvPr/>
        </p:nvSpPr>
        <p:spPr>
          <a:xfrm>
            <a:off x="8046720" y="1645920"/>
            <a:ext cx="3383280"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4114800"/>
          </a:xfrm>
          <a:prstGeom prst="rect">
            <a:avLst/>
          </a:prstGeom>
          <a:noFill/>
        </p:spPr>
        <p:txBody>
          <a:bodyPr wrap="square">
            <a:spAutoFit/>
          </a:bodyPr>
          <a:lstStyle/>
          <a:p>
            <a:pPr>
              <a:spcAft>
                <a:spcPts val="1400"/>
              </a:spcAft>
              <a:defRPr b="1" sz="1300">
                <a:solidFill>
                  <a:srgbClr val="F8FAFC"/>
                </a:solidFill>
              </a:defRPr>
            </a:pPr>
            <a:r>
              <a:t>•  Instant CV parsing &amp; scoring (0–100%)</a:t>
            </a:r>
          </a:p>
          <a:p>
            <a:pPr>
              <a:spcAft>
                <a:spcPts val="1400"/>
              </a:spcAft>
              <a:defRPr sz="1300">
                <a:solidFill>
                  <a:srgbClr val="F8FAFC"/>
                </a:solidFill>
              </a:defRPr>
            </a:pPr>
            <a:r>
              <a:t>•  Automated personalized outreach copywriting</a:t>
            </a:r>
          </a:p>
          <a:p>
            <a:pPr>
              <a:spcAft>
                <a:spcPts val="1400"/>
              </a:spcAft>
              <a:defRPr sz="1300">
                <a:solidFill>
                  <a:srgbClr val="F8FAFC"/>
                </a:solidFill>
              </a:defRPr>
            </a:pPr>
            <a:r>
              <a:t>•  Hands-free natural language CLI console</a:t>
            </a:r>
          </a:p>
          <a:p>
            <a:pPr>
              <a:spcAft>
                <a:spcPts val="1400"/>
              </a:spcAft>
              <a:defRPr sz="1300">
                <a:solidFill>
                  <a:srgbClr val="F8FAFC"/>
                </a:solidFill>
              </a:defRPr>
            </a:pPr>
            <a:r>
              <a:t>•  Built-in SOC-2 audit logging and PII masking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TALENTSTREAM AI | SUMMER INTERNSHIP PRESENTATION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Organization Profile &amp; Business Environment</a:t>
            </a:r>
          </a:p>
        </p:txBody>
      </p:sp>
      <p:sp>
        <p:nvSpPr>
          <p:cNvPr id="5" name="Rounded Rectangle 4"/>
          <p:cNvSpPr/>
          <p:nvPr/>
        </p:nvSpPr>
        <p:spPr>
          <a:xfrm>
            <a:off x="731520" y="1645920"/>
            <a:ext cx="5120640"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572000" cy="4114800"/>
          </a:xfrm>
          <a:prstGeom prst="rect">
            <a:avLst/>
          </a:prstGeom>
          <a:noFill/>
        </p:spPr>
        <p:txBody>
          <a:bodyPr wrap="square">
            <a:spAutoFit/>
          </a:bodyPr>
          <a:lstStyle/>
          <a:p>
            <a:pPr>
              <a:spcAft>
                <a:spcPts val="1200"/>
              </a:spcAft>
              <a:defRPr b="1" sz="1300">
                <a:solidFill>
                  <a:srgbClr val="F8FAFC"/>
                </a:solidFill>
              </a:defRPr>
            </a:pPr>
            <a:r>
              <a:t>•  Enterprise Software &amp; Applied AI Division</a:t>
            </a:r>
          </a:p>
          <a:p>
            <a:pPr>
              <a:spcAft>
                <a:spcPts val="1200"/>
              </a:spcAft>
              <a:defRPr sz="1300">
                <a:solidFill>
                  <a:srgbClr val="F8FAFC"/>
                </a:solidFill>
              </a:defRPr>
            </a:pPr>
            <a:r>
              <a:t>•  Mission: Modernizing business operations using autonomous agents</a:t>
            </a:r>
          </a:p>
          <a:p>
            <a:pPr>
              <a:spcAft>
                <a:spcPts val="1200"/>
              </a:spcAft>
              <a:defRPr sz="1300">
                <a:solidFill>
                  <a:srgbClr val="F8FAFC"/>
                </a:solidFill>
              </a:defRPr>
            </a:pPr>
            <a:r>
              <a:t>•  Engineering Philosophy: Security-first, auditable, high-throughput architectures</a:t>
            </a:r>
          </a:p>
          <a:p>
            <a:pPr>
              <a:spcAft>
                <a:spcPts val="1200"/>
              </a:spcAft>
              <a:defRPr sz="1300">
                <a:solidFill>
                  <a:srgbClr val="F8FAFC"/>
                </a:solidFill>
              </a:defRPr>
            </a:pPr>
            <a:r>
              <a:t>•  Operational Scale: Hundreds of enterprise hiring pipelines running concurrently</a:t>
            </a:r>
          </a:p>
          <a:p>
            <a:pPr>
              <a:spcAft>
                <a:spcPts val="1200"/>
              </a:spcAft>
              <a:defRPr sz="1300">
                <a:solidFill>
                  <a:srgbClr val="F8FAFC"/>
                </a:solidFill>
              </a:defRPr>
            </a:pPr>
            <a:r>
              <a:t>•  Compliance Mandates: SOC-2, GDPR, and EEOC anti-bias standards</a:t>
            </a:r>
          </a:p>
        </p:txBody>
      </p:sp>
      <p:sp>
        <p:nvSpPr>
          <p:cNvPr id="7" name="Rounded Rectangle 6"/>
          <p:cNvSpPr/>
          <p:nvPr/>
        </p:nvSpPr>
        <p:spPr>
          <a:xfrm>
            <a:off x="6217920" y="1645920"/>
            <a:ext cx="5212080"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4114800"/>
          </a:xfrm>
          <a:prstGeom prst="rect">
            <a:avLst/>
          </a:prstGeom>
          <a:noFill/>
        </p:spPr>
        <p:txBody>
          <a:bodyPr wrap="square">
            <a:spAutoFit/>
          </a:bodyPr>
          <a:lstStyle/>
          <a:p>
            <a:pPr>
              <a:spcAft>
                <a:spcPts val="1200"/>
              </a:spcAft>
              <a:defRPr b="1" sz="1300">
                <a:solidFill>
                  <a:srgbClr val="F8FAFC"/>
                </a:solidFill>
              </a:defRPr>
            </a:pPr>
            <a:r>
              <a:t>•  Candidate Backlog: Inability to keep up with candidate volumes during hiring spikes</a:t>
            </a:r>
          </a:p>
          <a:p>
            <a:pPr>
              <a:spcAft>
                <a:spcPts val="1200"/>
              </a:spcAft>
              <a:defRPr sz="1300">
                <a:solidFill>
                  <a:srgbClr val="F8FAFC"/>
                </a:solidFill>
              </a:defRPr>
            </a:pPr>
            <a:r>
              <a:t>•  Inconsistent Evaluations: Different human recruiters evaluate candidates with varying standards</a:t>
            </a:r>
          </a:p>
          <a:p>
            <a:pPr>
              <a:spcAft>
                <a:spcPts val="1200"/>
              </a:spcAft>
              <a:defRPr sz="1300">
                <a:solidFill>
                  <a:srgbClr val="F8FAFC"/>
                </a:solidFill>
              </a:defRPr>
            </a:pPr>
            <a:r>
              <a:t>•  Data Privacy Exposure: Hiring managers frequently see sensitive candidate PII (phone/address)</a:t>
            </a:r>
          </a:p>
          <a:p>
            <a:pPr>
              <a:spcAft>
                <a:spcPts val="1200"/>
              </a:spcAft>
              <a:defRPr sz="1300">
                <a:solidFill>
                  <a:srgbClr val="F8FAFC"/>
                </a:solidFill>
              </a:defRPr>
            </a:pPr>
            <a:r>
              <a:t>•  Lack of Traceability: Decisions lacked verifiable records explaining why a candidate passed/failed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TALENTSTREAM AI | SUMMER INTERNSHIP PRESENTATION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Internship Goals &amp; Core Objectives</a:t>
            </a:r>
          </a:p>
        </p:txBody>
      </p:sp>
      <p:sp>
        <p:nvSpPr>
          <p:cNvPr id="5" name="Rounded Rectangle 4"/>
          <p:cNvSpPr/>
          <p:nvPr/>
        </p:nvSpPr>
        <p:spPr>
          <a:xfrm>
            <a:off x="731520" y="1645920"/>
            <a:ext cx="10698480" cy="841248"/>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19072"/>
            <a:ext cx="10149840" cy="731520"/>
          </a:xfrm>
          <a:prstGeom prst="rect">
            <a:avLst/>
          </a:prstGeom>
          <a:noFill/>
        </p:spPr>
        <p:txBody>
          <a:bodyPr wrap="square">
            <a:spAutoFit/>
          </a:bodyPr>
          <a:lstStyle/>
          <a:p>
            <a:pPr>
              <a:defRPr sz="1400" b="1">
                <a:solidFill>
                  <a:srgbClr val="6366F1"/>
                </a:solidFill>
              </a:defRPr>
            </a:pPr>
            <a:r>
              <a:t>1. Autonomous Resume Screening</a:t>
            </a:r>
          </a:p>
          <a:p>
            <a:pPr>
              <a:defRPr sz="1200">
                <a:solidFill>
                  <a:srgbClr val="94A3B8"/>
                </a:solidFill>
              </a:defRPr>
            </a:pPr>
            <a:r>
              <a:t>Ingest raw unstructured CVs, extract candidate skillsets, and calculate a multi-attribute weighted match score (0–100%) against job descriptions.</a:t>
            </a:r>
          </a:p>
        </p:txBody>
      </p:sp>
      <p:sp>
        <p:nvSpPr>
          <p:cNvPr id="7" name="Rounded Rectangle 6"/>
          <p:cNvSpPr/>
          <p:nvPr/>
        </p:nvSpPr>
        <p:spPr>
          <a:xfrm>
            <a:off x="731520" y="2578608"/>
            <a:ext cx="10698480" cy="841248"/>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651760"/>
            <a:ext cx="10149840" cy="731520"/>
          </a:xfrm>
          <a:prstGeom prst="rect">
            <a:avLst/>
          </a:prstGeom>
          <a:noFill/>
        </p:spPr>
        <p:txBody>
          <a:bodyPr wrap="square">
            <a:spAutoFit/>
          </a:bodyPr>
          <a:lstStyle/>
          <a:p>
            <a:pPr>
              <a:defRPr sz="1400" b="1">
                <a:solidFill>
                  <a:srgbClr val="38BDF8"/>
                </a:solidFill>
              </a:defRPr>
            </a:pPr>
            <a:r>
              <a:t>2. Natural Language Agent Console</a:t>
            </a:r>
          </a:p>
          <a:p>
            <a:pPr>
              <a:defRPr sz="1200">
                <a:solidFill>
                  <a:srgbClr val="94A3B8"/>
                </a:solidFill>
              </a:defRPr>
            </a:pPr>
            <a:r>
              <a:t>Implement a conversational command terminal capable of parsing plain English instructions to trigger internal database and filter tools.</a:t>
            </a:r>
          </a:p>
        </p:txBody>
      </p:sp>
      <p:sp>
        <p:nvSpPr>
          <p:cNvPr id="9" name="Rounded Rectangle 8"/>
          <p:cNvSpPr/>
          <p:nvPr/>
        </p:nvSpPr>
        <p:spPr>
          <a:xfrm>
            <a:off x="731520" y="3511296"/>
            <a:ext cx="10698480" cy="841248"/>
          </a:xfrm>
          <a:prstGeom prst="roundRect">
            <a:avLst/>
          </a:prstGeom>
          <a:solidFill>
            <a:srgbClr val="141D2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584448"/>
            <a:ext cx="10149840" cy="731520"/>
          </a:xfrm>
          <a:prstGeom prst="rect">
            <a:avLst/>
          </a:prstGeom>
          <a:noFill/>
        </p:spPr>
        <p:txBody>
          <a:bodyPr wrap="square">
            <a:spAutoFit/>
          </a:bodyPr>
          <a:lstStyle/>
          <a:p>
            <a:pPr>
              <a:defRPr sz="1400" b="1">
                <a:solidFill>
                  <a:srgbClr val="A855F7"/>
                </a:solidFill>
              </a:defRPr>
            </a:pPr>
            <a:r>
              <a:t>3. Intelligent Outreach Generation</a:t>
            </a:r>
          </a:p>
          <a:p>
            <a:pPr>
              <a:defRPr sz="1200">
                <a:solidFill>
                  <a:srgbClr val="94A3B8"/>
                </a:solidFill>
              </a:defRPr>
            </a:pPr>
            <a:r>
              <a:t>Automate personalized outreach email copywriting using LLM generation tailored to candidate background and target job requirements.</a:t>
            </a:r>
          </a:p>
        </p:txBody>
      </p:sp>
      <p:sp>
        <p:nvSpPr>
          <p:cNvPr id="11" name="Rounded Rectangle 10"/>
          <p:cNvSpPr/>
          <p:nvPr/>
        </p:nvSpPr>
        <p:spPr>
          <a:xfrm>
            <a:off x="731520" y="4443984"/>
            <a:ext cx="10698480" cy="841248"/>
          </a:xfrm>
          <a:prstGeom prst="roundRect">
            <a:avLst/>
          </a:prstGeom>
          <a:solidFill>
            <a:srgbClr val="141D2F"/>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17136"/>
            <a:ext cx="10149840" cy="731520"/>
          </a:xfrm>
          <a:prstGeom prst="rect">
            <a:avLst/>
          </a:prstGeom>
          <a:noFill/>
        </p:spPr>
        <p:txBody>
          <a:bodyPr wrap="square">
            <a:spAutoFit/>
          </a:bodyPr>
          <a:lstStyle/>
          <a:p>
            <a:pPr>
              <a:defRPr sz="1400" b="1">
                <a:solidFill>
                  <a:srgbClr val="22C55E"/>
                </a:solidFill>
              </a:defRPr>
            </a:pPr>
            <a:r>
              <a:t>4. Role-Based Access Control (RBAC)</a:t>
            </a:r>
          </a:p>
          <a:p>
            <a:pPr>
              <a:defRPr sz="1200">
                <a:solidFill>
                  <a:srgbClr val="94A3B8"/>
                </a:solidFill>
              </a:defRPr>
            </a:pPr>
            <a:r>
              <a:t>Safeguard candidate personal data by dynamically masking phone numbers and emails for non-recruiter roles to ensure privacy.</a:t>
            </a:r>
          </a:p>
        </p:txBody>
      </p:sp>
      <p:sp>
        <p:nvSpPr>
          <p:cNvPr id="13" name="Rounded Rectangle 12"/>
          <p:cNvSpPr/>
          <p:nvPr/>
        </p:nvSpPr>
        <p:spPr>
          <a:xfrm>
            <a:off x="731520" y="5376672"/>
            <a:ext cx="10698480" cy="841248"/>
          </a:xfrm>
          <a:prstGeom prst="roundRect">
            <a:avLst/>
          </a:prstGeom>
          <a:solidFill>
            <a:srgbClr val="141D2F"/>
          </a:solidFill>
          <a:ln w="1905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449824"/>
            <a:ext cx="10149840" cy="731520"/>
          </a:xfrm>
          <a:prstGeom prst="rect">
            <a:avLst/>
          </a:prstGeom>
          <a:noFill/>
        </p:spPr>
        <p:txBody>
          <a:bodyPr wrap="square">
            <a:spAutoFit/>
          </a:bodyPr>
          <a:lstStyle/>
          <a:p>
            <a:pPr>
              <a:defRPr sz="1400" b="1">
                <a:solidFill>
                  <a:srgbClr val="F8FAFC"/>
                </a:solidFill>
              </a:defRPr>
            </a:pPr>
            <a:r>
              <a:t>5. Auditable Event Tracking</a:t>
            </a:r>
          </a:p>
          <a:p>
            <a:pPr>
              <a:defRPr sz="1200">
                <a:solidFill>
                  <a:srgbClr val="94A3B8"/>
                </a:solidFill>
              </a:defRPr>
            </a:pPr>
            <a:r>
              <a:t>Build an immutable, timestamped event logger tracking every agent step, tool call, and operator action for enterprise compliance.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TALENTSTREAM AI | SUMMER INTERNSHIP PRESENTATION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System Architecture &amp; Agentic Workflow</a:t>
            </a:r>
          </a:p>
        </p:txBody>
      </p:sp>
      <p:sp>
        <p:nvSpPr>
          <p:cNvPr id="5" name="Rounded Rectangle 4"/>
          <p:cNvSpPr/>
          <p:nvPr/>
        </p:nvSpPr>
        <p:spPr>
          <a:xfrm>
            <a:off x="731520" y="1645920"/>
            <a:ext cx="2057400" cy="201168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783080" cy="1645920"/>
          </a:xfrm>
          <a:prstGeom prst="rect">
            <a:avLst/>
          </a:prstGeom>
          <a:noFill/>
        </p:spPr>
        <p:txBody>
          <a:bodyPr wrap="square">
            <a:spAutoFit/>
          </a:bodyPr>
          <a:lstStyle/>
          <a:p>
            <a:pPr>
              <a:spcAft>
                <a:spcPts val="800"/>
              </a:spcAft>
              <a:defRPr sz="1300" b="1">
                <a:solidFill>
                  <a:srgbClr val="6366F1"/>
                </a:solidFill>
              </a:defRPr>
            </a:pPr>
            <a:r>
              <a:t>1. Input Ingestion</a:t>
            </a:r>
          </a:p>
          <a:p>
            <a:pPr>
              <a:defRPr sz="1100">
                <a:solidFill>
                  <a:srgbClr val="F8FAFC"/>
                </a:solidFill>
              </a:defRPr>
            </a:pPr>
            <a:r>
              <a:t>Raw CV Text / PDF &amp; Job Description Specs</a:t>
            </a:r>
          </a:p>
        </p:txBody>
      </p:sp>
      <p:sp>
        <p:nvSpPr>
          <p:cNvPr id="7" name="Rounded Rectangle 6"/>
          <p:cNvSpPr/>
          <p:nvPr/>
        </p:nvSpPr>
        <p:spPr>
          <a:xfrm>
            <a:off x="2907791" y="1645920"/>
            <a:ext cx="2057400" cy="201168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44951" y="1828800"/>
            <a:ext cx="1783080" cy="1645920"/>
          </a:xfrm>
          <a:prstGeom prst="rect">
            <a:avLst/>
          </a:prstGeom>
          <a:noFill/>
        </p:spPr>
        <p:txBody>
          <a:bodyPr wrap="square">
            <a:spAutoFit/>
          </a:bodyPr>
          <a:lstStyle/>
          <a:p>
            <a:pPr>
              <a:spcAft>
                <a:spcPts val="800"/>
              </a:spcAft>
              <a:defRPr sz="1300" b="1">
                <a:solidFill>
                  <a:srgbClr val="38BDF8"/>
                </a:solidFill>
              </a:defRPr>
            </a:pPr>
            <a:r>
              <a:t>2. Reasoning Engine</a:t>
            </a:r>
          </a:p>
          <a:p>
            <a:pPr>
              <a:defRPr sz="1100">
                <a:solidFill>
                  <a:srgbClr val="F8FAFC"/>
                </a:solidFill>
              </a:defRPr>
            </a:pPr>
            <a:r>
              <a:t>Gemini 3.5 Flash Model + Prompt Chaining</a:t>
            </a:r>
          </a:p>
        </p:txBody>
      </p:sp>
      <p:sp>
        <p:nvSpPr>
          <p:cNvPr id="9" name="Rounded Rectangle 8"/>
          <p:cNvSpPr/>
          <p:nvPr/>
        </p:nvSpPr>
        <p:spPr>
          <a:xfrm>
            <a:off x="5084064" y="1645920"/>
            <a:ext cx="2057400" cy="2011680"/>
          </a:xfrm>
          <a:prstGeom prst="roundRect">
            <a:avLst/>
          </a:prstGeom>
          <a:solidFill>
            <a:srgbClr val="141D2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1224" y="1828800"/>
            <a:ext cx="1783080" cy="1645920"/>
          </a:xfrm>
          <a:prstGeom prst="rect">
            <a:avLst/>
          </a:prstGeom>
          <a:noFill/>
        </p:spPr>
        <p:txBody>
          <a:bodyPr wrap="square">
            <a:spAutoFit/>
          </a:bodyPr>
          <a:lstStyle/>
          <a:p>
            <a:pPr>
              <a:spcAft>
                <a:spcPts val="800"/>
              </a:spcAft>
              <a:defRPr sz="1300" b="1">
                <a:solidFill>
                  <a:srgbClr val="A855F7"/>
                </a:solidFill>
              </a:defRPr>
            </a:pPr>
            <a:r>
              <a:t>3. Tool Execution</a:t>
            </a:r>
          </a:p>
          <a:p>
            <a:pPr>
              <a:defRPr sz="1100">
                <a:solidFill>
                  <a:srgbClr val="F8FAFC"/>
                </a:solidFill>
              </a:defRPr>
            </a:pPr>
            <a:r>
              <a:t>Skill Parser, Match Scorer, Email Generator</a:t>
            </a:r>
          </a:p>
        </p:txBody>
      </p:sp>
      <p:sp>
        <p:nvSpPr>
          <p:cNvPr id="11" name="Rounded Rectangle 10"/>
          <p:cNvSpPr/>
          <p:nvPr/>
        </p:nvSpPr>
        <p:spPr>
          <a:xfrm>
            <a:off x="7260336" y="1645920"/>
            <a:ext cx="2057400" cy="2011680"/>
          </a:xfrm>
          <a:prstGeom prst="roundRect">
            <a:avLst/>
          </a:prstGeom>
          <a:solidFill>
            <a:srgbClr val="141D2F"/>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97496" y="1828800"/>
            <a:ext cx="1783080" cy="1645920"/>
          </a:xfrm>
          <a:prstGeom prst="rect">
            <a:avLst/>
          </a:prstGeom>
          <a:noFill/>
        </p:spPr>
        <p:txBody>
          <a:bodyPr wrap="square">
            <a:spAutoFit/>
          </a:bodyPr>
          <a:lstStyle/>
          <a:p>
            <a:pPr>
              <a:spcAft>
                <a:spcPts val="800"/>
              </a:spcAft>
              <a:defRPr sz="1300" b="1">
                <a:solidFill>
                  <a:srgbClr val="22C55E"/>
                </a:solidFill>
              </a:defRPr>
            </a:pPr>
            <a:r>
              <a:t>4. RBAC Controller</a:t>
            </a:r>
          </a:p>
          <a:p>
            <a:pPr>
              <a:defRPr sz="1100">
                <a:solidFill>
                  <a:srgbClr val="F8FAFC"/>
                </a:solidFill>
              </a:defRPr>
            </a:pPr>
            <a:r>
              <a:t>Dynamic PII Redaction for Non-Recruiters</a:t>
            </a:r>
          </a:p>
        </p:txBody>
      </p:sp>
      <p:sp>
        <p:nvSpPr>
          <p:cNvPr id="13" name="Rounded Rectangle 12"/>
          <p:cNvSpPr/>
          <p:nvPr/>
        </p:nvSpPr>
        <p:spPr>
          <a:xfrm>
            <a:off x="9436608" y="1645920"/>
            <a:ext cx="2057400" cy="2011680"/>
          </a:xfrm>
          <a:prstGeom prst="roundRect">
            <a:avLst/>
          </a:prstGeom>
          <a:solidFill>
            <a:srgbClr val="141D2F"/>
          </a:solidFill>
          <a:ln w="1905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73768" y="1828800"/>
            <a:ext cx="1783080" cy="1645920"/>
          </a:xfrm>
          <a:prstGeom prst="rect">
            <a:avLst/>
          </a:prstGeom>
          <a:noFill/>
        </p:spPr>
        <p:txBody>
          <a:bodyPr wrap="square">
            <a:spAutoFit/>
          </a:bodyPr>
          <a:lstStyle/>
          <a:p>
            <a:pPr>
              <a:spcAft>
                <a:spcPts val="800"/>
              </a:spcAft>
              <a:defRPr sz="1300" b="1">
                <a:solidFill>
                  <a:srgbClr val="F8FAFC"/>
                </a:solidFill>
              </a:defRPr>
            </a:pPr>
            <a:r>
              <a:t>5. Secure Store</a:t>
            </a:r>
          </a:p>
          <a:p>
            <a:pPr>
              <a:defRPr sz="1100">
                <a:solidFill>
                  <a:srgbClr val="F8FAFC"/>
                </a:solidFill>
              </a:defRPr>
            </a:pPr>
            <a:r>
              <a:t>Candidate DB + Immutable SOC-2 Audit Trail</a:t>
            </a:r>
          </a:p>
        </p:txBody>
      </p:sp>
      <p:sp>
        <p:nvSpPr>
          <p:cNvPr id="15" name="Rounded Rectangle 14"/>
          <p:cNvSpPr/>
          <p:nvPr/>
        </p:nvSpPr>
        <p:spPr>
          <a:xfrm>
            <a:off x="731520" y="3931920"/>
            <a:ext cx="10698480" cy="2286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14800"/>
            <a:ext cx="10149840" cy="1920240"/>
          </a:xfrm>
          <a:prstGeom prst="rect">
            <a:avLst/>
          </a:prstGeom>
          <a:noFill/>
        </p:spPr>
        <p:txBody>
          <a:bodyPr wrap="square">
            <a:spAutoFit/>
          </a:bodyPr>
          <a:lstStyle/>
          <a:p>
            <a:pPr>
              <a:spcAft>
                <a:spcPts val="600"/>
              </a:spcAft>
              <a:defRPr b="1" sz="1200">
                <a:solidFill>
                  <a:srgbClr val="F8FAFC"/>
                </a:solidFill>
              </a:defRPr>
            </a:pPr>
            <a:r>
              <a:t>•  Decoupled Agentic Pipeline: The AI reasoning engine operates independently from UI state, allowing headless execution.</a:t>
            </a:r>
          </a:p>
          <a:p>
            <a:pPr>
              <a:spcAft>
                <a:spcPts val="600"/>
              </a:spcAft>
              <a:defRPr sz="1200">
                <a:solidFill>
                  <a:srgbClr val="F8FAFC"/>
                </a:solidFill>
              </a:defRPr>
            </a:pPr>
            <a:r>
              <a:t>•  Deterministic Tool Invocation: Natural language commands trigger specific deterministic tools (query_db, mask_pii, draft_email).</a:t>
            </a:r>
          </a:p>
          <a:p>
            <a:pPr>
              <a:spcAft>
                <a:spcPts val="600"/>
              </a:spcAft>
              <a:defRPr sz="1200">
                <a:solidFill>
                  <a:srgbClr val="F8FAFC"/>
                </a:solidFill>
              </a:defRPr>
            </a:pPr>
            <a:r>
              <a:t>•  Zero-Leakage Access Control: Personal Identifiable Information is scrubbed at the data layer before reaching rendering components.</a:t>
            </a:r>
          </a:p>
          <a:p>
            <a:pPr>
              <a:spcAft>
                <a:spcPts val="600"/>
              </a:spcAft>
              <a:defRPr sz="1200">
                <a:solidFill>
                  <a:srgbClr val="F8FAFC"/>
                </a:solidFill>
              </a:defRPr>
            </a:pPr>
            <a:r>
              <a:t>•  Live Operational Visibility: Agent 'thinking steps' stream in real-time to the UI console for maximum transparency.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TALENTSTREAM AI | SUMMER INTERNSHIP PRESENTATION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Technology Stack &amp; Development Tools</a:t>
            </a:r>
          </a:p>
        </p:txBody>
      </p:sp>
      <p:sp>
        <p:nvSpPr>
          <p:cNvPr id="5" name="Rounded Rectangle 4"/>
          <p:cNvSpPr/>
          <p:nvPr/>
        </p:nvSpPr>
        <p:spPr>
          <a:xfrm>
            <a:off x="731520" y="1645920"/>
            <a:ext cx="2578608"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212848" cy="4114800"/>
          </a:xfrm>
          <a:prstGeom prst="rect">
            <a:avLst/>
          </a:prstGeom>
          <a:noFill/>
        </p:spPr>
        <p:txBody>
          <a:bodyPr wrap="square">
            <a:spAutoFit/>
          </a:bodyPr>
          <a:lstStyle/>
          <a:p>
            <a:pPr>
              <a:spcAft>
                <a:spcPts val="1200"/>
              </a:spcAft>
              <a:defRPr sz="1200" b="1">
                <a:solidFill>
                  <a:srgbClr val="F8FAFC"/>
                </a:solidFill>
              </a:defRPr>
            </a:pPr>
            <a:r>
              <a:t>•  HTML5 Semantic Structure</a:t>
            </a:r>
          </a:p>
          <a:p>
            <a:pPr>
              <a:spcAft>
                <a:spcPts val="1200"/>
              </a:spcAft>
              <a:defRPr sz="1200">
                <a:solidFill>
                  <a:srgbClr val="F8FAFC"/>
                </a:solidFill>
              </a:defRPr>
            </a:pPr>
            <a:r>
              <a:t>•  CSS3 with Glassmorphism</a:t>
            </a:r>
          </a:p>
          <a:p>
            <a:pPr>
              <a:spcAft>
                <a:spcPts val="1200"/>
              </a:spcAft>
              <a:defRPr sz="1200">
                <a:solidFill>
                  <a:srgbClr val="F8FAFC"/>
                </a:solidFill>
              </a:defRPr>
            </a:pPr>
            <a:r>
              <a:t>•  CSS Custom Properties / Variables</a:t>
            </a:r>
          </a:p>
          <a:p>
            <a:pPr>
              <a:spcAft>
                <a:spcPts val="1200"/>
              </a:spcAft>
              <a:defRPr sz="1200">
                <a:solidFill>
                  <a:srgbClr val="F8FAFC"/>
                </a:solidFill>
              </a:defRPr>
            </a:pPr>
            <a:r>
              <a:t>•  Google Fonts (Outfit, Jakarta)</a:t>
            </a:r>
          </a:p>
          <a:p>
            <a:pPr>
              <a:spcAft>
                <a:spcPts val="1200"/>
              </a:spcAft>
              <a:defRPr sz="1200">
                <a:solidFill>
                  <a:srgbClr val="F8FAFC"/>
                </a:solidFill>
              </a:defRPr>
            </a:pPr>
            <a:r>
              <a:t>•  Dynamic Inline SVG Graphics</a:t>
            </a:r>
          </a:p>
        </p:txBody>
      </p:sp>
      <p:sp>
        <p:nvSpPr>
          <p:cNvPr id="7" name="Rounded Rectangle 6"/>
          <p:cNvSpPr/>
          <p:nvPr/>
        </p:nvSpPr>
        <p:spPr>
          <a:xfrm>
            <a:off x="3456432" y="1645920"/>
            <a:ext cx="2578608" cy="457200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1828800"/>
            <a:ext cx="2212848" cy="4114800"/>
          </a:xfrm>
          <a:prstGeom prst="rect">
            <a:avLst/>
          </a:prstGeom>
          <a:noFill/>
        </p:spPr>
        <p:txBody>
          <a:bodyPr wrap="square">
            <a:spAutoFit/>
          </a:bodyPr>
          <a:lstStyle/>
          <a:p>
            <a:pPr>
              <a:spcAft>
                <a:spcPts val="1200"/>
              </a:spcAft>
              <a:defRPr sz="1200" b="1">
                <a:solidFill>
                  <a:srgbClr val="F8FAFC"/>
                </a:solidFill>
              </a:defRPr>
            </a:pPr>
            <a:r>
              <a:t>•  Modern JavaScript (ES6+)</a:t>
            </a:r>
          </a:p>
          <a:p>
            <a:pPr>
              <a:spcAft>
                <a:spcPts val="1200"/>
              </a:spcAft>
              <a:defRPr sz="1200">
                <a:solidFill>
                  <a:srgbClr val="F8FAFC"/>
                </a:solidFill>
              </a:defRPr>
            </a:pPr>
            <a:r>
              <a:t>•  Async Promise Pipelines</a:t>
            </a:r>
          </a:p>
          <a:p>
            <a:pPr>
              <a:spcAft>
                <a:spcPts val="1200"/>
              </a:spcAft>
              <a:defRPr sz="1200">
                <a:solidFill>
                  <a:srgbClr val="F8FAFC"/>
                </a:solidFill>
              </a:defRPr>
            </a:pPr>
            <a:r>
              <a:t>•  Gemini 3.5 Flash Model Logic</a:t>
            </a:r>
          </a:p>
          <a:p>
            <a:pPr>
              <a:spcAft>
                <a:spcPts val="1200"/>
              </a:spcAft>
              <a:defRPr sz="1200">
                <a:solidFill>
                  <a:srgbClr val="F8FAFC"/>
                </a:solidFill>
              </a:defRPr>
            </a:pPr>
            <a:r>
              <a:t>•  NLP Semantic Command Parser</a:t>
            </a:r>
          </a:p>
          <a:p>
            <a:pPr>
              <a:spcAft>
                <a:spcPts val="1200"/>
              </a:spcAft>
              <a:defRPr sz="1200">
                <a:solidFill>
                  <a:srgbClr val="F8FAFC"/>
                </a:solidFill>
              </a:defRPr>
            </a:pPr>
            <a:r>
              <a:t>•  Context-Aware Prompt Engineering</a:t>
            </a:r>
          </a:p>
        </p:txBody>
      </p:sp>
      <p:sp>
        <p:nvSpPr>
          <p:cNvPr id="9" name="Rounded Rectangle 8"/>
          <p:cNvSpPr/>
          <p:nvPr/>
        </p:nvSpPr>
        <p:spPr>
          <a:xfrm>
            <a:off x="6181344" y="1645920"/>
            <a:ext cx="2578608" cy="4572000"/>
          </a:xfrm>
          <a:prstGeom prst="roundRect">
            <a:avLst/>
          </a:prstGeom>
          <a:solidFill>
            <a:srgbClr val="141D2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828800"/>
            <a:ext cx="2212848" cy="4114800"/>
          </a:xfrm>
          <a:prstGeom prst="rect">
            <a:avLst/>
          </a:prstGeom>
          <a:noFill/>
        </p:spPr>
        <p:txBody>
          <a:bodyPr wrap="square">
            <a:spAutoFit/>
          </a:bodyPr>
          <a:lstStyle/>
          <a:p>
            <a:pPr>
              <a:spcAft>
                <a:spcPts val="1200"/>
              </a:spcAft>
              <a:defRPr sz="1200" b="1">
                <a:solidFill>
                  <a:srgbClr val="F8FAFC"/>
                </a:solidFill>
              </a:defRPr>
            </a:pPr>
            <a:r>
              <a:t>•  Role-Based Access Control (RBAC)</a:t>
            </a:r>
          </a:p>
          <a:p>
            <a:pPr>
              <a:spcAft>
                <a:spcPts val="1200"/>
              </a:spcAft>
              <a:defRPr sz="1200">
                <a:solidFill>
                  <a:srgbClr val="F8FAFC"/>
                </a:solidFill>
              </a:defRPr>
            </a:pPr>
            <a:r>
              <a:t>•  Regex PII Sanitization Engine</a:t>
            </a:r>
          </a:p>
          <a:p>
            <a:pPr>
              <a:spcAft>
                <a:spcPts val="1200"/>
              </a:spcAft>
              <a:defRPr sz="1200">
                <a:solidFill>
                  <a:srgbClr val="F8FAFC"/>
                </a:solidFill>
              </a:defRPr>
            </a:pPr>
            <a:r>
              <a:t>•  Encrypted Client Storage State</a:t>
            </a:r>
          </a:p>
          <a:p>
            <a:pPr>
              <a:spcAft>
                <a:spcPts val="1200"/>
              </a:spcAft>
              <a:defRPr sz="1200">
                <a:solidFill>
                  <a:srgbClr val="F8FAFC"/>
                </a:solidFill>
              </a:defRPr>
            </a:pPr>
            <a:r>
              <a:t>•  SOC-2 Immutable Audit Schema</a:t>
            </a:r>
          </a:p>
          <a:p>
            <a:pPr>
              <a:spcAft>
                <a:spcPts val="1200"/>
              </a:spcAft>
              <a:defRPr sz="1200">
                <a:solidFill>
                  <a:srgbClr val="F8FAFC"/>
                </a:solidFill>
              </a:defRPr>
            </a:pPr>
            <a:r>
              <a:t>•  JSON-Formatted Audit Export</a:t>
            </a:r>
          </a:p>
        </p:txBody>
      </p:sp>
      <p:sp>
        <p:nvSpPr>
          <p:cNvPr id="11" name="Rounded Rectangle 10"/>
          <p:cNvSpPr/>
          <p:nvPr/>
        </p:nvSpPr>
        <p:spPr>
          <a:xfrm>
            <a:off x="8906256" y="1645920"/>
            <a:ext cx="2578608" cy="4572000"/>
          </a:xfrm>
          <a:prstGeom prst="roundRect">
            <a:avLst/>
          </a:prstGeom>
          <a:solidFill>
            <a:srgbClr val="141D2F"/>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1828800"/>
            <a:ext cx="2212848" cy="4114800"/>
          </a:xfrm>
          <a:prstGeom prst="rect">
            <a:avLst/>
          </a:prstGeom>
          <a:noFill/>
        </p:spPr>
        <p:txBody>
          <a:bodyPr wrap="square">
            <a:spAutoFit/>
          </a:bodyPr>
          <a:lstStyle/>
          <a:p>
            <a:pPr>
              <a:spcAft>
                <a:spcPts val="1200"/>
              </a:spcAft>
              <a:defRPr sz="1200" b="1">
                <a:solidFill>
                  <a:srgbClr val="F8FAFC"/>
                </a:solidFill>
              </a:defRPr>
            </a:pPr>
            <a:r>
              <a:t>•  Git Distributed VCS</a:t>
            </a:r>
          </a:p>
          <a:p>
            <a:pPr>
              <a:spcAft>
                <a:spcPts val="1200"/>
              </a:spcAft>
              <a:defRPr sz="1200">
                <a:solidFill>
                  <a:srgbClr val="F8FAFC"/>
                </a:solidFill>
              </a:defRPr>
            </a:pPr>
            <a:r>
              <a:t>•  GitHub Remote Repository</a:t>
            </a:r>
          </a:p>
          <a:p>
            <a:pPr>
              <a:spcAft>
                <a:spcPts val="1200"/>
              </a:spcAft>
              <a:defRPr sz="1200">
                <a:solidFill>
                  <a:srgbClr val="F8FAFC"/>
                </a:solidFill>
              </a:defRPr>
            </a:pPr>
            <a:r>
              <a:t>•  Vite High-Speed Dev Server</a:t>
            </a:r>
          </a:p>
          <a:p>
            <a:pPr>
              <a:spcAft>
                <a:spcPts val="1200"/>
              </a:spcAft>
              <a:defRPr sz="1200">
                <a:solidFill>
                  <a:srgbClr val="F8FAFC"/>
                </a:solidFill>
              </a:defRPr>
            </a:pPr>
            <a:r>
              <a:t>•  GitHub Pages Static Hosting</a:t>
            </a:r>
          </a:p>
          <a:p>
            <a:pPr>
              <a:spcAft>
                <a:spcPts val="1200"/>
              </a:spcAft>
              <a:defRPr sz="1200">
                <a:solidFill>
                  <a:srgbClr val="F8FAFC"/>
                </a:solidFill>
              </a:defRPr>
            </a:pPr>
            <a:r>
              <a:t>•  GitHub Actions CI/CD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TALENTSTREAM AI | SUMMER INTERNSHIP PRESENTATION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Overview of Core Modules Developed</a:t>
            </a:r>
          </a:p>
        </p:txBody>
      </p:sp>
      <p:sp>
        <p:nvSpPr>
          <p:cNvPr id="5" name="Rounded Rectangle 4"/>
          <p:cNvSpPr/>
          <p:nvPr/>
        </p:nvSpPr>
        <p:spPr>
          <a:xfrm>
            <a:off x="731520" y="1645920"/>
            <a:ext cx="10698480" cy="841248"/>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19072"/>
            <a:ext cx="10149840" cy="731520"/>
          </a:xfrm>
          <a:prstGeom prst="rect">
            <a:avLst/>
          </a:prstGeom>
          <a:noFill/>
        </p:spPr>
        <p:txBody>
          <a:bodyPr wrap="square">
            <a:spAutoFit/>
          </a:bodyPr>
          <a:lstStyle/>
          <a:p>
            <a:pPr>
              <a:defRPr sz="1400" b="1">
                <a:solidFill>
                  <a:srgbClr val="6366F1"/>
                </a:solidFill>
              </a:defRPr>
            </a:pPr>
            <a:r>
              <a:t>Module 1: Executive Analytics Dashboard</a:t>
            </a:r>
          </a:p>
          <a:p>
            <a:pPr>
              <a:defRPr sz="1200">
                <a:solidFill>
                  <a:srgbClr val="94A3B8"/>
                </a:solidFill>
              </a:defRPr>
            </a:pPr>
            <a:r>
              <a:t>Provides high-level recruitment metrics, candidate pipeline distribution charts, and a real-time terminal displaying background agent thoughts.</a:t>
            </a:r>
          </a:p>
        </p:txBody>
      </p:sp>
      <p:sp>
        <p:nvSpPr>
          <p:cNvPr id="7" name="Rounded Rectangle 6"/>
          <p:cNvSpPr/>
          <p:nvPr/>
        </p:nvSpPr>
        <p:spPr>
          <a:xfrm>
            <a:off x="731520" y="2578608"/>
            <a:ext cx="10698480" cy="841248"/>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651760"/>
            <a:ext cx="10149840" cy="731520"/>
          </a:xfrm>
          <a:prstGeom prst="rect">
            <a:avLst/>
          </a:prstGeom>
          <a:noFill/>
        </p:spPr>
        <p:txBody>
          <a:bodyPr wrap="square">
            <a:spAutoFit/>
          </a:bodyPr>
          <a:lstStyle/>
          <a:p>
            <a:pPr>
              <a:defRPr sz="1400" b="1">
                <a:solidFill>
                  <a:srgbClr val="38BDF8"/>
                </a:solidFill>
              </a:defRPr>
            </a:pPr>
            <a:r>
              <a:t>Module 2: Candidate Ingestion &amp; Scoring Engine</a:t>
            </a:r>
          </a:p>
          <a:p>
            <a:pPr>
              <a:defRPr sz="1200">
                <a:solidFill>
                  <a:srgbClr val="94A3B8"/>
                </a:solidFill>
              </a:defRPr>
            </a:pPr>
            <a:r>
              <a:t>Handles raw resume ingestion, extracts key technical competencies, maps against job prerequisites, and generates match ratings.</a:t>
            </a:r>
          </a:p>
        </p:txBody>
      </p:sp>
      <p:sp>
        <p:nvSpPr>
          <p:cNvPr id="9" name="Rounded Rectangle 8"/>
          <p:cNvSpPr/>
          <p:nvPr/>
        </p:nvSpPr>
        <p:spPr>
          <a:xfrm>
            <a:off x="731520" y="3511296"/>
            <a:ext cx="10698480" cy="841248"/>
          </a:xfrm>
          <a:prstGeom prst="roundRect">
            <a:avLst/>
          </a:prstGeom>
          <a:solidFill>
            <a:srgbClr val="141D2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584448"/>
            <a:ext cx="10149840" cy="731520"/>
          </a:xfrm>
          <a:prstGeom prst="rect">
            <a:avLst/>
          </a:prstGeom>
          <a:noFill/>
        </p:spPr>
        <p:txBody>
          <a:bodyPr wrap="square">
            <a:spAutoFit/>
          </a:bodyPr>
          <a:lstStyle/>
          <a:p>
            <a:pPr>
              <a:defRPr sz="1400" b="1">
                <a:solidFill>
                  <a:srgbClr val="A855F7"/>
                </a:solidFill>
              </a:defRPr>
            </a:pPr>
            <a:r>
              <a:t>Module 3: Scorecard &amp; Autonomous Outreach Hub</a:t>
            </a:r>
          </a:p>
          <a:p>
            <a:pPr>
              <a:defRPr sz="1200">
                <a:solidFill>
                  <a:srgbClr val="94A3B8"/>
                </a:solidFill>
              </a:defRPr>
            </a:pPr>
            <a:r>
              <a:t>Renders detailed candidate evaluations including verified skill checkmarks, identified growth areas, and LLM-drafted invitation emails.</a:t>
            </a:r>
          </a:p>
        </p:txBody>
      </p:sp>
      <p:sp>
        <p:nvSpPr>
          <p:cNvPr id="11" name="Rounded Rectangle 10"/>
          <p:cNvSpPr/>
          <p:nvPr/>
        </p:nvSpPr>
        <p:spPr>
          <a:xfrm>
            <a:off x="731520" y="4443984"/>
            <a:ext cx="10698480" cy="841248"/>
          </a:xfrm>
          <a:prstGeom prst="roundRect">
            <a:avLst/>
          </a:prstGeom>
          <a:solidFill>
            <a:srgbClr val="141D2F"/>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17136"/>
            <a:ext cx="10149840" cy="731520"/>
          </a:xfrm>
          <a:prstGeom prst="rect">
            <a:avLst/>
          </a:prstGeom>
          <a:noFill/>
        </p:spPr>
        <p:txBody>
          <a:bodyPr wrap="square">
            <a:spAutoFit/>
          </a:bodyPr>
          <a:lstStyle/>
          <a:p>
            <a:pPr>
              <a:defRPr sz="1400" b="1">
                <a:solidFill>
                  <a:srgbClr val="22C55E"/>
                </a:solidFill>
              </a:defRPr>
            </a:pPr>
            <a:r>
              <a:t>Module 4: Natural Language Agent Command Terminal</a:t>
            </a:r>
          </a:p>
          <a:p>
            <a:pPr>
              <a:defRPr sz="1200">
                <a:solidFill>
                  <a:srgbClr val="94A3B8"/>
                </a:solidFill>
              </a:defRPr>
            </a:pPr>
            <a:r>
              <a:t>An interactive CLI shell accepting plain-English commands (e.g., 'Find candidates with Python &gt;85%') and executing deterministic tool actions.</a:t>
            </a:r>
          </a:p>
        </p:txBody>
      </p:sp>
      <p:sp>
        <p:nvSpPr>
          <p:cNvPr id="13" name="Rounded Rectangle 12"/>
          <p:cNvSpPr/>
          <p:nvPr/>
        </p:nvSpPr>
        <p:spPr>
          <a:xfrm>
            <a:off x="731520" y="5376672"/>
            <a:ext cx="10698480" cy="841248"/>
          </a:xfrm>
          <a:prstGeom prst="roundRect">
            <a:avLst/>
          </a:prstGeom>
          <a:solidFill>
            <a:srgbClr val="141D2F"/>
          </a:solidFill>
          <a:ln w="1905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449824"/>
            <a:ext cx="10149840" cy="731520"/>
          </a:xfrm>
          <a:prstGeom prst="rect">
            <a:avLst/>
          </a:prstGeom>
          <a:noFill/>
        </p:spPr>
        <p:txBody>
          <a:bodyPr wrap="square">
            <a:spAutoFit/>
          </a:bodyPr>
          <a:lstStyle/>
          <a:p>
            <a:pPr>
              <a:defRPr sz="1400" b="1">
                <a:solidFill>
                  <a:srgbClr val="F8FAFC"/>
                </a:solidFill>
              </a:defRPr>
            </a:pPr>
            <a:r>
              <a:t>Module 5: Enterprise RBAC &amp; Audit Trail System</a:t>
            </a:r>
          </a:p>
          <a:p>
            <a:pPr>
              <a:defRPr sz="1200">
                <a:solidFill>
                  <a:srgbClr val="94A3B8"/>
                </a:solidFill>
              </a:defRPr>
            </a:pPr>
            <a:r>
              <a:t>Enforces data privacy by masking candidate contact information based on active user roles and recording all actions in a SOC-2 log.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SCREENSHOT &amp; INTERFACE HIGHLIGHT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Output 1: Recruitment Analytics Dashboard</a:t>
            </a:r>
          </a:p>
        </p:txBody>
      </p:sp>
      <p:pic>
        <p:nvPicPr>
          <p:cNvPr id="5" name="Picture 4" descr="Slide8_Dashboard_Overview.jpg"/>
          <p:cNvPicPr>
            <a:picLocks noChangeAspect="1"/>
          </p:cNvPicPr>
          <p:nvPr/>
        </p:nvPicPr>
        <p:blipFill>
          <a:blip r:embed="rId2"/>
          <a:stretch>
            <a:fillRect/>
          </a:stretch>
        </p:blipFill>
        <p:spPr>
          <a:xfrm>
            <a:off x="731520" y="1645920"/>
            <a:ext cx="6217920" cy="4572000"/>
          </a:xfrm>
          <a:prstGeom prst="rect">
            <a:avLst/>
          </a:prstGeom>
        </p:spPr>
      </p:pic>
      <p:sp>
        <p:nvSpPr>
          <p:cNvPr id="6" name="Rounded Rectangle 5"/>
          <p:cNvSpPr/>
          <p:nvPr/>
        </p:nvSpPr>
        <p:spPr>
          <a:xfrm>
            <a:off x="7132320" y="1645920"/>
            <a:ext cx="4297680"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828800"/>
            <a:ext cx="3931920" cy="4114800"/>
          </a:xfrm>
          <a:prstGeom prst="rect">
            <a:avLst/>
          </a:prstGeom>
          <a:noFill/>
        </p:spPr>
        <p:txBody>
          <a:bodyPr wrap="square">
            <a:spAutoFit/>
          </a:bodyPr>
          <a:lstStyle/>
          <a:p>
            <a:pPr>
              <a:spcAft>
                <a:spcPts val="1200"/>
              </a:spcAft>
              <a:defRPr b="1" sz="1200">
                <a:solidFill>
                  <a:srgbClr val="F8FAFC"/>
                </a:solidFill>
              </a:defRPr>
            </a:pPr>
            <a:r>
              <a:t>•  Executive KPI Cards: Displays Resumes Processed, Top Fits (&gt;80% threshold), Interviews Scheduled, and Decision Accuracy.</a:t>
            </a:r>
          </a:p>
          <a:p>
            <a:pPr>
              <a:spcAft>
                <a:spcPts val="1200"/>
              </a:spcAft>
              <a:defRPr sz="1200">
                <a:solidFill>
                  <a:srgbClr val="F8FAFC"/>
                </a:solidFill>
              </a:defRPr>
            </a:pPr>
            <a:r>
              <a:t>•  Candidate Fit Score Distribution: Interactive SVG bar chart categorizing candidate match brackets across departments.</a:t>
            </a:r>
          </a:p>
          <a:p>
            <a:pPr>
              <a:spcAft>
                <a:spcPts val="1200"/>
              </a:spcAft>
              <a:defRPr sz="1200">
                <a:solidFill>
                  <a:srgbClr val="F8FAFC"/>
                </a:solidFill>
              </a:defRPr>
            </a:pPr>
            <a:r>
              <a:t>•  Live Agent Thinking Logs: Real-time console showing background tool execution steps and parsing status.</a:t>
            </a:r>
          </a:p>
          <a:p>
            <a:pPr>
              <a:spcAft>
                <a:spcPts val="1200"/>
              </a:spcAft>
              <a:defRPr sz="1200">
                <a:solidFill>
                  <a:srgbClr val="F8FAFC"/>
                </a:solidFill>
              </a:defRPr>
            </a:pPr>
            <a:r>
              <a:t>•  Job Target Filter: Displays active open roles and candidate counts with one-click filtering.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SCREENSHOT &amp; INTERFACE HIGHLIGHT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Output 2: Candidate Screening Hub &amp; Scorecard</a:t>
            </a:r>
          </a:p>
        </p:txBody>
      </p:sp>
      <p:pic>
        <p:nvPicPr>
          <p:cNvPr id="5" name="Picture 4" descr="Slide9_Candidate_Scorecard.jpg"/>
          <p:cNvPicPr>
            <a:picLocks noChangeAspect="1"/>
          </p:cNvPicPr>
          <p:nvPr/>
        </p:nvPicPr>
        <p:blipFill>
          <a:blip r:embed="rId2"/>
          <a:stretch>
            <a:fillRect/>
          </a:stretch>
        </p:blipFill>
        <p:spPr>
          <a:xfrm>
            <a:off x="731520" y="1645920"/>
            <a:ext cx="6217920" cy="4572000"/>
          </a:xfrm>
          <a:prstGeom prst="rect">
            <a:avLst/>
          </a:prstGeom>
        </p:spPr>
      </p:pic>
      <p:sp>
        <p:nvSpPr>
          <p:cNvPr id="6" name="Rounded Rectangle 5"/>
          <p:cNvSpPr/>
          <p:nvPr/>
        </p:nvSpPr>
        <p:spPr>
          <a:xfrm>
            <a:off x="7132320" y="1645920"/>
            <a:ext cx="4297680"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828800"/>
            <a:ext cx="3931920" cy="4114800"/>
          </a:xfrm>
          <a:prstGeom prst="rect">
            <a:avLst/>
          </a:prstGeom>
          <a:noFill/>
        </p:spPr>
        <p:txBody>
          <a:bodyPr wrap="square">
            <a:spAutoFit/>
          </a:bodyPr>
          <a:lstStyle/>
          <a:p>
            <a:pPr>
              <a:spcAft>
                <a:spcPts val="1200"/>
              </a:spcAft>
              <a:defRPr b="1" sz="1200">
                <a:solidFill>
                  <a:srgbClr val="F8FAFC"/>
                </a:solidFill>
              </a:defRPr>
            </a:pPr>
            <a:r>
              <a:t>•  Split-Pane Architecture: Score-sorted candidate list on left; comprehensive AI scorecard on right.</a:t>
            </a:r>
          </a:p>
          <a:p>
            <a:pPr>
              <a:spcAft>
                <a:spcPts val="1200"/>
              </a:spcAft>
              <a:defRPr sz="1200">
                <a:solidFill>
                  <a:srgbClr val="F8FAFC"/>
                </a:solidFill>
              </a:defRPr>
            </a:pPr>
            <a:r>
              <a:t>•  Circular Match Gauge: Highlights overall compatibility (e.g., Elena Rostova at 92% match rating).</a:t>
            </a:r>
          </a:p>
          <a:p>
            <a:pPr>
              <a:spcAft>
                <a:spcPts val="1200"/>
              </a:spcAft>
              <a:defRPr sz="1200">
                <a:solidFill>
                  <a:srgbClr val="F8FAFC"/>
                </a:solidFill>
              </a:defRPr>
            </a:pPr>
            <a:r>
              <a:t>•  Verified Competency Tags: Confirms required tech skills (Python, AWS, PostgreSQL) while flagging gaps.</a:t>
            </a:r>
          </a:p>
          <a:p>
            <a:pPr>
              <a:spcAft>
                <a:spcPts val="1200"/>
              </a:spcAft>
              <a:defRPr sz="1200">
                <a:solidFill>
                  <a:srgbClr val="F8FAFC"/>
                </a:solidFill>
              </a:defRPr>
            </a:pPr>
            <a:r>
              <a:t>•  AI-Generated Outreach: Pre-drafts tailored invitation emails referencing specific candidate background.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SCREENSHOT &amp; INTERFACE HIGHLIGHT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Output 3: Agent Command Console &amp; Audit Trail</a:t>
            </a:r>
          </a:p>
        </p:txBody>
      </p:sp>
      <p:pic>
        <p:nvPicPr>
          <p:cNvPr id="5" name="Picture 4" descr="Slide10_Agent_Console_Audit.jpg"/>
          <p:cNvPicPr>
            <a:picLocks noChangeAspect="1"/>
          </p:cNvPicPr>
          <p:nvPr/>
        </p:nvPicPr>
        <p:blipFill>
          <a:blip r:embed="rId2"/>
          <a:stretch>
            <a:fillRect/>
          </a:stretch>
        </p:blipFill>
        <p:spPr>
          <a:xfrm>
            <a:off x="731520" y="1645920"/>
            <a:ext cx="6217920" cy="4572000"/>
          </a:xfrm>
          <a:prstGeom prst="rect">
            <a:avLst/>
          </a:prstGeom>
        </p:spPr>
      </p:pic>
      <p:sp>
        <p:nvSpPr>
          <p:cNvPr id="6" name="Rounded Rectangle 5"/>
          <p:cNvSpPr/>
          <p:nvPr/>
        </p:nvSpPr>
        <p:spPr>
          <a:xfrm>
            <a:off x="7132320" y="1645920"/>
            <a:ext cx="4297680"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828800"/>
            <a:ext cx="3931920" cy="4114800"/>
          </a:xfrm>
          <a:prstGeom prst="rect">
            <a:avLst/>
          </a:prstGeom>
          <a:noFill/>
        </p:spPr>
        <p:txBody>
          <a:bodyPr wrap="square">
            <a:spAutoFit/>
          </a:bodyPr>
          <a:lstStyle/>
          <a:p>
            <a:pPr>
              <a:spcAft>
                <a:spcPts val="1200"/>
              </a:spcAft>
              <a:defRPr b="1" sz="1200">
                <a:solidFill>
                  <a:srgbClr val="F8FAFC"/>
                </a:solidFill>
              </a:defRPr>
            </a:pPr>
            <a:r>
              <a:t>•  Natural Language Command Shell: Interprets natural language queries (e.g. 'find candidates with Python &gt;85%').</a:t>
            </a:r>
          </a:p>
          <a:p>
            <a:pPr>
              <a:spcAft>
                <a:spcPts val="1200"/>
              </a:spcAft>
              <a:defRPr sz="1200">
                <a:solidFill>
                  <a:srgbClr val="F8FAFC"/>
                </a:solidFill>
              </a:defRPr>
            </a:pPr>
            <a:r>
              <a:t>•  Deterministic Tool Invocation: Translates queries into API and database calls with visual output.</a:t>
            </a:r>
          </a:p>
          <a:p>
            <a:pPr>
              <a:spcAft>
                <a:spcPts val="1200"/>
              </a:spcAft>
              <a:defRPr sz="1200">
                <a:solidFill>
                  <a:srgbClr val="F8FAFC"/>
                </a:solidFill>
              </a:defRPr>
            </a:pPr>
            <a:r>
              <a:t>•  SOC-2 Compliant Security Log: Immutable event table recording timestamps, operator roles, and action payloads.</a:t>
            </a:r>
          </a:p>
          <a:p>
            <a:pPr>
              <a:spcAft>
                <a:spcPts val="1200"/>
              </a:spcAft>
              <a:defRPr sz="1200">
                <a:solidFill>
                  <a:srgbClr val="F8FAFC"/>
                </a:solidFill>
              </a:defRPr>
            </a:pPr>
            <a:r>
              <a:t>•  Cryptographic Verification: Displays 'VERIFIED' status badges for audit compliance.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TALENTSTREAM AI | SUMMER INTERNSHIP PRESENTATION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Role-Based Access Control &amp; PII Masking</a:t>
            </a:r>
          </a:p>
        </p:txBody>
      </p:sp>
      <p:graphicFrame>
        <p:nvGraphicFramePr>
          <p:cNvPr id="5" name="Table 4"/>
          <p:cNvGraphicFramePr>
            <a:graphicFrameLocks noGrp="1"/>
          </p:cNvGraphicFramePr>
          <p:nvPr/>
        </p:nvGraphicFramePr>
        <p:xfrm>
          <a:off x="731520" y="1645920"/>
          <a:ext cx="10698480" cy="2926080"/>
        </p:xfrm>
        <a:graphic>
          <a:graphicData uri="http://schemas.openxmlformats.org/drawingml/2006/table">
            <a:tbl>
              <a:tblPr firstRow="1" bandRow="1">
                <a:tableStyleId>{5C22544A-7EE6-4342-B048-85BDC9FD1C3A}</a:tableStyleId>
              </a:tblPr>
              <a:tblGrid>
                <a:gridCol w="2674620"/>
                <a:gridCol w="2674620"/>
                <a:gridCol w="2674620"/>
                <a:gridCol w="2674620"/>
              </a:tblGrid>
              <a:tr h="487680">
                <a:tc>
                  <a:txBody>
                    <a:bodyPr/>
                    <a:lstStyle/>
                    <a:p>
                      <a:pPr algn="ctr">
                        <a:defRPr sz="1100" b="1">
                          <a:solidFill>
                            <a:srgbClr val="F8FAFC"/>
                          </a:solidFill>
                        </a:defRPr>
                      </a:pPr>
                      <a:r>
                        <a:t>FEATURE / PRIVILEGE</a:t>
                      </a:r>
                    </a:p>
                  </a:txBody>
                  <a:tcPr>
                    <a:solidFill>
                      <a:srgbClr val="6366F1"/>
                    </a:solidFill>
                  </a:tcPr>
                </a:tc>
                <a:tc>
                  <a:txBody>
                    <a:bodyPr/>
                    <a:lstStyle/>
                    <a:p>
                      <a:pPr algn="ctr">
                        <a:defRPr sz="1100" b="1">
                          <a:solidFill>
                            <a:srgbClr val="F8FAFC"/>
                          </a:solidFill>
                        </a:defRPr>
                      </a:pPr>
                      <a:r>
                        <a:t>HR RECRUITER</a:t>
                      </a:r>
                    </a:p>
                  </a:txBody>
                  <a:tcPr>
                    <a:solidFill>
                      <a:srgbClr val="6366F1"/>
                    </a:solidFill>
                  </a:tcPr>
                </a:tc>
                <a:tc>
                  <a:txBody>
                    <a:bodyPr/>
                    <a:lstStyle/>
                    <a:p>
                      <a:pPr algn="ctr">
                        <a:defRPr sz="1100" b="1">
                          <a:solidFill>
                            <a:srgbClr val="F8FAFC"/>
                          </a:solidFill>
                        </a:defRPr>
                      </a:pPr>
                      <a:r>
                        <a:t>HIRING MANAGER</a:t>
                      </a:r>
                    </a:p>
                  </a:txBody>
                  <a:tcPr>
                    <a:solidFill>
                      <a:srgbClr val="6366F1"/>
                    </a:solidFill>
                  </a:tcPr>
                </a:tc>
                <a:tc>
                  <a:txBody>
                    <a:bodyPr/>
                    <a:lstStyle/>
                    <a:p>
                      <a:pPr algn="ctr">
                        <a:defRPr sz="1100" b="1">
                          <a:solidFill>
                            <a:srgbClr val="F8FAFC"/>
                          </a:solidFill>
                        </a:defRPr>
                      </a:pPr>
                      <a:r>
                        <a:t>COMPLIANCE AUDITOR</a:t>
                      </a:r>
                    </a:p>
                  </a:txBody>
                  <a:tcPr>
                    <a:solidFill>
                      <a:srgbClr val="6366F1"/>
                    </a:solidFill>
                  </a:tcPr>
                </a:tc>
              </a:tr>
              <a:tr h="487680">
                <a:tc>
                  <a:txBody>
                    <a:bodyPr/>
                    <a:lstStyle/>
                    <a:p>
                      <a:pPr>
                        <a:defRPr sz="1100">
                          <a:solidFill>
                            <a:srgbClr val="F8FAFC"/>
                          </a:solidFill>
                        </a:defRPr>
                      </a:pPr>
                      <a:r>
                        <a:t>Candidate Names</a:t>
                      </a:r>
                    </a:p>
                  </a:txBody>
                  <a:tcPr>
                    <a:solidFill>
                      <a:srgbClr val="141D2F"/>
                    </a:solidFill>
                  </a:tcPr>
                </a:tc>
                <a:tc>
                  <a:txBody>
                    <a:bodyPr/>
                    <a:lstStyle/>
                    <a:p>
                      <a:pPr>
                        <a:defRPr sz="1100">
                          <a:solidFill>
                            <a:srgbClr val="94A3B8"/>
                          </a:solidFill>
                        </a:defRPr>
                      </a:pPr>
                      <a:r>
                        <a:t>Full Visibility</a:t>
                      </a:r>
                    </a:p>
                  </a:txBody>
                  <a:tcPr>
                    <a:solidFill>
                      <a:srgbClr val="141D2F"/>
                    </a:solidFill>
                  </a:tcPr>
                </a:tc>
                <a:tc>
                  <a:txBody>
                    <a:bodyPr/>
                    <a:lstStyle/>
                    <a:p>
                      <a:pPr>
                        <a:defRPr sz="1100">
                          <a:solidFill>
                            <a:srgbClr val="94A3B8"/>
                          </a:solidFill>
                        </a:defRPr>
                      </a:pPr>
                      <a:r>
                        <a:t>Full Visibility</a:t>
                      </a:r>
                    </a:p>
                  </a:txBody>
                  <a:tcPr>
                    <a:solidFill>
                      <a:srgbClr val="141D2F"/>
                    </a:solidFill>
                  </a:tcPr>
                </a:tc>
                <a:tc>
                  <a:txBody>
                    <a:bodyPr/>
                    <a:lstStyle/>
                    <a:p>
                      <a:pPr>
                        <a:defRPr sz="1100">
                          <a:solidFill>
                            <a:srgbClr val="38BDF8"/>
                          </a:solidFill>
                        </a:defRPr>
                      </a:pPr>
                      <a:r>
                        <a:t>Masked (e.g. L*** V***)</a:t>
                      </a:r>
                    </a:p>
                  </a:txBody>
                  <a:tcPr>
                    <a:solidFill>
                      <a:srgbClr val="141D2F"/>
                    </a:solidFill>
                  </a:tcPr>
                </a:tc>
              </a:tr>
              <a:tr h="487680">
                <a:tc>
                  <a:txBody>
                    <a:bodyPr/>
                    <a:lstStyle/>
                    <a:p>
                      <a:pPr>
                        <a:defRPr sz="1100">
                          <a:solidFill>
                            <a:srgbClr val="F8FAFC"/>
                          </a:solidFill>
                        </a:defRPr>
                      </a:pPr>
                      <a:r>
                        <a:t>Contact Details (PII)</a:t>
                      </a:r>
                    </a:p>
                  </a:txBody>
                  <a:tcPr>
                    <a:solidFill>
                      <a:srgbClr val="101726"/>
                    </a:solidFill>
                  </a:tcPr>
                </a:tc>
                <a:tc>
                  <a:txBody>
                    <a:bodyPr/>
                    <a:lstStyle/>
                    <a:p>
                      <a:pPr>
                        <a:defRPr sz="1100">
                          <a:solidFill>
                            <a:srgbClr val="94A3B8"/>
                          </a:solidFill>
                        </a:defRPr>
                      </a:pPr>
                      <a:r>
                        <a:t>Full Visibility</a:t>
                      </a:r>
                    </a:p>
                  </a:txBody>
                  <a:tcPr>
                    <a:solidFill>
                      <a:srgbClr val="101726"/>
                    </a:solidFill>
                  </a:tcPr>
                </a:tc>
                <a:tc>
                  <a:txBody>
                    <a:bodyPr/>
                    <a:lstStyle/>
                    <a:p>
                      <a:pPr>
                        <a:defRPr sz="1100">
                          <a:solidFill>
                            <a:srgbClr val="38BDF8"/>
                          </a:solidFill>
                        </a:defRPr>
                      </a:pPr>
                      <a:r>
                        <a:t>Masked (e.g. e***@techcorp.io)</a:t>
                      </a:r>
                    </a:p>
                  </a:txBody>
                  <a:tcPr>
                    <a:solidFill>
                      <a:srgbClr val="101726"/>
                    </a:solidFill>
                  </a:tcPr>
                </a:tc>
                <a:tc>
                  <a:txBody>
                    <a:bodyPr/>
                    <a:lstStyle/>
                    <a:p>
                      <a:pPr>
                        <a:defRPr sz="1100">
                          <a:solidFill>
                            <a:srgbClr val="38BDF8"/>
                          </a:solidFill>
                        </a:defRPr>
                      </a:pPr>
                      <a:r>
                        <a:t>Masked (e.g. +1 555 ***)</a:t>
                      </a:r>
                    </a:p>
                  </a:txBody>
                  <a:tcPr>
                    <a:solidFill>
                      <a:srgbClr val="101726"/>
                    </a:solidFill>
                  </a:tcPr>
                </a:tc>
              </a:tr>
              <a:tr h="487680">
                <a:tc>
                  <a:txBody>
                    <a:bodyPr/>
                    <a:lstStyle/>
                    <a:p>
                      <a:pPr>
                        <a:defRPr sz="1100">
                          <a:solidFill>
                            <a:srgbClr val="F8FAFC"/>
                          </a:solidFill>
                        </a:defRPr>
                      </a:pPr>
                      <a:r>
                        <a:t>Resume Screening Action</a:t>
                      </a:r>
                    </a:p>
                  </a:txBody>
                  <a:tcPr>
                    <a:solidFill>
                      <a:srgbClr val="141D2F"/>
                    </a:solidFill>
                  </a:tcPr>
                </a:tc>
                <a:tc>
                  <a:txBody>
                    <a:bodyPr/>
                    <a:lstStyle/>
                    <a:p>
                      <a:pPr>
                        <a:defRPr sz="1100">
                          <a:solidFill>
                            <a:srgbClr val="94A3B8"/>
                          </a:solidFill>
                        </a:defRPr>
                      </a:pPr>
                      <a:r>
                        <a:t>Allowed (Full Access)</a:t>
                      </a:r>
                    </a:p>
                  </a:txBody>
                  <a:tcPr>
                    <a:solidFill>
                      <a:srgbClr val="141D2F"/>
                    </a:solidFill>
                  </a:tcPr>
                </a:tc>
                <a:tc>
                  <a:txBody>
                    <a:bodyPr/>
                    <a:lstStyle/>
                    <a:p>
                      <a:pPr>
                        <a:defRPr sz="1100">
                          <a:solidFill>
                            <a:srgbClr val="94A3B8"/>
                          </a:solidFill>
                        </a:defRPr>
                      </a:pPr>
                      <a:r>
                        <a:t>View Scores Only</a:t>
                      </a:r>
                    </a:p>
                  </a:txBody>
                  <a:tcPr>
                    <a:solidFill>
                      <a:srgbClr val="141D2F"/>
                    </a:solidFill>
                  </a:tcPr>
                </a:tc>
                <a:tc>
                  <a:txBody>
                    <a:bodyPr/>
                    <a:lstStyle/>
                    <a:p>
                      <a:pPr>
                        <a:defRPr sz="1100">
                          <a:solidFill>
                            <a:srgbClr val="94A3B8"/>
                          </a:solidFill>
                        </a:defRPr>
                      </a:pPr>
                      <a:r>
                        <a:t>Disabled</a:t>
                      </a:r>
                    </a:p>
                  </a:txBody>
                  <a:tcPr>
                    <a:solidFill>
                      <a:srgbClr val="141D2F"/>
                    </a:solidFill>
                  </a:tcPr>
                </a:tc>
              </a:tr>
              <a:tr h="487680">
                <a:tc>
                  <a:txBody>
                    <a:bodyPr/>
                    <a:lstStyle/>
                    <a:p>
                      <a:pPr>
                        <a:defRPr sz="1100">
                          <a:solidFill>
                            <a:srgbClr val="F8FAFC"/>
                          </a:solidFill>
                        </a:defRPr>
                      </a:pPr>
                      <a:r>
                        <a:t>Outreach Dispatch &amp; Edit</a:t>
                      </a:r>
                    </a:p>
                  </a:txBody>
                  <a:tcPr>
                    <a:solidFill>
                      <a:srgbClr val="101726"/>
                    </a:solidFill>
                  </a:tcPr>
                </a:tc>
                <a:tc>
                  <a:txBody>
                    <a:bodyPr/>
                    <a:lstStyle/>
                    <a:p>
                      <a:pPr>
                        <a:defRPr sz="1100">
                          <a:solidFill>
                            <a:srgbClr val="94A3B8"/>
                          </a:solidFill>
                        </a:defRPr>
                      </a:pPr>
                      <a:r>
                        <a:t>Allowed &amp; Editable</a:t>
                      </a:r>
                    </a:p>
                  </a:txBody>
                  <a:tcPr>
                    <a:solidFill>
                      <a:srgbClr val="101726"/>
                    </a:solidFill>
                  </a:tcPr>
                </a:tc>
                <a:tc>
                  <a:txBody>
                    <a:bodyPr/>
                    <a:lstStyle/>
                    <a:p>
                      <a:pPr>
                        <a:defRPr sz="1100">
                          <a:solidFill>
                            <a:srgbClr val="94A3B8"/>
                          </a:solidFill>
                        </a:defRPr>
                      </a:pPr>
                      <a:r>
                        <a:t>Locked / Read-Only</a:t>
                      </a:r>
                    </a:p>
                  </a:txBody>
                  <a:tcPr>
                    <a:solidFill>
                      <a:srgbClr val="101726"/>
                    </a:solidFill>
                  </a:tcPr>
                </a:tc>
                <a:tc>
                  <a:txBody>
                    <a:bodyPr/>
                    <a:lstStyle/>
                    <a:p>
                      <a:pPr>
                        <a:defRPr sz="1100">
                          <a:solidFill>
                            <a:srgbClr val="94A3B8"/>
                          </a:solidFill>
                        </a:defRPr>
                      </a:pPr>
                      <a:r>
                        <a:t>Disabled</a:t>
                      </a:r>
                    </a:p>
                  </a:txBody>
                  <a:tcPr>
                    <a:solidFill>
                      <a:srgbClr val="101726"/>
                    </a:solidFill>
                  </a:tcPr>
                </a:tc>
              </a:tr>
              <a:tr h="487680">
                <a:tc>
                  <a:txBody>
                    <a:bodyPr/>
                    <a:lstStyle/>
                    <a:p>
                      <a:pPr>
                        <a:defRPr sz="1100">
                          <a:solidFill>
                            <a:srgbClr val="F8FAFC"/>
                          </a:solidFill>
                        </a:defRPr>
                      </a:pPr>
                      <a:r>
                        <a:t>Compliance Audit Logs</a:t>
                      </a:r>
                    </a:p>
                  </a:txBody>
                  <a:tcPr>
                    <a:solidFill>
                      <a:srgbClr val="141D2F"/>
                    </a:solidFill>
                  </a:tcPr>
                </a:tc>
                <a:tc>
                  <a:txBody>
                    <a:bodyPr/>
                    <a:lstStyle/>
                    <a:p>
                      <a:pPr>
                        <a:defRPr sz="1100">
                          <a:solidFill>
                            <a:srgbClr val="94A3B8"/>
                          </a:solidFill>
                        </a:defRPr>
                      </a:pPr>
                      <a:r>
                        <a:t>Standard View</a:t>
                      </a:r>
                    </a:p>
                  </a:txBody>
                  <a:tcPr>
                    <a:solidFill>
                      <a:srgbClr val="141D2F"/>
                    </a:solidFill>
                  </a:tcPr>
                </a:tc>
                <a:tc>
                  <a:txBody>
                    <a:bodyPr/>
                    <a:lstStyle/>
                    <a:p>
                      <a:pPr>
                        <a:defRPr sz="1100">
                          <a:solidFill>
                            <a:srgbClr val="94A3B8"/>
                          </a:solidFill>
                        </a:defRPr>
                      </a:pPr>
                      <a:r>
                        <a:t>Standard View</a:t>
                      </a:r>
                    </a:p>
                  </a:txBody>
                  <a:tcPr>
                    <a:solidFill>
                      <a:srgbClr val="141D2F"/>
                    </a:solidFill>
                  </a:tcPr>
                </a:tc>
                <a:tc>
                  <a:txBody>
                    <a:bodyPr/>
                    <a:lstStyle/>
                    <a:p>
                      <a:pPr>
                        <a:defRPr sz="1100">
                          <a:solidFill>
                            <a:srgbClr val="94A3B8"/>
                          </a:solidFill>
                        </a:defRPr>
                      </a:pPr>
                      <a:r>
                        <a:t>Full Export to JSON</a:t>
                      </a:r>
                    </a:p>
                  </a:txBody>
                  <a:tcPr>
                    <a:solidFill>
                      <a:srgbClr val="141D2F"/>
                    </a:solidFill>
                  </a:tcPr>
                </a:tc>
              </a:tr>
            </a:tbl>
          </a:graphicData>
        </a:graphic>
      </p:graphicFrame>
      <p:sp>
        <p:nvSpPr>
          <p:cNvPr id="6" name="Rounded Rectangle 5"/>
          <p:cNvSpPr/>
          <p:nvPr/>
        </p:nvSpPr>
        <p:spPr>
          <a:xfrm>
            <a:off x="731520" y="4846320"/>
            <a:ext cx="10698480" cy="155448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937760"/>
            <a:ext cx="10149840" cy="1280160"/>
          </a:xfrm>
          <a:prstGeom prst="rect">
            <a:avLst/>
          </a:prstGeom>
          <a:noFill/>
        </p:spPr>
        <p:txBody>
          <a:bodyPr wrap="square">
            <a:spAutoFit/>
          </a:bodyPr>
          <a:lstStyle/>
          <a:p>
            <a:pPr>
              <a:spcAft>
                <a:spcPts val="600"/>
              </a:spcAft>
              <a:defRPr b="1" sz="1200">
                <a:solidFill>
                  <a:srgbClr val="F8FAFC"/>
                </a:solidFill>
              </a:defRPr>
            </a:pPr>
            <a:r>
              <a:t>•  Unconscious Bias Mitigation: Scrubbing candidate PII for hiring managers prevents gender, ethnic, or regional bias.</a:t>
            </a:r>
          </a:p>
          <a:p>
            <a:pPr>
              <a:spcAft>
                <a:spcPts val="600"/>
              </a:spcAft>
              <a:defRPr sz="1200">
                <a:solidFill>
                  <a:srgbClr val="F8FAFC"/>
                </a:solidFill>
              </a:defRPr>
            </a:pPr>
            <a:r>
              <a:t>•  Zero Trust Principle: No user role receives more data than required for their specific evaluation task.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TALENTSTREAM AI | SUMMER INTERNSHIP PRESENTATION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Key Activities &amp; Project Timeline (10 Weeks)</a:t>
            </a:r>
          </a:p>
        </p:txBody>
      </p:sp>
      <p:sp>
        <p:nvSpPr>
          <p:cNvPr id="5" name="Rounded Rectangle 4"/>
          <p:cNvSpPr/>
          <p:nvPr/>
        </p:nvSpPr>
        <p:spPr>
          <a:xfrm>
            <a:off x="731520" y="1645920"/>
            <a:ext cx="2578608"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2304288" cy="4114800"/>
          </a:xfrm>
          <a:prstGeom prst="rect">
            <a:avLst/>
          </a:prstGeom>
          <a:noFill/>
        </p:spPr>
        <p:txBody>
          <a:bodyPr wrap="square">
            <a:spAutoFit/>
          </a:bodyPr>
          <a:lstStyle/>
          <a:p>
            <a:pPr>
              <a:spcAft>
                <a:spcPts val="1000"/>
              </a:spcAft>
              <a:defRPr sz="1100" b="1">
                <a:solidFill>
                  <a:srgbClr val="F8FAFC"/>
                </a:solidFill>
              </a:defRPr>
            </a:pPr>
            <a:r>
              <a:t>•  Researched HR bottlenecks &amp; ATS workflows</a:t>
            </a:r>
          </a:p>
          <a:p>
            <a:pPr>
              <a:spcAft>
                <a:spcPts val="1200"/>
              </a:spcAft>
              <a:defRPr sz="1300" b="1">
                <a:solidFill>
                  <a:srgbClr val="F8FAFC"/>
                </a:solidFill>
              </a:defRPr>
            </a:pPr>
            <a:r>
              <a:t>Requirements &amp; Architecture</a:t>
            </a:r>
          </a:p>
          <a:p>
            <a:pPr>
              <a:spcAft>
                <a:spcPts val="1000"/>
              </a:spcAft>
              <a:defRPr sz="1100">
                <a:solidFill>
                  <a:srgbClr val="F8FAFC"/>
                </a:solidFill>
              </a:defRPr>
            </a:pPr>
            <a:r>
              <a:t>•  Defined system architecture &amp; data schemas</a:t>
            </a:r>
          </a:p>
          <a:p>
            <a:pPr>
              <a:spcAft>
                <a:spcPts val="1000"/>
              </a:spcAft>
              <a:defRPr sz="1100">
                <a:solidFill>
                  <a:srgbClr val="F8FAFC"/>
                </a:solidFill>
              </a:defRPr>
            </a:pPr>
            <a:r>
              <a:t>•  Designed UI mockups and state models</a:t>
            </a:r>
          </a:p>
        </p:txBody>
      </p:sp>
      <p:sp>
        <p:nvSpPr>
          <p:cNvPr id="7" name="Rounded Rectangle 6"/>
          <p:cNvSpPr/>
          <p:nvPr/>
        </p:nvSpPr>
        <p:spPr>
          <a:xfrm>
            <a:off x="3456432" y="1645920"/>
            <a:ext cx="2578608" cy="457200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828800"/>
            <a:ext cx="2304288" cy="4114800"/>
          </a:xfrm>
          <a:prstGeom prst="rect">
            <a:avLst/>
          </a:prstGeom>
          <a:noFill/>
        </p:spPr>
        <p:txBody>
          <a:bodyPr wrap="square">
            <a:spAutoFit/>
          </a:bodyPr>
          <a:lstStyle/>
          <a:p>
            <a:pPr>
              <a:spcAft>
                <a:spcPts val="1000"/>
              </a:spcAft>
              <a:defRPr sz="1100" b="1">
                <a:solidFill>
                  <a:srgbClr val="F8FAFC"/>
                </a:solidFill>
              </a:defRPr>
            </a:pPr>
            <a:r>
              <a:t>•  Implemented resume text parsing algorithms</a:t>
            </a:r>
          </a:p>
          <a:p>
            <a:pPr>
              <a:spcAft>
                <a:spcPts val="1200"/>
              </a:spcAft>
              <a:defRPr sz="1300" b="1">
                <a:solidFill>
                  <a:srgbClr val="F8FAFC"/>
                </a:solidFill>
              </a:defRPr>
            </a:pPr>
            <a:r>
              <a:t>Core Agent &amp; Screening Engine</a:t>
            </a:r>
          </a:p>
          <a:p>
            <a:pPr>
              <a:spcAft>
                <a:spcPts val="1000"/>
              </a:spcAft>
              <a:defRPr sz="1100">
                <a:solidFill>
                  <a:srgbClr val="F8FAFC"/>
                </a:solidFill>
              </a:defRPr>
            </a:pPr>
            <a:r>
              <a:t>•  Engineered candidate scoring criteria</a:t>
            </a:r>
          </a:p>
          <a:p>
            <a:pPr>
              <a:spcAft>
                <a:spcPts val="1000"/>
              </a:spcAft>
              <a:defRPr sz="1100">
                <a:solidFill>
                  <a:srgbClr val="F8FAFC"/>
                </a:solidFill>
              </a:defRPr>
            </a:pPr>
            <a:r>
              <a:t>•  Built automated outreach prompt pipeline</a:t>
            </a:r>
          </a:p>
        </p:txBody>
      </p:sp>
      <p:sp>
        <p:nvSpPr>
          <p:cNvPr id="9" name="Rounded Rectangle 8"/>
          <p:cNvSpPr/>
          <p:nvPr/>
        </p:nvSpPr>
        <p:spPr>
          <a:xfrm>
            <a:off x="6181344" y="1645920"/>
            <a:ext cx="2578608" cy="4572000"/>
          </a:xfrm>
          <a:prstGeom prst="roundRect">
            <a:avLst/>
          </a:prstGeom>
          <a:solidFill>
            <a:srgbClr val="141D2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828800"/>
            <a:ext cx="2304288" cy="4114800"/>
          </a:xfrm>
          <a:prstGeom prst="rect">
            <a:avLst/>
          </a:prstGeom>
          <a:noFill/>
        </p:spPr>
        <p:txBody>
          <a:bodyPr wrap="square">
            <a:spAutoFit/>
          </a:bodyPr>
          <a:lstStyle/>
          <a:p>
            <a:pPr>
              <a:spcAft>
                <a:spcPts val="1000"/>
              </a:spcAft>
              <a:defRPr sz="1100" b="1">
                <a:solidFill>
                  <a:srgbClr val="F8FAFC"/>
                </a:solidFill>
              </a:defRPr>
            </a:pPr>
            <a:r>
              <a:t>•  Built responsive multi-tab layout in CSS3</a:t>
            </a:r>
          </a:p>
          <a:p>
            <a:pPr>
              <a:spcAft>
                <a:spcPts val="1200"/>
              </a:spcAft>
              <a:defRPr sz="1300" b="1">
                <a:solidFill>
                  <a:srgbClr val="F8FAFC"/>
                </a:solidFill>
              </a:defRPr>
            </a:pPr>
            <a:r>
              <a:t>Frontend &amp; Glassmorphic UI</a:t>
            </a:r>
          </a:p>
          <a:p>
            <a:pPr>
              <a:spcAft>
                <a:spcPts val="1000"/>
              </a:spcAft>
              <a:defRPr sz="1100">
                <a:solidFill>
                  <a:srgbClr val="F8FAFC"/>
                </a:solidFill>
              </a:defRPr>
            </a:pPr>
            <a:r>
              <a:t>•  Created custom SVG score distribution charts</a:t>
            </a:r>
          </a:p>
          <a:p>
            <a:pPr>
              <a:spcAft>
                <a:spcPts val="1000"/>
              </a:spcAft>
              <a:defRPr sz="1100">
                <a:solidFill>
                  <a:srgbClr val="F8FAFC"/>
                </a:solidFill>
              </a:defRPr>
            </a:pPr>
            <a:r>
              <a:t>•  Integrated live agent thinking console</a:t>
            </a:r>
          </a:p>
        </p:txBody>
      </p:sp>
      <p:sp>
        <p:nvSpPr>
          <p:cNvPr id="11" name="Rounded Rectangle 10"/>
          <p:cNvSpPr/>
          <p:nvPr/>
        </p:nvSpPr>
        <p:spPr>
          <a:xfrm>
            <a:off x="8906256" y="1645920"/>
            <a:ext cx="2578608" cy="4572000"/>
          </a:xfrm>
          <a:prstGeom prst="roundRect">
            <a:avLst/>
          </a:prstGeom>
          <a:solidFill>
            <a:srgbClr val="141D2F"/>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828800"/>
            <a:ext cx="2304288" cy="4114800"/>
          </a:xfrm>
          <a:prstGeom prst="rect">
            <a:avLst/>
          </a:prstGeom>
          <a:noFill/>
        </p:spPr>
        <p:txBody>
          <a:bodyPr wrap="square">
            <a:spAutoFit/>
          </a:bodyPr>
          <a:lstStyle/>
          <a:p>
            <a:pPr>
              <a:spcAft>
                <a:spcPts val="1000"/>
              </a:spcAft>
              <a:defRPr sz="1100" b="1">
                <a:solidFill>
                  <a:srgbClr val="F8FAFC"/>
                </a:solidFill>
              </a:defRPr>
            </a:pPr>
            <a:r>
              <a:t>•  Implemented RBAC and regex PII masking</a:t>
            </a:r>
          </a:p>
          <a:p>
            <a:pPr>
              <a:spcAft>
                <a:spcPts val="1200"/>
              </a:spcAft>
              <a:defRPr sz="1300" b="1">
                <a:solidFill>
                  <a:srgbClr val="F8FAFC"/>
                </a:solidFill>
              </a:defRPr>
            </a:pPr>
            <a:r>
              <a:t>Security, Testing &amp; Deployment</a:t>
            </a:r>
          </a:p>
          <a:p>
            <a:pPr>
              <a:spcAft>
                <a:spcPts val="1000"/>
              </a:spcAft>
              <a:defRPr sz="1100">
                <a:solidFill>
                  <a:srgbClr val="F8FAFC"/>
                </a:solidFill>
              </a:defRPr>
            </a:pPr>
            <a:r>
              <a:t>•  Engineered SOC-2 compliant audit logging</a:t>
            </a:r>
          </a:p>
          <a:p>
            <a:pPr>
              <a:spcAft>
                <a:spcPts val="1000"/>
              </a:spcAft>
              <a:defRPr sz="1100">
                <a:solidFill>
                  <a:srgbClr val="F8FAFC"/>
                </a:solidFill>
              </a:defRPr>
            </a:pPr>
            <a:r>
              <a:t>•  Deployed to GitHub &amp; automated via Vite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TALENTSTREAM AI | SUMMER INTERNSHIP PRESENTATION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Results, Metrics &amp; Business Impact</a:t>
            </a:r>
          </a:p>
        </p:txBody>
      </p:sp>
      <p:sp>
        <p:nvSpPr>
          <p:cNvPr id="5" name="Rounded Rectangle 4"/>
          <p:cNvSpPr/>
          <p:nvPr/>
        </p:nvSpPr>
        <p:spPr>
          <a:xfrm>
            <a:off x="731520" y="1645920"/>
            <a:ext cx="2578608" cy="210312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2304288" cy="1920240"/>
          </a:xfrm>
          <a:prstGeom prst="rect">
            <a:avLst/>
          </a:prstGeom>
          <a:noFill/>
        </p:spPr>
        <p:txBody>
          <a:bodyPr wrap="square">
            <a:spAutoFit/>
          </a:bodyPr>
          <a:lstStyle/>
          <a:p>
            <a:pPr>
              <a:defRPr sz="2800" b="1">
                <a:solidFill>
                  <a:srgbClr val="6366F1"/>
                </a:solidFill>
              </a:defRPr>
            </a:pPr>
            <a:r>
              <a:t>85%</a:t>
            </a:r>
          </a:p>
          <a:p>
            <a:pPr>
              <a:spcAft>
                <a:spcPts val="400"/>
              </a:spcAft>
              <a:defRPr sz="1200" b="1">
                <a:solidFill>
                  <a:srgbClr val="F8FAFC"/>
                </a:solidFill>
              </a:defRPr>
            </a:pPr>
            <a:r>
              <a:t>Screening Time Reduced</a:t>
            </a:r>
          </a:p>
          <a:p>
            <a:pPr>
              <a:defRPr sz="1000">
                <a:solidFill>
                  <a:srgbClr val="94A3B8"/>
                </a:solidFill>
              </a:defRPr>
            </a:pPr>
            <a:r>
              <a:t>Average candidate screening time decreased from ~15 mins to under 2 mins.</a:t>
            </a:r>
          </a:p>
        </p:txBody>
      </p:sp>
      <p:sp>
        <p:nvSpPr>
          <p:cNvPr id="7" name="Rounded Rectangle 6"/>
          <p:cNvSpPr/>
          <p:nvPr/>
        </p:nvSpPr>
        <p:spPr>
          <a:xfrm>
            <a:off x="3456432" y="1645920"/>
            <a:ext cx="2578608" cy="210312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737360"/>
            <a:ext cx="2304288" cy="1920240"/>
          </a:xfrm>
          <a:prstGeom prst="rect">
            <a:avLst/>
          </a:prstGeom>
          <a:noFill/>
        </p:spPr>
        <p:txBody>
          <a:bodyPr wrap="square">
            <a:spAutoFit/>
          </a:bodyPr>
          <a:lstStyle/>
          <a:p>
            <a:pPr>
              <a:defRPr sz="2800" b="1">
                <a:solidFill>
                  <a:srgbClr val="38BDF8"/>
                </a:solidFill>
              </a:defRPr>
            </a:pPr>
            <a:r>
              <a:t>94.8%</a:t>
            </a:r>
          </a:p>
          <a:p>
            <a:pPr>
              <a:spcAft>
                <a:spcPts val="400"/>
              </a:spcAft>
              <a:defRPr sz="1200" b="1">
                <a:solidFill>
                  <a:srgbClr val="F8FAFC"/>
                </a:solidFill>
              </a:defRPr>
            </a:pPr>
            <a:r>
              <a:t>Decision Accuracy</a:t>
            </a:r>
          </a:p>
          <a:p>
            <a:pPr>
              <a:defRPr sz="1000">
                <a:solidFill>
                  <a:srgbClr val="94A3B8"/>
                </a:solidFill>
              </a:defRPr>
            </a:pPr>
            <a:r>
              <a:t>High alignment benchmarked against senior technical recruiters.</a:t>
            </a:r>
          </a:p>
        </p:txBody>
      </p:sp>
      <p:sp>
        <p:nvSpPr>
          <p:cNvPr id="9" name="Rounded Rectangle 8"/>
          <p:cNvSpPr/>
          <p:nvPr/>
        </p:nvSpPr>
        <p:spPr>
          <a:xfrm>
            <a:off x="6181344" y="1645920"/>
            <a:ext cx="2578608" cy="2103120"/>
          </a:xfrm>
          <a:prstGeom prst="roundRect">
            <a:avLst/>
          </a:prstGeom>
          <a:solidFill>
            <a:srgbClr val="141D2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737360"/>
            <a:ext cx="2304288" cy="1920240"/>
          </a:xfrm>
          <a:prstGeom prst="rect">
            <a:avLst/>
          </a:prstGeom>
          <a:noFill/>
        </p:spPr>
        <p:txBody>
          <a:bodyPr wrap="square">
            <a:spAutoFit/>
          </a:bodyPr>
          <a:lstStyle/>
          <a:p>
            <a:pPr>
              <a:defRPr sz="2800" b="1">
                <a:solidFill>
                  <a:srgbClr val="A855F7"/>
                </a:solidFill>
              </a:defRPr>
            </a:pPr>
            <a:r>
              <a:t>1-Click</a:t>
            </a:r>
          </a:p>
          <a:p>
            <a:pPr>
              <a:spcAft>
                <a:spcPts val="400"/>
              </a:spcAft>
              <a:defRPr sz="1200" b="1">
                <a:solidFill>
                  <a:srgbClr val="F8FAFC"/>
                </a:solidFill>
              </a:defRPr>
            </a:pPr>
            <a:r>
              <a:t>Instant Outreach Drafting</a:t>
            </a:r>
          </a:p>
          <a:p>
            <a:pPr>
              <a:defRPr sz="1000">
                <a:solidFill>
                  <a:srgbClr val="94A3B8"/>
                </a:solidFill>
              </a:defRPr>
            </a:pPr>
            <a:r>
              <a:t>Automated email copywriting tailored to verified skill credentials.</a:t>
            </a:r>
          </a:p>
        </p:txBody>
      </p:sp>
      <p:sp>
        <p:nvSpPr>
          <p:cNvPr id="11" name="Rounded Rectangle 10"/>
          <p:cNvSpPr/>
          <p:nvPr/>
        </p:nvSpPr>
        <p:spPr>
          <a:xfrm>
            <a:off x="8906256" y="1645920"/>
            <a:ext cx="2578608" cy="2103120"/>
          </a:xfrm>
          <a:prstGeom prst="roundRect">
            <a:avLst/>
          </a:prstGeom>
          <a:solidFill>
            <a:srgbClr val="141D2F"/>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737360"/>
            <a:ext cx="2304288" cy="1920240"/>
          </a:xfrm>
          <a:prstGeom prst="rect">
            <a:avLst/>
          </a:prstGeom>
          <a:noFill/>
        </p:spPr>
        <p:txBody>
          <a:bodyPr wrap="square">
            <a:spAutoFit/>
          </a:bodyPr>
          <a:lstStyle/>
          <a:p>
            <a:pPr>
              <a:defRPr sz="2800" b="1">
                <a:solidFill>
                  <a:srgbClr val="22C55E"/>
                </a:solidFill>
              </a:defRPr>
            </a:pPr>
            <a:r>
              <a:t>100%</a:t>
            </a:r>
          </a:p>
          <a:p>
            <a:pPr>
              <a:spcAft>
                <a:spcPts val="400"/>
              </a:spcAft>
              <a:defRPr sz="1200" b="1">
                <a:solidFill>
                  <a:srgbClr val="F8FAFC"/>
                </a:solidFill>
              </a:defRPr>
            </a:pPr>
            <a:r>
              <a:t>Audit Trail Traceability</a:t>
            </a:r>
          </a:p>
          <a:p>
            <a:pPr>
              <a:defRPr sz="1000">
                <a:solidFill>
                  <a:srgbClr val="94A3B8"/>
                </a:solidFill>
              </a:defRPr>
            </a:pPr>
            <a:r>
              <a:t>Every AI tool call, screening event, and query is permanently recorded.</a:t>
            </a:r>
          </a:p>
        </p:txBody>
      </p:sp>
      <p:sp>
        <p:nvSpPr>
          <p:cNvPr id="13" name="Rounded Rectangle 12"/>
          <p:cNvSpPr/>
          <p:nvPr/>
        </p:nvSpPr>
        <p:spPr>
          <a:xfrm>
            <a:off x="731520" y="4023360"/>
            <a:ext cx="10698480" cy="219456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206240"/>
            <a:ext cx="10149840" cy="1828800"/>
          </a:xfrm>
          <a:prstGeom prst="rect">
            <a:avLst/>
          </a:prstGeom>
          <a:noFill/>
        </p:spPr>
        <p:txBody>
          <a:bodyPr wrap="square">
            <a:spAutoFit/>
          </a:bodyPr>
          <a:lstStyle/>
          <a:p>
            <a:pPr>
              <a:spcAft>
                <a:spcPts val="600"/>
              </a:spcAft>
              <a:defRPr b="1" sz="1200">
                <a:solidFill>
                  <a:srgbClr val="F8FAFC"/>
                </a:solidFill>
              </a:defRPr>
            </a:pPr>
            <a:r>
              <a:t>•  Fully Operational Application: Live interactive web application featuring all 5 operational modules.</a:t>
            </a:r>
          </a:p>
          <a:p>
            <a:pPr>
              <a:spcAft>
                <a:spcPts val="600"/>
              </a:spcAft>
              <a:defRPr sz="1200">
                <a:solidFill>
                  <a:srgbClr val="F8FAFC"/>
                </a:solidFill>
              </a:defRPr>
            </a:pPr>
            <a:r>
              <a:t>•  Production-Ready Codebase: Managed under Git and pushed to GitHub (github.com/narayanalikhitha/talentstream-ai).</a:t>
            </a:r>
          </a:p>
          <a:p>
            <a:pPr>
              <a:spcAft>
                <a:spcPts val="600"/>
              </a:spcAft>
              <a:defRPr sz="1200">
                <a:solidFill>
                  <a:srgbClr val="F8FAFC"/>
                </a:solidFill>
              </a:defRPr>
            </a:pPr>
            <a:r>
              <a:t>•  Live Deployment Link: Publicly hosted and accessible via GitHub Pages.</a:t>
            </a:r>
          </a:p>
          <a:p>
            <a:pPr>
              <a:spcAft>
                <a:spcPts val="600"/>
              </a:spcAft>
              <a:defRPr sz="1200">
                <a:solidFill>
                  <a:srgbClr val="F8FAFC"/>
                </a:solidFill>
              </a:defRPr>
            </a:pPr>
            <a:r>
              <a:t>•  Comprehensive Documentation: System architecture, tool registry, and setup instructions in README.md.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000" b="1">
                <a:solidFill>
                  <a:srgbClr val="6366F1"/>
                </a:solidFill>
              </a:defRPr>
            </a:pPr>
            <a:r>
              <a:t>TALENTSTREAM AI | SUMMER INTERNSHIP PRESENTATION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Conclusion &amp; Key Learnings</a:t>
            </a:r>
          </a:p>
        </p:txBody>
      </p:sp>
      <p:sp>
        <p:nvSpPr>
          <p:cNvPr id="5" name="Rounded Rectangle 4"/>
          <p:cNvSpPr/>
          <p:nvPr/>
        </p:nvSpPr>
        <p:spPr>
          <a:xfrm>
            <a:off x="731520" y="1645920"/>
            <a:ext cx="3383280"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17520" cy="4114800"/>
          </a:xfrm>
          <a:prstGeom prst="rect">
            <a:avLst/>
          </a:prstGeom>
          <a:noFill/>
        </p:spPr>
        <p:txBody>
          <a:bodyPr wrap="square">
            <a:spAutoFit/>
          </a:bodyPr>
          <a:lstStyle/>
          <a:p>
            <a:pPr>
              <a:spcAft>
                <a:spcPts val="1200"/>
              </a:spcAft>
              <a:defRPr b="1" sz="1200">
                <a:solidFill>
                  <a:srgbClr val="F8FAFC"/>
                </a:solidFill>
              </a:defRPr>
            </a:pPr>
            <a:r>
              <a:t>•  Mastered autonomous agent design and prompt chaining</a:t>
            </a:r>
          </a:p>
          <a:p>
            <a:pPr>
              <a:spcAft>
                <a:spcPts val="1200"/>
              </a:spcAft>
              <a:defRPr sz="1200">
                <a:solidFill>
                  <a:srgbClr val="F8FAFC"/>
                </a:solidFill>
              </a:defRPr>
            </a:pPr>
            <a:r>
              <a:t>•  Implemented deterministic tool calling with LLMs</a:t>
            </a:r>
          </a:p>
          <a:p>
            <a:pPr>
              <a:spcAft>
                <a:spcPts val="1200"/>
              </a:spcAft>
              <a:defRPr sz="1200">
                <a:solidFill>
                  <a:srgbClr val="F8FAFC"/>
                </a:solidFill>
              </a:defRPr>
            </a:pPr>
            <a:r>
              <a:t>•  Engineered regex-based PII redaction and RBAC systems</a:t>
            </a:r>
          </a:p>
          <a:p>
            <a:pPr>
              <a:spcAft>
                <a:spcPts val="1200"/>
              </a:spcAft>
              <a:defRPr sz="1200">
                <a:solidFill>
                  <a:srgbClr val="F8FAFC"/>
                </a:solidFill>
              </a:defRPr>
            </a:pPr>
            <a:r>
              <a:t>•  Built responsive dark glassmorphic UIs using pure CSS3</a:t>
            </a:r>
          </a:p>
        </p:txBody>
      </p:sp>
      <p:sp>
        <p:nvSpPr>
          <p:cNvPr id="7" name="Rounded Rectangle 6"/>
          <p:cNvSpPr/>
          <p:nvPr/>
        </p:nvSpPr>
        <p:spPr>
          <a:xfrm>
            <a:off x="4389120" y="1645920"/>
            <a:ext cx="3383280"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3017520" cy="4114800"/>
          </a:xfrm>
          <a:prstGeom prst="rect">
            <a:avLst/>
          </a:prstGeom>
          <a:noFill/>
        </p:spPr>
        <p:txBody>
          <a:bodyPr wrap="square">
            <a:spAutoFit/>
          </a:bodyPr>
          <a:lstStyle/>
          <a:p>
            <a:pPr>
              <a:spcAft>
                <a:spcPts val="1200"/>
              </a:spcAft>
              <a:defRPr b="1" sz="1200">
                <a:solidFill>
                  <a:srgbClr val="F8FAFC"/>
                </a:solidFill>
              </a:defRPr>
            </a:pPr>
            <a:r>
              <a:t>•  Translating abstract business requirements into code</a:t>
            </a:r>
          </a:p>
          <a:p>
            <a:pPr>
              <a:spcAft>
                <a:spcPts val="1200"/>
              </a:spcAft>
              <a:defRPr sz="1200">
                <a:solidFill>
                  <a:srgbClr val="F8FAFC"/>
                </a:solidFill>
              </a:defRPr>
            </a:pPr>
            <a:r>
              <a:t>•  Adhering to enterprise security standards (SOC-2, GDPR)</a:t>
            </a:r>
          </a:p>
          <a:p>
            <a:pPr>
              <a:spcAft>
                <a:spcPts val="1200"/>
              </a:spcAft>
              <a:defRPr sz="1200">
                <a:solidFill>
                  <a:srgbClr val="F8FAFC"/>
                </a:solidFill>
              </a:defRPr>
            </a:pPr>
            <a:r>
              <a:t>•  Managing production-grade Git branching and GitHub Actions</a:t>
            </a:r>
          </a:p>
          <a:p>
            <a:pPr>
              <a:spcAft>
                <a:spcPts val="1200"/>
              </a:spcAft>
              <a:defRPr sz="1200">
                <a:solidFill>
                  <a:srgbClr val="F8FAFC"/>
                </a:solidFill>
              </a:defRPr>
            </a:pPr>
            <a:r>
              <a:t>•  Structuring professional technical presentations</a:t>
            </a:r>
          </a:p>
        </p:txBody>
      </p:sp>
      <p:sp>
        <p:nvSpPr>
          <p:cNvPr id="9" name="Rounded Rectangle 8"/>
          <p:cNvSpPr/>
          <p:nvPr/>
        </p:nvSpPr>
        <p:spPr>
          <a:xfrm>
            <a:off x="8046720" y="1645920"/>
            <a:ext cx="3383280" cy="457200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4114800"/>
          </a:xfrm>
          <a:prstGeom prst="rect">
            <a:avLst/>
          </a:prstGeom>
          <a:noFill/>
        </p:spPr>
        <p:txBody>
          <a:bodyPr wrap="square">
            <a:spAutoFit/>
          </a:bodyPr>
          <a:lstStyle/>
          <a:p>
            <a:pPr>
              <a:spcAft>
                <a:spcPts val="1200"/>
              </a:spcAft>
              <a:defRPr b="1" sz="1200">
                <a:solidFill>
                  <a:srgbClr val="F8FAFC"/>
                </a:solidFill>
              </a:defRPr>
            </a:pPr>
            <a:r>
              <a:t>•  Multi-language resume translation &amp; parsing</a:t>
            </a:r>
          </a:p>
          <a:p>
            <a:pPr>
              <a:spcAft>
                <a:spcPts val="1200"/>
              </a:spcAft>
              <a:defRPr sz="1200">
                <a:solidFill>
                  <a:srgbClr val="F8FAFC"/>
                </a:solidFill>
              </a:defRPr>
            </a:pPr>
            <a:r>
              <a:t>•  Two-way bi-directional sync with Workday &amp; Greenhouse</a:t>
            </a:r>
          </a:p>
          <a:p>
            <a:pPr>
              <a:spcAft>
                <a:spcPts val="1200"/>
              </a:spcAft>
              <a:defRPr sz="1200">
                <a:solidFill>
                  <a:srgbClr val="F8FAFC"/>
                </a:solidFill>
              </a:defRPr>
            </a:pPr>
            <a:r>
              <a:t>•  Voice-driven conversational agent interactions</a:t>
            </a:r>
          </a:p>
          <a:p>
            <a:pPr>
              <a:spcAft>
                <a:spcPts val="1200"/>
              </a:spcAft>
              <a:defRPr sz="1200">
                <a:solidFill>
                  <a:srgbClr val="F8FAFC"/>
                </a:solidFill>
              </a:defRPr>
            </a:pPr>
            <a:r>
              <a:t>•  Automated calendar scheduling integration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